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444" r:id="rId2"/>
    <p:sldId id="425" r:id="rId3"/>
    <p:sldId id="426" r:id="rId4"/>
    <p:sldId id="435" r:id="rId5"/>
    <p:sldId id="436" r:id="rId6"/>
    <p:sldId id="472" r:id="rId7"/>
    <p:sldId id="471" r:id="rId8"/>
    <p:sldId id="437" r:id="rId9"/>
    <p:sldId id="438" r:id="rId10"/>
    <p:sldId id="407" r:id="rId11"/>
    <p:sldId id="443" r:id="rId12"/>
    <p:sldId id="467" r:id="rId13"/>
    <p:sldId id="470" r:id="rId14"/>
    <p:sldId id="446" r:id="rId15"/>
    <p:sldId id="469" r:id="rId16"/>
    <p:sldId id="442" r:id="rId17"/>
    <p:sldId id="415" r:id="rId18"/>
    <p:sldId id="468" r:id="rId19"/>
  </p:sldIdLst>
  <p:sldSz cx="18288000" cy="10287000"/>
  <p:notesSz cx="6858000" cy="9144000"/>
  <p:embeddedFontLst>
    <p:embeddedFont>
      <p:font typeface="Consolas" panose="020B0609020204030204" pitchFamily="49"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EA6155-9679-457C-9482-8E13709CA374}" v="55" dt="2025-10-22T16:18:55.8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4298" autoAdjust="0"/>
  </p:normalViewPr>
  <p:slideViewPr>
    <p:cSldViewPr>
      <p:cViewPr varScale="1">
        <p:scale>
          <a:sx n="31" d="100"/>
          <a:sy n="31" d="100"/>
        </p:scale>
        <p:origin x="912"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viewProps" Target="viewProps.xml"/><Relationship Id="rId30" Type="http://schemas.microsoft.com/office/2015/10/relationships/revisionInfo" Target="revisionInfo.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7893660-5BFC-4EEE-852D-A0B87874F466}">
      <dgm:prSet phldrT="[Text]" phldr="0"/>
      <dgm:spPr/>
      <dgm:t>
        <a:bodyPr/>
        <a:lstStyle/>
        <a:p>
          <a:r>
            <a:rPr lang="en-US"/>
            <a:t>Copilot</a:t>
          </a:r>
          <a:endParaRPr lang="en-US" dirty="0"/>
        </a:p>
      </dgm:t>
    </dgm:pt>
    <dgm:pt modelId="{6EEC88D9-076A-419A-9A6B-120C27DF31EB}" type="parTrans" cxnId="{562DE018-A951-4CE6-882D-10E86DD91AED}">
      <dgm:prSet/>
      <dgm:spPr/>
    </dgm:pt>
    <dgm:pt modelId="{DDFB99C5-58BB-421F-9CEC-742A00ABA300}" type="sibTrans" cxnId="{562DE018-A951-4CE6-882D-10E86DD91AED}">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D50067A-87B8-435B-B026-B5457AF02675}" type="pres">
      <dgm:prSet presAssocID="{ECDF3F5F-D616-4773-AD86-206CBB2C9A45}" presName="Triangle" presStyleLbl="alignNode1" presStyleIdx="5" presStyleCnt="7"/>
      <dgm:spPr/>
    </dgm:pt>
    <dgm:pt modelId="{BF4F7FD1-FA8A-4C56-A404-B0172E0306C7}" type="pres">
      <dgm:prSet presAssocID="{48E1857D-DABA-49C3-A05A-879561167E94}" presName="sibTrans" presStyleCnt="0"/>
      <dgm:spPr/>
    </dgm:pt>
    <dgm:pt modelId="{32644BF9-5AF3-4D29-BE08-74A83ECBD4A9}" type="pres">
      <dgm:prSet presAssocID="{48E1857D-DABA-49C3-A05A-879561167E94}" presName="space" presStyleCnt="0"/>
      <dgm:spPr/>
    </dgm:pt>
    <dgm:pt modelId="{34B2BED8-9D9E-4B33-A8A7-2CC4A0ED4095}" type="pres">
      <dgm:prSet presAssocID="{D7893660-5BFC-4EEE-852D-A0B87874F466}" presName="composite" presStyleCnt="0"/>
      <dgm:spPr/>
    </dgm:pt>
    <dgm:pt modelId="{45F51B91-CDE2-4150-ABC9-E07326939C02}" type="pres">
      <dgm:prSet presAssocID="{D7893660-5BFC-4EEE-852D-A0B87874F466}" presName="LShape" presStyleLbl="alignNode1" presStyleIdx="6" presStyleCnt="7"/>
      <dgm:spPr/>
    </dgm:pt>
    <dgm:pt modelId="{C1303DAA-A72B-4927-BF7B-07847C41FFDF}" type="pres">
      <dgm:prSet presAssocID="{D7893660-5BFC-4EEE-852D-A0B87874F466}" presName="ParentText" presStyleLbl="revTx" presStyleIdx="3" presStyleCnt="4">
        <dgm:presLayoutVars>
          <dgm:chMax val="0"/>
          <dgm:chPref val="0"/>
          <dgm:bulletEnabled val="1"/>
        </dgm:presLayoutVars>
      </dgm:prSet>
      <dgm:spPr/>
    </dgm:pt>
  </dgm:ptLst>
  <dgm:cxnLst>
    <dgm:cxn modelId="{562DE018-A951-4CE6-882D-10E86DD91AED}" srcId="{9596FC0A-FD31-4A13-A101-B34906B5FCA3}" destId="{D7893660-5BFC-4EEE-852D-A0B87874F466}" srcOrd="3" destOrd="0" parTransId="{6EEC88D9-076A-419A-9A6B-120C27DF31EB}" sibTransId="{DDFB99C5-58BB-421F-9CEC-742A00ABA300}"/>
    <dgm:cxn modelId="{E2BD9F22-0B50-46E3-BAED-8E33F3EF52A7}" type="presOf" srcId="{D7893660-5BFC-4EEE-852D-A0B87874F466}" destId="{C1303DAA-A72B-4927-BF7B-07847C41FFDF}" srcOrd="0" destOrd="0" presId="urn:microsoft.com/office/officeart/2009/3/layout/StepUpProcess"/>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B7F6B86D-D0D3-4DDE-9E7E-4D3A957DA948}" type="presParOf" srcId="{71194B23-C715-4BA4-A045-7005C525AF3E}" destId="{1D50067A-87B8-435B-B026-B5457AF02675}" srcOrd="2" destOrd="0" presId="urn:microsoft.com/office/officeart/2009/3/layout/StepUpProcess"/>
    <dgm:cxn modelId="{7F80C062-50FD-4282-A883-2E8CDE2FE1DB}" type="presParOf" srcId="{E1C5162A-7220-4DEC-A00E-88E41A0FBFB7}" destId="{BF4F7FD1-FA8A-4C56-A404-B0172E0306C7}" srcOrd="5" destOrd="0" presId="urn:microsoft.com/office/officeart/2009/3/layout/StepUpProcess"/>
    <dgm:cxn modelId="{1A6459C7-7EF6-4D30-92EC-F6F7A1D99C4B}" type="presParOf" srcId="{BF4F7FD1-FA8A-4C56-A404-B0172E0306C7}" destId="{32644BF9-5AF3-4D29-BE08-74A83ECBD4A9}" srcOrd="0" destOrd="0" presId="urn:microsoft.com/office/officeart/2009/3/layout/StepUpProcess"/>
    <dgm:cxn modelId="{39B6C53D-D583-4441-8258-2FE45FC1C7A2}" type="presParOf" srcId="{E1C5162A-7220-4DEC-A00E-88E41A0FBFB7}" destId="{34B2BED8-9D9E-4B33-A8A7-2CC4A0ED4095}" srcOrd="6" destOrd="0" presId="urn:microsoft.com/office/officeart/2009/3/layout/StepUpProcess"/>
    <dgm:cxn modelId="{42C918C6-35C2-4E58-BAE9-F0BB1C10867D}" type="presParOf" srcId="{34B2BED8-9D9E-4B33-A8A7-2CC4A0ED4095}" destId="{45F51B91-CDE2-4150-ABC9-E07326939C02}" srcOrd="0" destOrd="0" presId="urn:microsoft.com/office/officeart/2009/3/layout/StepUpProcess"/>
    <dgm:cxn modelId="{C351E5D4-D9D6-431A-83F1-287E1D3F23EB}" type="presParOf" srcId="{34B2BED8-9D9E-4B33-A8A7-2CC4A0ED4095}" destId="{C1303DAA-A72B-4927-BF7B-07847C41FFDF}"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D10328E-A6DD-41E3-B554-4474C789EE3B}">
      <dgm:prSet phldrT="[Text]" phldr="0"/>
      <dgm:spPr/>
      <dgm:t>
        <a:bodyPr/>
        <a:lstStyle/>
        <a:p>
          <a:r>
            <a:rPr lang="en-US"/>
            <a:t>Copilot</a:t>
          </a:r>
          <a:endParaRPr lang="en-US" dirty="0"/>
        </a:p>
      </dgm:t>
    </dgm:pt>
    <dgm:pt modelId="{4797E7E1-7520-4563-8E79-62450B631D4B}" type="parTrans" cxnId="{15541B4A-6034-416F-A9C3-A32F77ED3760}">
      <dgm:prSet/>
      <dgm:spPr/>
    </dgm:pt>
    <dgm:pt modelId="{89CB7E39-70B1-4EAE-ADEF-C2D7ECAB52C3}" type="sibTrans" cxnId="{15541B4A-6034-416F-A9C3-A32F77ED3760}">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4EFF778-3053-49EA-B8FF-91963C53C838}" type="pres">
      <dgm:prSet presAssocID="{ECDF3F5F-D616-4773-AD86-206CBB2C9A45}" presName="Triangle" presStyleLbl="alignNode1" presStyleIdx="5" presStyleCnt="7"/>
      <dgm:spPr/>
    </dgm:pt>
    <dgm:pt modelId="{48896D18-1FB6-4DEF-9EEA-AF6FB11D0F17}" type="pres">
      <dgm:prSet presAssocID="{48E1857D-DABA-49C3-A05A-879561167E94}" presName="sibTrans" presStyleCnt="0"/>
      <dgm:spPr/>
    </dgm:pt>
    <dgm:pt modelId="{449B5E31-9683-440C-8D54-C8DD516DD73A}" type="pres">
      <dgm:prSet presAssocID="{48E1857D-DABA-49C3-A05A-879561167E94}" presName="space" presStyleCnt="0"/>
      <dgm:spPr/>
    </dgm:pt>
    <dgm:pt modelId="{E96AF6BE-0A31-4A43-994F-7ACA89F404A5}" type="pres">
      <dgm:prSet presAssocID="{DD10328E-A6DD-41E3-B554-4474C789EE3B}" presName="composite" presStyleCnt="0"/>
      <dgm:spPr/>
    </dgm:pt>
    <dgm:pt modelId="{69FB57F2-30E0-447B-9CA3-6081CC2A6EF0}" type="pres">
      <dgm:prSet presAssocID="{DD10328E-A6DD-41E3-B554-4474C789EE3B}" presName="LShape" presStyleLbl="alignNode1" presStyleIdx="6" presStyleCnt="7"/>
      <dgm:spPr/>
    </dgm:pt>
    <dgm:pt modelId="{8831F2BD-16CB-4DFD-906B-F2ABDB3649AD}" type="pres">
      <dgm:prSet presAssocID="{DD10328E-A6DD-41E3-B554-4474C789EE3B}" presName="ParentText" presStyleLbl="revTx" presStyleIdx="3" presStyleCnt="4">
        <dgm:presLayoutVars>
          <dgm:chMax val="0"/>
          <dgm:chPref val="0"/>
          <dgm:bulletEnabled val="1"/>
        </dgm:presLayoutVars>
      </dgm:prSet>
      <dgm:spPr/>
    </dgm:pt>
  </dgm:ptLst>
  <dgm:cxnLst>
    <dgm:cxn modelId="{15541B4A-6034-416F-A9C3-A32F77ED3760}" srcId="{9596FC0A-FD31-4A13-A101-B34906B5FCA3}" destId="{DD10328E-A6DD-41E3-B554-4474C789EE3B}" srcOrd="3" destOrd="0" parTransId="{4797E7E1-7520-4563-8E79-62450B631D4B}" sibTransId="{89CB7E39-70B1-4EAE-ADEF-C2D7ECAB52C3}"/>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9B6313B1-6985-4CAA-8504-23046B34F1B1}" type="presOf" srcId="{DD10328E-A6DD-41E3-B554-4474C789EE3B}" destId="{8831F2BD-16CB-4DFD-906B-F2ABDB3649AD}"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80DF88C6-F94F-4789-A333-94594EB24137}" type="presParOf" srcId="{71194B23-C715-4BA4-A045-7005C525AF3E}" destId="{14EFF778-3053-49EA-B8FF-91963C53C838}" srcOrd="2" destOrd="0" presId="urn:microsoft.com/office/officeart/2009/3/layout/StepUpProcess"/>
    <dgm:cxn modelId="{14096607-09E7-47CD-A76A-B1A244F164FE}" type="presParOf" srcId="{E1C5162A-7220-4DEC-A00E-88E41A0FBFB7}" destId="{48896D18-1FB6-4DEF-9EEA-AF6FB11D0F17}" srcOrd="5" destOrd="0" presId="urn:microsoft.com/office/officeart/2009/3/layout/StepUpProcess"/>
    <dgm:cxn modelId="{F8FB3E92-BB56-406D-A301-35CF44B3756C}" type="presParOf" srcId="{48896D18-1FB6-4DEF-9EEA-AF6FB11D0F17}" destId="{449B5E31-9683-440C-8D54-C8DD516DD73A}" srcOrd="0" destOrd="0" presId="urn:microsoft.com/office/officeart/2009/3/layout/StepUpProcess"/>
    <dgm:cxn modelId="{1A9E898E-ECEF-478A-B9F3-99B08A1E61D1}" type="presParOf" srcId="{E1C5162A-7220-4DEC-A00E-88E41A0FBFB7}" destId="{E96AF6BE-0A31-4A43-994F-7ACA89F404A5}" srcOrd="6" destOrd="0" presId="urn:microsoft.com/office/officeart/2009/3/layout/StepUpProcess"/>
    <dgm:cxn modelId="{FFE93C43-1FDA-436A-9C91-8F53DEB7E6AF}" type="presParOf" srcId="{E96AF6BE-0A31-4A43-994F-7ACA89F404A5}" destId="{69FB57F2-30E0-447B-9CA3-6081CC2A6EF0}" srcOrd="0" destOrd="0" presId="urn:microsoft.com/office/officeart/2009/3/layout/StepUpProcess"/>
    <dgm:cxn modelId="{181F6695-C855-4873-9BD4-3B4B2604253D}" type="presParOf" srcId="{E96AF6BE-0A31-4A43-994F-7ACA89F404A5}" destId="{8831F2BD-16CB-4DFD-906B-F2ABDB3649AD}"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D50067A-87B8-435B-B026-B5457AF02675}">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F51B91-CDE2-4150-ABC9-E07326939C02}">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303DAA-A72B-4927-BF7B-07847C41FFDF}">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4EFF778-3053-49EA-B8FF-91963C53C838}">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FB57F2-30E0-447B-9CA3-6081CC2A6EF0}">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831F2BD-16CB-4DFD-906B-F2ABDB3649AD}">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Microsoft’s ecosystem, “agent” ≠ chatbot. It’s an AI entity that can break down a user goal into steps, choose actions, pull from data, and execute. It’s not fully autonomous like science fiction — instead it’s “structured autonomy”: goal-driven, step-oriented, and operating inside a controlled environment (Excel, Teams, Power Platform, etc.).</a:t>
            </a:r>
          </a:p>
        </p:txBody>
      </p:sp>
      <p:sp>
        <p:nvSpPr>
          <p:cNvPr id="4" name="Slide Number Placeholder 3"/>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30465417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235D5-173D-7E79-17DB-4B2F9677D6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2173F3-81EB-36E0-5B1E-56098D6D4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57913-0448-2B5D-AB0C-7861C360FFC1}"/>
              </a:ext>
            </a:extLst>
          </p:cNvPr>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a:extLst>
              <a:ext uri="{FF2B5EF4-FFF2-40B4-BE49-F238E27FC236}">
                <a16:creationId xmlns:a16="http://schemas.microsoft.com/office/drawing/2014/main" id="{A02CB03B-FCC0-A40A-B1C4-9F60245A8137}"/>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6831632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p:cNvSpPr>
            <a:spLocks noGrp="1"/>
          </p:cNvSpPr>
          <p:nvPr>
            <p:ph type="sldNum" sz="quarter" idx="5"/>
          </p:nvPr>
        </p:nvSpPr>
        <p:spPr/>
        <p:txBody>
          <a:bodyPr/>
          <a:lstStyle/>
          <a:p>
            <a:fld id="{FFB500C5-13F7-48FC-8160-C29AECF6C602}" type="slidenum">
              <a:rPr lang="en-US" smtClean="0"/>
              <a:t>9</a:t>
            </a:fld>
            <a:endParaRPr lang="en-US"/>
          </a:p>
        </p:txBody>
      </p:sp>
    </p:spTree>
    <p:extLst>
      <p:ext uri="{BB962C8B-B14F-4D97-AF65-F5344CB8AC3E}">
        <p14:creationId xmlns:p14="http://schemas.microsoft.com/office/powerpoint/2010/main" val="2986116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https://stringfestanalytics.com/how-to-get-started-with-agent-mode-in-excel/</a:t>
            </a:r>
          </a:p>
        </p:txBody>
      </p:sp>
      <p:sp>
        <p:nvSpPr>
          <p:cNvPr id="4" name="Slide Number Placeholder 3"/>
          <p:cNvSpPr>
            <a:spLocks noGrp="1"/>
          </p:cNvSpPr>
          <p:nvPr>
            <p:ph type="sldNum" sz="quarter" idx="5"/>
          </p:nvPr>
        </p:nvSpPr>
        <p:spPr/>
        <p:txBody>
          <a:bodyPr/>
          <a:lstStyle/>
          <a:p>
            <a:fld id="{1300335D-9F13-4B80-ADC5-B0EA3E10FF6B}" type="slidenum">
              <a:rPr lang="en-US" smtClean="0"/>
              <a:t>10</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0340-90B9-3E9E-2C44-E53E1F5BC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416F7D-80C0-0BF0-5DAE-28EECF9522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23542-0F7D-E832-E549-540653D47B72}"/>
              </a:ext>
            </a:extLst>
          </p:cNvPr>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a:extLst>
              <a:ext uri="{FF2B5EF4-FFF2-40B4-BE49-F238E27FC236}">
                <a16:creationId xmlns:a16="http://schemas.microsoft.com/office/drawing/2014/main" id="{AD1320A6-67F7-AA40-1113-E4509F24AEFD}"/>
              </a:ext>
            </a:extLst>
          </p:cNvPr>
          <p:cNvSpPr>
            <a:spLocks noGrp="1"/>
          </p:cNvSpPr>
          <p:nvPr>
            <p:ph type="sldNum" sz="quarter" idx="5"/>
          </p:nvPr>
        </p:nvSpPr>
        <p:spPr/>
        <p:txBody>
          <a:bodyPr/>
          <a:lstStyle/>
          <a:p>
            <a:fld id="{FFB500C5-13F7-48FC-8160-C29AECF6C602}" type="slidenum">
              <a:rPr lang="en-US" smtClean="0"/>
              <a:t>11</a:t>
            </a:fld>
            <a:endParaRPr lang="en-US"/>
          </a:p>
        </p:txBody>
      </p:sp>
    </p:spTree>
    <p:extLst>
      <p:ext uri="{BB962C8B-B14F-4D97-AF65-F5344CB8AC3E}">
        <p14:creationId xmlns:p14="http://schemas.microsoft.com/office/powerpoint/2010/main" val="6491708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B1B5-A60D-967D-49BC-6F3ABD430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F92654-5E87-00BA-6746-303D497ED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C1A70-63B8-CA42-42BB-70F21EDD71D7}"/>
              </a:ext>
            </a:extLst>
          </p:cNvPr>
          <p:cNvSpPr>
            <a:spLocks noGrp="1"/>
          </p:cNvSpPr>
          <p:nvPr>
            <p:ph type="body" idx="1"/>
          </p:nvPr>
        </p:nvSpPr>
        <p:spPr/>
        <p:txBody>
          <a:bodyPr/>
          <a:lstStyle/>
          <a:p>
            <a:r>
              <a:rPr lang="en-US" dirty="0"/>
              <a:t>“Earlier we said chatbots are </a:t>
            </a:r>
            <a:r>
              <a:rPr lang="en-US" i="1" dirty="0"/>
              <a:t>not</a:t>
            </a:r>
            <a:r>
              <a:rPr lang="en-US" dirty="0"/>
              <a:t> agents — and that’s absolutely true in the strict Microsoft definition.</a:t>
            </a:r>
            <a:br>
              <a:rPr lang="en-US" dirty="0"/>
            </a:br>
            <a:r>
              <a:rPr lang="en-US" dirty="0"/>
              <a:t>Chatbots respond.</a:t>
            </a:r>
            <a:br>
              <a:rPr lang="en-US" dirty="0"/>
            </a:br>
            <a:r>
              <a:rPr lang="en-US" dirty="0"/>
              <a:t>Agents </a:t>
            </a:r>
            <a:r>
              <a:rPr lang="en-US" i="1" dirty="0"/>
              <a:t>reason</a:t>
            </a:r>
            <a:r>
              <a:rPr lang="en-US" dirty="0"/>
              <a:t> and </a:t>
            </a:r>
            <a:r>
              <a:rPr lang="en-US" i="1" dirty="0"/>
              <a:t>act</a:t>
            </a:r>
            <a:r>
              <a:rPr lang="en-US" dirty="0"/>
              <a:t>.</a:t>
            </a:r>
          </a:p>
          <a:p>
            <a:r>
              <a:rPr lang="en-US" dirty="0"/>
              <a:t>So why are we building a chatbot here?</a:t>
            </a:r>
          </a:p>
          <a:p>
            <a:r>
              <a:rPr lang="en-US" dirty="0"/>
              <a:t>Because when you’re teaching people this stuff, you need a project they can actually finish.</a:t>
            </a:r>
            <a:br>
              <a:rPr lang="en-US" dirty="0"/>
            </a:br>
            <a:r>
              <a:rPr lang="en-US" dirty="0"/>
              <a:t>A fully agentic workflow takes hours and a ton of setup — environment variables, triggers, actions, tool calling, evaluation loops. It’s way too much for a short session like this.</a:t>
            </a:r>
          </a:p>
          <a:p>
            <a:r>
              <a:rPr lang="en-US" dirty="0"/>
              <a:t>But a Copilot Studio chatbot uses </a:t>
            </a:r>
            <a:r>
              <a:rPr lang="en-US" b="1" dirty="0"/>
              <a:t>all the same foundational pieces</a:t>
            </a:r>
            <a:r>
              <a:rPr lang="en-US" dirty="0"/>
              <a:t>:</a:t>
            </a:r>
          </a:p>
          <a:p>
            <a:r>
              <a:rPr lang="en-US" dirty="0"/>
              <a:t>intents</a:t>
            </a:r>
          </a:p>
          <a:p>
            <a:r>
              <a:rPr lang="en-US" dirty="0"/>
              <a:t>topics</a:t>
            </a:r>
          </a:p>
          <a:p>
            <a:r>
              <a:rPr lang="en-US" dirty="0"/>
              <a:t>orchestration</a:t>
            </a:r>
          </a:p>
          <a:p>
            <a:r>
              <a:rPr lang="en-US" dirty="0"/>
              <a:t>knowledge bases</a:t>
            </a:r>
          </a:p>
          <a:p>
            <a:r>
              <a:rPr lang="en-US" dirty="0"/>
              <a:t>grounding</a:t>
            </a:r>
          </a:p>
          <a:p>
            <a:r>
              <a:rPr lang="en-US" dirty="0"/>
              <a:t>troubleshooting AI responses</a:t>
            </a:r>
          </a:p>
          <a:p>
            <a:r>
              <a:rPr lang="en-US" dirty="0"/>
              <a:t>In other words, building a chatbot is the </a:t>
            </a:r>
            <a:r>
              <a:rPr lang="en-US" b="1" dirty="0"/>
              <a:t>on-ramp</a:t>
            </a:r>
            <a:r>
              <a:rPr lang="en-US" dirty="0"/>
              <a:t> to building real enterprise agents.</a:t>
            </a:r>
            <a:br>
              <a:rPr lang="en-US" dirty="0"/>
            </a:br>
            <a:r>
              <a:rPr lang="en-US" dirty="0"/>
              <a:t>This is exactly how Microsoft teaches the progression internally:</a:t>
            </a:r>
            <a:br>
              <a:rPr lang="en-US" dirty="0"/>
            </a:br>
            <a:r>
              <a:rPr lang="en-US" b="1" dirty="0"/>
              <a:t>Chatbot → Copilot → Agent → Automated agentic workflow.</a:t>
            </a:r>
            <a:endParaRPr lang="en-US" dirty="0"/>
          </a:p>
          <a:p>
            <a:r>
              <a:rPr lang="en-US" dirty="0"/>
              <a:t>So what we’re building today is not a full-blown agent — it’s a </a:t>
            </a:r>
            <a:r>
              <a:rPr lang="en-US" i="1" dirty="0"/>
              <a:t>teachable slice</a:t>
            </a:r>
            <a:r>
              <a:rPr lang="en-US" dirty="0"/>
              <a:t> of the agent stack that fits in the time we have and still gives you a meaningful, publishable artifact. After this, you’ll know how to plug in Excel knowledge, how to structure your copilots, and how to combine them with Agent Mode later.”</a:t>
            </a:r>
          </a:p>
        </p:txBody>
      </p:sp>
      <p:sp>
        <p:nvSpPr>
          <p:cNvPr id="4" name="Slide Number Placeholder 3">
            <a:extLst>
              <a:ext uri="{FF2B5EF4-FFF2-40B4-BE49-F238E27FC236}">
                <a16:creationId xmlns:a16="http://schemas.microsoft.com/office/drawing/2014/main" id="{62A5ACB8-FCC1-D3E3-8AE3-DDDF3FBF49DE}"/>
              </a:ext>
            </a:extLst>
          </p:cNvPr>
          <p:cNvSpPr>
            <a:spLocks noGrp="1"/>
          </p:cNvSpPr>
          <p:nvPr>
            <p:ph type="sldNum" sz="quarter" idx="5"/>
          </p:nvPr>
        </p:nvSpPr>
        <p:spPr/>
        <p:txBody>
          <a:bodyPr/>
          <a:lstStyle/>
          <a:p>
            <a:fld id="{1300335D-9F13-4B80-ADC5-B0EA3E10FF6B}" type="slidenum">
              <a:rPr lang="en-US" smtClean="0"/>
              <a:t>12</a:t>
            </a:fld>
            <a:endParaRPr lang="en-US"/>
          </a:p>
        </p:txBody>
      </p:sp>
    </p:spTree>
    <p:extLst>
      <p:ext uri="{BB962C8B-B14F-4D97-AF65-F5344CB8AC3E}">
        <p14:creationId xmlns:p14="http://schemas.microsoft.com/office/powerpoint/2010/main" val="26996192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what an automated AI workflow looks like — a sequence of predefined steps that move from a trigger to a final output. You can think of it as a chain reaction: something starts the process, different actions happen automatically, and along the way, AI steps in to add intelligence or decision-making.</a:t>
            </a:r>
          </a:p>
          <a:p>
            <a:r>
              <a:rPr lang="en-US" dirty="0"/>
              <a:t>It all begins with a </a:t>
            </a:r>
            <a:r>
              <a:rPr lang="en-US" b="1" dirty="0"/>
              <a:t>trigger</a:t>
            </a:r>
            <a:r>
              <a:rPr lang="en-US" dirty="0"/>
              <a:t> — something that tells the workflow to start. In Excel or Power Automate, that could be a new row added to a table, a file uploaded to OneDrive, or even a scheduled time like “every Monday morning.” The trigger is what kicks everything off without you having to manually do anything.</a:t>
            </a:r>
          </a:p>
          <a:p>
            <a:r>
              <a:rPr lang="en-US" dirty="0"/>
              <a:t>Then we have </a:t>
            </a:r>
            <a:r>
              <a:rPr lang="en-US" b="1" dirty="0"/>
              <a:t>Step 1</a:t>
            </a:r>
            <a:r>
              <a:rPr lang="en-US" dirty="0"/>
              <a:t>, which is often a preparation step. Maybe it’s collecting the data, formatting it, or sending it into Excel. This could be where Power Automate connects to a SharePoint list, a form submission, or a Teams message and feeds that data into your workbook.</a:t>
            </a:r>
          </a:p>
          <a:p>
            <a:r>
              <a:rPr lang="en-US" dirty="0"/>
              <a:t>Next comes the </a:t>
            </a:r>
            <a:r>
              <a:rPr lang="en-US" b="1" dirty="0"/>
              <a:t>AI Step</a:t>
            </a:r>
            <a:r>
              <a:rPr lang="en-US" dirty="0"/>
              <a:t> — this is where Copilot or another AI model gets involved. This could be an AI Builder action inside Power Automate that summarizes text, classifies feedback, or extracts key details from a document. Or it might be Copilot inside Excel generating a formula, building a chart, or explaining data patterns automatically. The AI step takes what used to be manual analysis and turns it into an automated, intelligent action.</a:t>
            </a:r>
          </a:p>
          <a:p>
            <a:r>
              <a:rPr lang="en-US" dirty="0"/>
              <a:t>After that, there can be more steps — maybe sending results back to Excel, notifying someone in Teams, or updating a dashboard. Each step builds on the last, flowing seamlessly without human intervention.</a:t>
            </a:r>
          </a:p>
          <a:p>
            <a:r>
              <a:rPr lang="en-US" dirty="0"/>
              <a:t>Finally, we reach the </a:t>
            </a:r>
            <a:r>
              <a:rPr lang="en-US" b="1" dirty="0"/>
              <a:t>output</a:t>
            </a:r>
            <a:r>
              <a:rPr lang="en-US" dirty="0"/>
              <a:t>, which is the end goal of the automation. That might be a refreshed Excel report, an email summary, or a new dataset ready for review. The beauty of it is that the whole process runs automatically once it’s designed — no constant copying, pasting, or checking formulas.</a:t>
            </a:r>
          </a:p>
          <a:p>
            <a:r>
              <a:rPr lang="en-US" dirty="0"/>
              <a:t>So, in short, this kind of workflow connects automation tools like Power Automate with AI capabilities from Copilot or AI Builder to take everyday Excel tasks — things like reporting, data cleaning, or summarizing — and turn them into intelligent, repeatable processes.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14</a:t>
            </a:fld>
            <a:endParaRPr lang="en-US"/>
          </a:p>
        </p:txBody>
      </p:sp>
    </p:spTree>
    <p:extLst>
      <p:ext uri="{BB962C8B-B14F-4D97-AF65-F5344CB8AC3E}">
        <p14:creationId xmlns:p14="http://schemas.microsoft.com/office/powerpoint/2010/main" val="40645057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next diagram shows the big shift we’re seeing with AI — moving from </a:t>
            </a:r>
            <a:r>
              <a:rPr lang="en-US" b="1" dirty="0"/>
              <a:t>automation</a:t>
            </a:r>
            <a:r>
              <a:rPr lang="en-US" dirty="0"/>
              <a:t> to </a:t>
            </a:r>
            <a:r>
              <a:rPr lang="en-US" b="1" dirty="0"/>
              <a:t>agency</a:t>
            </a:r>
            <a:r>
              <a:rPr lang="en-US" dirty="0"/>
              <a:t>. In the previous model, we had a predefined sequence of steps. Everything had to be mapped out ahead of time — if X happens, then do Y, then Z. That’s great for structured processes, but it doesn’t leave room for flexibility or judgment.</a:t>
            </a:r>
          </a:p>
          <a:p>
            <a:r>
              <a:rPr lang="en-US" dirty="0"/>
              <a:t>In this model, the </a:t>
            </a:r>
            <a:r>
              <a:rPr lang="en-US" b="1" dirty="0"/>
              <a:t>AI Agent</a:t>
            </a:r>
            <a:r>
              <a:rPr lang="en-US" dirty="0"/>
              <a:t> doesn’t just follow a script — it thinks through what to do next. When the trigger fires, the agent decides on its own which actions to take and which tools to use to reach the goal. It can pull from its </a:t>
            </a:r>
            <a:r>
              <a:rPr lang="en-US" b="1" dirty="0"/>
              <a:t>instructions</a:t>
            </a:r>
            <a:r>
              <a:rPr lang="en-US" dirty="0"/>
              <a:t> — what it’s been told it’s allowed or supposed to do — along with </a:t>
            </a:r>
            <a:r>
              <a:rPr lang="en-US" b="1" dirty="0"/>
              <a:t>memory</a:t>
            </a:r>
            <a:r>
              <a:rPr lang="en-US" dirty="0"/>
              <a:t>, which helps it recall past context, and </a:t>
            </a:r>
            <a:r>
              <a:rPr lang="en-US" b="1" dirty="0"/>
              <a:t>tools</a:t>
            </a:r>
            <a:r>
              <a:rPr lang="en-US" dirty="0"/>
              <a:t>, which might include things like Excel, Power Automate, or SharePoint.</a:t>
            </a:r>
          </a:p>
          <a:p>
            <a:r>
              <a:rPr lang="en-US" dirty="0"/>
              <a:t>For example, instead of a static Power Automate flow that’s hard-coded to send an email every time a report updates, an agent could look at the new data, decide if a report even needs to be generated, check who the right stakeholders are, and then use the right tool — maybe Copilot in Excel to summarize the data, or Power Automate to share the results. The key difference is that the agent chooses the path dynamically, based on what it knows and what it’s trying to accomplish — not just what’s been pre-programmed.</a:t>
            </a:r>
          </a:p>
          <a:p>
            <a:r>
              <a:rPr lang="en-US" dirty="0"/>
              <a:t>This is what we mean when we talk about Copilot moving into the </a:t>
            </a:r>
            <a:r>
              <a:rPr lang="en-US" b="1" dirty="0"/>
              <a:t>agentic era</a:t>
            </a:r>
            <a:r>
              <a:rPr lang="en-US" dirty="0"/>
              <a:t> — it’s not just automating, it’s adapting. It’s capable of reasoning, taking initiative, and using multiple Microsoft 365 tools together to achieve an outcome — all without you needing to define every single step.</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15</a:t>
            </a:fld>
            <a:endParaRPr lang="en-US"/>
          </a:p>
        </p:txBody>
      </p:sp>
    </p:spTree>
    <p:extLst>
      <p:ext uri="{BB962C8B-B14F-4D97-AF65-F5344CB8AC3E}">
        <p14:creationId xmlns:p14="http://schemas.microsoft.com/office/powerpoint/2010/main" val="32970948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When I say audit your team’s data and automation skills, I mean really take stock of what you already have. Who knows Power Query? Who can write a bit of Python or create a simple flow in Power Automate? Before you chase shiny new AI tools, get a baseline of your current capabilities.</a:t>
            </a:r>
          </a:p>
          <a:p>
            <a:endParaRPr lang="en-US" b="0" dirty="0"/>
          </a:p>
          <a:p>
            <a:r>
              <a:rPr lang="en-US" b="0" dirty="0"/>
              <a:t>Next, start small with Office Scripts and Power Automate. These are great low-risk ways to build repeatable logic and connect Excel to other systems. Once you understand how those pieces work, Agent Mode and Copilot will make a lot more sense.</a:t>
            </a:r>
          </a:p>
          <a:p>
            <a:endParaRPr lang="en-US" b="0" dirty="0"/>
          </a:p>
          <a:p>
            <a:r>
              <a:rPr lang="en-US" b="0" dirty="0"/>
              <a:t>Then, experiment safely with Copilot and Agent Mode. Try them in sandboxed files or low-stakes tasks. Learn how they interpret prompts, where they struggle, and how they can support your workflows. The goal is to build trust with the tools before relying on them in production.</a:t>
            </a:r>
          </a:p>
          <a:p>
            <a:r>
              <a:rPr lang="en-US" b="0" dirty="0"/>
              <a:t>From there, build a roadmap for AI adoption and governance. This is where system thinking comes in. Decide which processes to automate, who owns the workflows, and how you will review and audit results. This ensures the technology actually scales.</a:t>
            </a:r>
          </a:p>
          <a:p>
            <a:endParaRPr lang="en-US" b="0" dirty="0"/>
          </a:p>
          <a:p>
            <a:r>
              <a:rPr lang="en-US" b="0" dirty="0"/>
              <a:t>Finally, book a discovery call to plan your next moves. Every organization is at a different stage with these tools, and having a plan makes all the difference. I can help you map the skills, systems, and priorities that will make this stack work for you.</a:t>
            </a:r>
          </a:p>
          <a:p>
            <a:endParaRPr lang="en-US" b="0" dirty="0"/>
          </a:p>
        </p:txBody>
      </p:sp>
      <p:sp>
        <p:nvSpPr>
          <p:cNvPr id="4" name="Slide Number Placeholder 3"/>
          <p:cNvSpPr>
            <a:spLocks noGrp="1"/>
          </p:cNvSpPr>
          <p:nvPr>
            <p:ph type="sldNum" sz="quarter" idx="5"/>
          </p:nvPr>
        </p:nvSpPr>
        <p:spPr/>
        <p:txBody>
          <a:bodyPr/>
          <a:lstStyle/>
          <a:p>
            <a:fld id="{FFB500C5-13F7-48FC-8160-C29AECF6C602}" type="slidenum">
              <a:rPr lang="en-US" smtClean="0"/>
              <a:t>16</a:t>
            </a:fld>
            <a:endParaRPr lang="en-US"/>
          </a:p>
        </p:txBody>
      </p:sp>
    </p:spTree>
    <p:extLst>
      <p:ext uri="{BB962C8B-B14F-4D97-AF65-F5344CB8AC3E}">
        <p14:creationId xmlns:p14="http://schemas.microsoft.com/office/powerpoint/2010/main" val="2455904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11/15/2025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blog.tobiaszwingmann.com/p/integration-automation-ai-framework" TargetMode="External"/><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EB9D66-9CB4-B474-27D6-F594F19E2A76}"/>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6F578B23-3522-A45E-113D-CFC55209E2C5}"/>
              </a:ext>
            </a:extLst>
          </p:cNvPr>
          <p:cNvSpPr>
            <a:spLocks noGrp="1"/>
          </p:cNvSpPr>
          <p:nvPr>
            <p:ph type="ctrTitle"/>
          </p:nvPr>
        </p:nvSpPr>
        <p:spPr>
          <a:xfrm>
            <a:off x="2286000" y="2598656"/>
            <a:ext cx="13716000" cy="3581400"/>
          </a:xfrm>
        </p:spPr>
        <p:txBody>
          <a:bodyPr>
            <a:normAutofit fontScale="90000"/>
          </a:bodyPr>
          <a:lstStyle/>
          <a:p>
            <a:r>
              <a:rPr lang="en-US" sz="9900" b="1" dirty="0">
                <a:solidFill>
                  <a:srgbClr val="241F62"/>
                </a:solidFill>
                <a:latin typeface="+mn-lt"/>
              </a:rPr>
              <a:t>AI comes to Excel: Building your first Excel agent</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CADADD3B-A58B-45A3-D5DF-D99E4EB05D2C}"/>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51C8D1E5-24B9-FEAC-440F-B059007D73CE}"/>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2757564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730" y="1029387"/>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0" y="2080485"/>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06530" y="7521455"/>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Global Excel Summit (9-11 February 2022) - Microsoft Excel Conference">
            <a:extLst>
              <a:ext uri="{FF2B5EF4-FFF2-40B4-BE49-F238E27FC236}">
                <a16:creationId xmlns:a16="http://schemas.microsoft.com/office/drawing/2014/main" id="{EA545C86-0986-E2A5-4B62-E3E41804715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02896" y="3743408"/>
            <a:ext cx="3437261" cy="343726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nkedinlearninginstructor #linkedinlearning | Thais Cooke | 80 comments">
            <a:extLst>
              <a:ext uri="{FF2B5EF4-FFF2-40B4-BE49-F238E27FC236}">
                <a16:creationId xmlns:a16="http://schemas.microsoft.com/office/drawing/2014/main" id="{2E947460-3FEE-CFC7-623B-C27CBE0D9E1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954000" y="7292317"/>
            <a:ext cx="5018711" cy="2064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520861" y="3191948"/>
            <a:ext cx="14393120" cy="397031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Explore the difference between Copilot and Agent Mode in Excel</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Build your first Agent Mode tool in Excel using natural language prompts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Understand how Excel Agents fit into the Microsoft AI ecosystem (Copilot Studio, Power Platform, etc.)</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899E4-3D67-4F5C-9D65-EF5EF52CB1B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245D936-66D9-DF0F-F77B-2AE73828D767}"/>
              </a:ext>
            </a:extLst>
          </p:cNvPr>
          <p:cNvSpPr txBox="1"/>
          <p:nvPr/>
        </p:nvSpPr>
        <p:spPr>
          <a:xfrm>
            <a:off x="520861" y="170082"/>
            <a:ext cx="16395539" cy="1477328"/>
          </a:xfrm>
          <a:prstGeom prst="rect">
            <a:avLst/>
          </a:prstGeom>
          <a:noFill/>
        </p:spPr>
        <p:txBody>
          <a:bodyPr wrap="square" rtlCol="0">
            <a:spAutoFit/>
          </a:bodyPr>
          <a:lstStyle/>
          <a:p>
            <a:r>
              <a:rPr lang="en-US" sz="9000" dirty="0">
                <a:latin typeface="Aliens &amp; cows" panose="00000500000000000000" pitchFamily="2" charset="0"/>
              </a:rPr>
              <a:t>Remember when Excel got…</a:t>
            </a:r>
          </a:p>
        </p:txBody>
      </p:sp>
      <p:pic>
        <p:nvPicPr>
          <p:cNvPr id="15" name="Picture 14" descr="A close up of a sign&#10;&#10;Description automatically generated">
            <a:extLst>
              <a:ext uri="{FF2B5EF4-FFF2-40B4-BE49-F238E27FC236}">
                <a16:creationId xmlns:a16="http://schemas.microsoft.com/office/drawing/2014/main" id="{7FC47B52-F116-9B07-9F82-E4A341395C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F3762FA8-595D-366F-D814-2F4111A487F4}"/>
              </a:ext>
            </a:extLst>
          </p:cNvPr>
          <p:cNvGraphicFramePr/>
          <p:nvPr>
            <p:extLst>
              <p:ext uri="{D42A27DB-BD31-4B8C-83A1-F6EECF244321}">
                <p14:modId xmlns:p14="http://schemas.microsoft.com/office/powerpoint/2010/main" val="370380416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12084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68A8F-238B-F149-883B-EC39513349C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D7566E4-0615-C523-0C0B-1436446427E8}"/>
              </a:ext>
            </a:extLst>
          </p:cNvPr>
          <p:cNvSpPr txBox="1"/>
          <p:nvPr/>
        </p:nvSpPr>
        <p:spPr>
          <a:xfrm>
            <a:off x="520861" y="170082"/>
            <a:ext cx="16395539" cy="9787295"/>
          </a:xfrm>
          <a:prstGeom prst="rect">
            <a:avLst/>
          </a:prstGeom>
          <a:noFill/>
        </p:spPr>
        <p:txBody>
          <a:bodyPr wrap="square" rtlCol="0">
            <a:spAutoFit/>
          </a:bodyPr>
          <a:lstStyle/>
          <a:p>
            <a:r>
              <a:rPr lang="en-US" sz="9000" dirty="0">
                <a:latin typeface="Aliens &amp; cows" panose="00000500000000000000" pitchFamily="2" charset="0"/>
              </a:rPr>
              <a:t>Remember when Excel got…</a:t>
            </a: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r>
              <a:rPr lang="en-US" sz="7200" dirty="0">
                <a:latin typeface="Aliens &amp; cows" panose="00000500000000000000" pitchFamily="2" charset="0"/>
              </a:rPr>
              <a:t>Now it’s getting AI agents!</a:t>
            </a:r>
            <a:endParaRPr lang="en-US" sz="9000" dirty="0">
              <a:latin typeface="Aliens &amp; cows" panose="00000500000000000000" pitchFamily="2" charset="0"/>
            </a:endParaRPr>
          </a:p>
        </p:txBody>
      </p:sp>
      <p:pic>
        <p:nvPicPr>
          <p:cNvPr id="15" name="Picture 14" descr="A close up of a sign&#10;&#10;Description automatically generated">
            <a:extLst>
              <a:ext uri="{FF2B5EF4-FFF2-40B4-BE49-F238E27FC236}">
                <a16:creationId xmlns:a16="http://schemas.microsoft.com/office/drawing/2014/main" id="{46818568-EDBC-7BFE-3043-22CA89C97F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95373B1F-0E74-5415-E434-6EEC8C37F1D4}"/>
              </a:ext>
            </a:extLst>
          </p:cNvPr>
          <p:cNvGraphicFramePr/>
          <p:nvPr>
            <p:extLst>
              <p:ext uri="{D42A27DB-BD31-4B8C-83A1-F6EECF244321}">
                <p14:modId xmlns:p14="http://schemas.microsoft.com/office/powerpoint/2010/main" val="204964621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6587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B8467-3264-164E-245A-CA973080BF7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63C3EA9-9B9C-11DC-B9AA-2A75B2C1D4E1}"/>
              </a:ext>
            </a:extLst>
          </p:cNvPr>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What Microsoft means by “agent”</a:t>
            </a:r>
          </a:p>
        </p:txBody>
      </p:sp>
      <p:sp>
        <p:nvSpPr>
          <p:cNvPr id="3" name="TextBox 2">
            <a:extLst>
              <a:ext uri="{FF2B5EF4-FFF2-40B4-BE49-F238E27FC236}">
                <a16:creationId xmlns:a16="http://schemas.microsoft.com/office/drawing/2014/main" id="{6B4AC10A-C819-B1A8-EDB5-937D9D353771}"/>
              </a:ext>
            </a:extLst>
          </p:cNvPr>
          <p:cNvSpPr txBox="1"/>
          <p:nvPr/>
        </p:nvSpPr>
        <p:spPr>
          <a:xfrm>
            <a:off x="520861" y="3191948"/>
            <a:ext cx="14393120" cy="461664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An agent is an AI system that can understand goals, reason about steps, and take actions to complete a task.</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Goes beyond Q&amp;A → performs multi-step workflows driven by user intent.</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Uses memory, tools, and environment signals to stay on track.</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Designed to be autonomous but bounded (rules, safety, context).</a:t>
            </a:r>
          </a:p>
        </p:txBody>
      </p:sp>
      <p:pic>
        <p:nvPicPr>
          <p:cNvPr id="15" name="Picture 14" descr="A close up of a sign&#10;&#10;Description automatically generated">
            <a:extLst>
              <a:ext uri="{FF2B5EF4-FFF2-40B4-BE49-F238E27FC236}">
                <a16:creationId xmlns:a16="http://schemas.microsoft.com/office/drawing/2014/main" id="{B63E6436-73B5-9AF2-AAA0-310632B9B9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573408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349B-DB31-7CF0-253B-40E005108FA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2656377-103E-7009-5B54-C4B68D82227D}"/>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3E7DFBDB-D475-7CC0-8525-A9747D8D084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975AF735-7C85-1BA0-0030-14B6DCFFCC84}"/>
              </a:ext>
            </a:extLst>
          </p:cNvPr>
          <p:cNvSpPr txBox="1"/>
          <p:nvPr/>
        </p:nvSpPr>
        <p:spPr>
          <a:xfrm>
            <a:off x="260431" y="329879"/>
            <a:ext cx="8906720" cy="61534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Researcher &amp; Analyst agents</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Researcher agent: framing questions and gathering context</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Analyst agent: analyzing, visualizing, and executing with data</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Dataset: </a:t>
            </a:r>
            <a:r>
              <a:rPr lang="en-US" sz="3600" dirty="0">
                <a:solidFill>
                  <a:srgbClr val="C00000"/>
                </a:solidFill>
                <a:latin typeface="Consolas" panose="020B0609020204030204" pitchFamily="49" charset="0"/>
                <a:sym typeface="Consolas"/>
              </a:rPr>
              <a:t>analyst-researcher.xlsx</a:t>
            </a:r>
          </a:p>
        </p:txBody>
      </p:sp>
    </p:spTree>
    <p:extLst>
      <p:ext uri="{BB962C8B-B14F-4D97-AF65-F5344CB8AC3E}">
        <p14:creationId xmlns:p14="http://schemas.microsoft.com/office/powerpoint/2010/main" val="3292215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3270-992F-73FB-7E73-4DA42D379BB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358931-C887-DF08-D582-E12AD136D695}"/>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integration-automation AI framework</a:t>
            </a:r>
          </a:p>
        </p:txBody>
      </p:sp>
      <p:pic>
        <p:nvPicPr>
          <p:cNvPr id="15" name="Picture 14" descr="A close up of a sign&#10;&#10;Description automatically generated">
            <a:extLst>
              <a:ext uri="{FF2B5EF4-FFF2-40B4-BE49-F238E27FC236}">
                <a16:creationId xmlns:a16="http://schemas.microsoft.com/office/drawing/2014/main" id="{88701840-B113-B321-9200-F6ADD5F263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057A3FD3-5C03-0966-77FB-885E6BFE811D}"/>
              </a:ext>
            </a:extLst>
          </p:cNvPr>
          <p:cNvSpPr txBox="1"/>
          <p:nvPr/>
        </p:nvSpPr>
        <p:spPr>
          <a:xfrm>
            <a:off x="152400" y="7254596"/>
            <a:ext cx="3446118" cy="2862322"/>
          </a:xfrm>
          <a:prstGeom prst="rect">
            <a:avLst/>
          </a:prstGeom>
          <a:noFill/>
        </p:spPr>
        <p:txBody>
          <a:bodyPr wrap="square">
            <a:spAutoFit/>
          </a:bodyPr>
          <a:lstStyle/>
          <a:p>
            <a:r>
              <a:rPr lang="en-US" sz="3600" dirty="0">
                <a:hlinkClick r:id="rId3">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3074" name="Picture 2">
            <a:extLst>
              <a:ext uri="{FF2B5EF4-FFF2-40B4-BE49-F238E27FC236}">
                <a16:creationId xmlns:a16="http://schemas.microsoft.com/office/drawing/2014/main" id="{BD67A6B6-57FE-1727-C346-ED9D61BE40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6200" y="1369361"/>
            <a:ext cx="10287000" cy="8734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971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B2F53-9CBC-02CA-9A51-ED2E8A94463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A59A59-1845-383F-38E2-0337D6AE0BFB}"/>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Excel Copilot vs Excel Agent Mode</a:t>
            </a:r>
          </a:p>
        </p:txBody>
      </p:sp>
      <p:pic>
        <p:nvPicPr>
          <p:cNvPr id="15" name="Picture 14" descr="A close up of a sign&#10;&#10;Description automatically generated">
            <a:extLst>
              <a:ext uri="{FF2B5EF4-FFF2-40B4-BE49-F238E27FC236}">
                <a16:creationId xmlns:a16="http://schemas.microsoft.com/office/drawing/2014/main" id="{25B7AACD-032E-784C-D92C-BF6F5751F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3" name="Table 2">
            <a:extLst>
              <a:ext uri="{FF2B5EF4-FFF2-40B4-BE49-F238E27FC236}">
                <a16:creationId xmlns:a16="http://schemas.microsoft.com/office/drawing/2014/main" id="{A7829486-E1C2-6EFC-4E09-983F9108F30F}"/>
              </a:ext>
            </a:extLst>
          </p:cNvPr>
          <p:cNvGraphicFramePr>
            <a:graphicFrameLocks noGrp="1"/>
          </p:cNvGraphicFramePr>
          <p:nvPr>
            <p:extLst>
              <p:ext uri="{D42A27DB-BD31-4B8C-83A1-F6EECF244321}">
                <p14:modId xmlns:p14="http://schemas.microsoft.com/office/powerpoint/2010/main" val="3681093686"/>
              </p:ext>
            </p:extLst>
          </p:nvPr>
        </p:nvGraphicFramePr>
        <p:xfrm>
          <a:off x="457200" y="1714340"/>
          <a:ext cx="14401800" cy="7162962"/>
        </p:xfrm>
        <a:graphic>
          <a:graphicData uri="http://schemas.openxmlformats.org/drawingml/2006/table">
            <a:tbl>
              <a:tblPr/>
              <a:tblGrid>
                <a:gridCol w="4800600">
                  <a:extLst>
                    <a:ext uri="{9D8B030D-6E8A-4147-A177-3AD203B41FA5}">
                      <a16:colId xmlns:a16="http://schemas.microsoft.com/office/drawing/2014/main" val="4201771282"/>
                    </a:ext>
                  </a:extLst>
                </a:gridCol>
                <a:gridCol w="4800600">
                  <a:extLst>
                    <a:ext uri="{9D8B030D-6E8A-4147-A177-3AD203B41FA5}">
                      <a16:colId xmlns:a16="http://schemas.microsoft.com/office/drawing/2014/main" val="777237233"/>
                    </a:ext>
                  </a:extLst>
                </a:gridCol>
                <a:gridCol w="4800600">
                  <a:extLst>
                    <a:ext uri="{9D8B030D-6E8A-4147-A177-3AD203B41FA5}">
                      <a16:colId xmlns:a16="http://schemas.microsoft.com/office/drawing/2014/main" val="673316634"/>
                    </a:ext>
                  </a:extLst>
                </a:gridCol>
              </a:tblGrid>
              <a:tr h="609614">
                <a:tc>
                  <a:txBody>
                    <a:bodyPr/>
                    <a:lstStyle/>
                    <a:p>
                      <a:pPr>
                        <a:buNone/>
                      </a:pPr>
                      <a:r>
                        <a:rPr lang="en-US" sz="3200" b="1"/>
                        <a:t>Feature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Excel Copilot</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Agent Mode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6272724"/>
                  </a:ext>
                </a:extLst>
              </a:tr>
              <a:tr h="1066824">
                <a:tc>
                  <a:txBody>
                    <a:bodyPr/>
                    <a:lstStyle/>
                    <a:p>
                      <a:pPr>
                        <a:buNone/>
                      </a:pPr>
                      <a:r>
                        <a:rPr lang="en-US" sz="3200" b="1"/>
                        <a:t>Interaction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One-shot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Iterative, self-guided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3507712"/>
                  </a:ext>
                </a:extLst>
              </a:tr>
              <a:tr h="1066824">
                <a:tc>
                  <a:txBody>
                    <a:bodyPr/>
                    <a:lstStyle/>
                    <a:p>
                      <a:pPr>
                        <a:buNone/>
                      </a:pPr>
                      <a:r>
                        <a:rPr lang="en-US" sz="3200" b="1"/>
                        <a:t>Task Scope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Single actions (formulas, charts, summaries)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Multi-step processes across sheets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026323"/>
                  </a:ext>
                </a:extLst>
              </a:tr>
              <a:tr h="1066824">
                <a:tc>
                  <a:txBody>
                    <a:bodyPr/>
                    <a:lstStyle/>
                    <a:p>
                      <a:pPr>
                        <a:buNone/>
                      </a:pPr>
                      <a:r>
                        <a:rPr lang="en-US" sz="3200" b="1"/>
                        <a:t>Error Handling</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User re-prompts or fixes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Agent reviews, retries, self-corrects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923970"/>
                  </a:ext>
                </a:extLst>
              </a:tr>
              <a:tr h="1066824">
                <a:tc>
                  <a:txBody>
                    <a:bodyPr/>
                    <a:lstStyle/>
                    <a:p>
                      <a:pPr>
                        <a:buNone/>
                      </a:pPr>
                      <a:r>
                        <a:rPr lang="en-US" sz="3200" b="1"/>
                        <a:t>User Role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You do, Copilot helps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You manage, Agent executes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7454490"/>
                  </a:ext>
                </a:extLst>
              </a:tr>
              <a:tr h="609614">
                <a:tc>
                  <a:txBody>
                    <a:bodyPr/>
                    <a:lstStyle/>
                    <a:p>
                      <a:pPr>
                        <a:buNone/>
                      </a:pPr>
                      <a:r>
                        <a:rPr lang="en-US" sz="3200" b="1"/>
                        <a:t>Output Quality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Fast but shallow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Verified and repeatable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1303429"/>
                  </a:ext>
                </a:extLst>
              </a:tr>
              <a:tr h="1066824">
                <a:tc>
                  <a:txBody>
                    <a:bodyPr/>
                    <a:lstStyle/>
                    <a:p>
                      <a:pPr>
                        <a:buNone/>
                      </a:pPr>
                      <a:r>
                        <a:rPr lang="en-US" sz="3200" b="1"/>
                        <a:t>Best For</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Quick wins, ad-hoc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Structured, high-stakes workflows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52908"/>
                  </a:ext>
                </a:extLst>
              </a:tr>
              <a:tr h="609614">
                <a:tc>
                  <a:txBody>
                    <a:bodyPr/>
                    <a:lstStyle/>
                    <a:p>
                      <a:pPr>
                        <a:buNone/>
                      </a:pPr>
                      <a:r>
                        <a:rPr lang="en-US" sz="3200" b="1"/>
                        <a:t>Analogy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Smart assistant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Junior analyst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630930"/>
                  </a:ext>
                </a:extLst>
              </a:tr>
            </a:tbl>
          </a:graphicData>
        </a:graphic>
      </p:graphicFrame>
    </p:spTree>
    <p:extLst>
      <p:ext uri="{BB962C8B-B14F-4D97-AF65-F5344CB8AC3E}">
        <p14:creationId xmlns:p14="http://schemas.microsoft.com/office/powerpoint/2010/main" val="24602811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49040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Agent Mode in action</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Loan calculator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Variance analysis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Monthly close pack</a:t>
            </a: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What does Agent Mode do well, poorly, or not at all?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How does this relate to other tools in the Excel AI stack?</a:t>
            </a:r>
            <a:endParaRPr lang="en-US" sz="3600" dirty="0">
              <a:solidFill>
                <a:srgbClr val="C00000"/>
              </a:solidFill>
              <a:latin typeface="Consolas" panose="020B0609020204030204" pitchFamily="49" charset="0"/>
              <a:sym typeface="Consolas"/>
            </a:endParaRPr>
          </a:p>
        </p:txBody>
      </p:sp>
    </p:spTree>
    <p:extLst>
      <p:ext uri="{BB962C8B-B14F-4D97-AF65-F5344CB8AC3E}">
        <p14:creationId xmlns:p14="http://schemas.microsoft.com/office/powerpoint/2010/main" val="3871531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FB617-C0E7-3228-013C-BAC06730C5D4}"/>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E21B4799-3E87-1700-15F4-3686FC94E3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1026" name="Picture 2">
            <a:extLst>
              <a:ext uri="{FF2B5EF4-FFF2-40B4-BE49-F238E27FC236}">
                <a16:creationId xmlns:a16="http://schemas.microsoft.com/office/drawing/2014/main" id="{9F1D89B2-86AC-689C-CB18-860F1A902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7200" y="266700"/>
            <a:ext cx="9753600" cy="9753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4252A70-2368-1C9D-63DF-7611C458B4EF}"/>
              </a:ext>
            </a:extLst>
          </p:cNvPr>
          <p:cNvSpPr txBox="1"/>
          <p:nvPr/>
        </p:nvSpPr>
        <p:spPr>
          <a:xfrm>
            <a:off x="516282" y="8648700"/>
            <a:ext cx="2590800" cy="1200329"/>
          </a:xfrm>
          <a:prstGeom prst="rect">
            <a:avLst/>
          </a:prstGeom>
          <a:noFill/>
        </p:spPr>
        <p:txBody>
          <a:bodyPr wrap="square">
            <a:spAutoFit/>
          </a:bodyPr>
          <a:lstStyle/>
          <a:p>
            <a:r>
              <a:rPr lang="en-US" dirty="0"/>
              <a:t>https://stringfestanalytics.com/how-to-understand-the-modern-excel-ai-stack/</a:t>
            </a:r>
          </a:p>
        </p:txBody>
      </p:sp>
    </p:spTree>
    <p:extLst>
      <p:ext uri="{BB962C8B-B14F-4D97-AF65-F5344CB8AC3E}">
        <p14:creationId xmlns:p14="http://schemas.microsoft.com/office/powerpoint/2010/main" val="11167549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B6D4-A9E1-18F2-6B90-35C6049AD1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6E0BF99-428F-FCDD-2CFB-DD415B3C63E1}"/>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4C0E755-7B20-E689-DED8-011B122B9B5A}"/>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5C6A793-A02D-6141-B68A-AED83B08EEA7}"/>
              </a:ext>
            </a:extLst>
          </p:cNvPr>
          <p:cNvSpPr txBox="1"/>
          <p:nvPr/>
        </p:nvSpPr>
        <p:spPr>
          <a:xfrm>
            <a:off x="260431" y="329879"/>
            <a:ext cx="8906720" cy="948003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Creating an Excel MVP chatbot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a custom Copilot agent in Copilot Studio tailored for specific Excel-related use cases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and manage trusted knowledge sources (like MVP websites) to ensure high-quality, domain-specific responses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Test and publish the agent with simple topics added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File: </a:t>
            </a:r>
            <a:r>
              <a:rPr lang="en-US" sz="3600" dirty="0">
                <a:solidFill>
                  <a:srgbClr val="C00000"/>
                </a:solidFill>
                <a:latin typeface="Consolas" panose="020B0609020204030204" pitchFamily="49" charset="0"/>
                <a:sym typeface="Consolas"/>
              </a:rPr>
              <a:t>mvp-knowledge-base-instructions.docx</a:t>
            </a:r>
          </a:p>
        </p:txBody>
      </p:sp>
    </p:spTree>
    <p:extLst>
      <p:ext uri="{BB962C8B-B14F-4D97-AF65-F5344CB8AC3E}">
        <p14:creationId xmlns:p14="http://schemas.microsoft.com/office/powerpoint/2010/main" val="4716171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C2A64-DE04-BD92-31A8-820C77D9746F}"/>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EC22D6C-55B5-9EBB-6AEF-6E4DABFE9B0F}"/>
              </a:ext>
            </a:extLst>
          </p:cNvPr>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a:extLst>
              <a:ext uri="{FF2B5EF4-FFF2-40B4-BE49-F238E27FC236}">
                <a16:creationId xmlns:a16="http://schemas.microsoft.com/office/drawing/2014/main" id="{A5C23ED6-024D-6DB4-5772-2A38CA349F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a:extLst>
              <a:ext uri="{FF2B5EF4-FFF2-40B4-BE49-F238E27FC236}">
                <a16:creationId xmlns:a16="http://schemas.microsoft.com/office/drawing/2014/main" id="{8038220C-8358-352B-9440-F8C04CC09758}"/>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B9C4B0BF-555F-0A08-E78F-4C9AB29B72C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4995562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98B75-B4E6-621C-E5FF-E91B9368648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4B16A43-7960-9C0B-5FEC-79C3B6725D25}"/>
              </a:ext>
            </a:extLst>
          </p:cNvPr>
          <p:cNvSpPr txBox="1"/>
          <p:nvPr/>
        </p:nvSpPr>
        <p:spPr>
          <a:xfrm>
            <a:off x="520861" y="170082"/>
            <a:ext cx="16395539" cy="1938992"/>
          </a:xfrm>
          <a:prstGeom prst="rect">
            <a:avLst/>
          </a:prstGeom>
          <a:noFill/>
        </p:spPr>
        <p:txBody>
          <a:bodyPr wrap="square" rtlCol="0">
            <a:spAutoFit/>
          </a:bodyPr>
          <a:lstStyle/>
          <a:p>
            <a:r>
              <a:rPr lang="en-US" sz="6000" dirty="0">
                <a:latin typeface="Aliens &amp; cows" panose="00000500000000000000" pitchFamily="2" charset="0"/>
              </a:rPr>
              <a:t>Automated AI workflows with Power Automate + Copilot </a:t>
            </a:r>
          </a:p>
        </p:txBody>
      </p:sp>
      <p:pic>
        <p:nvPicPr>
          <p:cNvPr id="15" name="Picture 14" descr="A close up of a sign&#10;&#10;Description automatically generated">
            <a:extLst>
              <a:ext uri="{FF2B5EF4-FFF2-40B4-BE49-F238E27FC236}">
                <a16:creationId xmlns:a16="http://schemas.microsoft.com/office/drawing/2014/main" id="{2D74052B-8ACF-437B-C4DC-8CBE14F0B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B8C1EB5B-ED7A-D25D-8E41-6686DC70C2BA}"/>
              </a:ext>
            </a:extLst>
          </p:cNvPr>
          <p:cNvSpPr txBox="1"/>
          <p:nvPr/>
        </p:nvSpPr>
        <p:spPr>
          <a:xfrm>
            <a:off x="228600" y="9196959"/>
            <a:ext cx="5638800" cy="646331"/>
          </a:xfrm>
          <a:prstGeom prst="rect">
            <a:avLst/>
          </a:prstGeom>
          <a:noFill/>
        </p:spPr>
        <p:txBody>
          <a:bodyPr wrap="square">
            <a:spAutoFit/>
          </a:bodyPr>
          <a:lstStyle/>
          <a:p>
            <a:r>
              <a:rPr lang="en-US" sz="3600" dirty="0"/>
              <a:t>Source: Tobias </a:t>
            </a:r>
            <a:r>
              <a:rPr lang="en-US" sz="3600" dirty="0" err="1"/>
              <a:t>Zwingmann</a:t>
            </a:r>
            <a:endParaRPr lang="en-US" sz="3600" dirty="0"/>
          </a:p>
        </p:txBody>
      </p:sp>
      <p:pic>
        <p:nvPicPr>
          <p:cNvPr id="2052" name="Picture 4">
            <a:extLst>
              <a:ext uri="{FF2B5EF4-FFF2-40B4-BE49-F238E27FC236}">
                <a16:creationId xmlns:a16="http://schemas.microsoft.com/office/drawing/2014/main" id="{855DDFC5-5083-02A7-A2F7-7CE52A0B4B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7848"/>
          <a:stretch>
            <a:fillRect/>
          </a:stretch>
        </p:blipFill>
        <p:spPr bwMode="auto">
          <a:xfrm>
            <a:off x="1828800" y="2514600"/>
            <a:ext cx="15341318" cy="5257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4153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FBA3-97A6-DA63-F5D2-28FD4463F0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9B7EACC-66F8-71B7-745D-30FF25DB8890}"/>
              </a:ext>
            </a:extLst>
          </p:cNvPr>
          <p:cNvSpPr txBox="1"/>
          <p:nvPr/>
        </p:nvSpPr>
        <p:spPr>
          <a:xfrm>
            <a:off x="520861" y="170082"/>
            <a:ext cx="16395539" cy="923330"/>
          </a:xfrm>
          <a:prstGeom prst="rect">
            <a:avLst/>
          </a:prstGeom>
          <a:noFill/>
        </p:spPr>
        <p:txBody>
          <a:bodyPr wrap="square" rtlCol="0">
            <a:spAutoFit/>
          </a:bodyPr>
          <a:lstStyle/>
          <a:p>
            <a:r>
              <a:rPr lang="en-US" sz="5400" dirty="0">
                <a:latin typeface="Aliens &amp; cows" panose="00000500000000000000" pitchFamily="2" charset="0"/>
              </a:rPr>
              <a:t>Agentic workflows with Power Automate + Copilot Studio </a:t>
            </a:r>
          </a:p>
        </p:txBody>
      </p:sp>
      <p:pic>
        <p:nvPicPr>
          <p:cNvPr id="15" name="Picture 14" descr="A close up of a sign&#10;&#10;Description automatically generated">
            <a:extLst>
              <a:ext uri="{FF2B5EF4-FFF2-40B4-BE49-F238E27FC236}">
                <a16:creationId xmlns:a16="http://schemas.microsoft.com/office/drawing/2014/main" id="{4E9CDCDF-A7D1-E32F-4EBC-174712D703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93680795-F53D-257D-9454-224111B5D4EB}"/>
              </a:ext>
            </a:extLst>
          </p:cNvPr>
          <p:cNvSpPr txBox="1"/>
          <p:nvPr/>
        </p:nvSpPr>
        <p:spPr>
          <a:xfrm>
            <a:off x="228600" y="9196959"/>
            <a:ext cx="5638800" cy="646331"/>
          </a:xfrm>
          <a:prstGeom prst="rect">
            <a:avLst/>
          </a:prstGeom>
          <a:noFill/>
        </p:spPr>
        <p:txBody>
          <a:bodyPr wrap="square">
            <a:spAutoFit/>
          </a:bodyPr>
          <a:lstStyle/>
          <a:p>
            <a:r>
              <a:rPr lang="en-US" sz="3600" dirty="0"/>
              <a:t>Source: Tobias </a:t>
            </a:r>
            <a:r>
              <a:rPr lang="en-US" sz="3600" dirty="0" err="1"/>
              <a:t>Zwingmann</a:t>
            </a:r>
            <a:endParaRPr lang="en-US" sz="3600" dirty="0"/>
          </a:p>
        </p:txBody>
      </p:sp>
      <p:pic>
        <p:nvPicPr>
          <p:cNvPr id="3074" name="Picture 2">
            <a:extLst>
              <a:ext uri="{FF2B5EF4-FFF2-40B4-BE49-F238E27FC236}">
                <a16:creationId xmlns:a16="http://schemas.microsoft.com/office/drawing/2014/main" id="{F5BC2C18-45FC-A6BA-CD00-8C167E4AA5D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332"/>
          <a:stretch>
            <a:fillRect/>
          </a:stretch>
        </p:blipFill>
        <p:spPr bwMode="auto">
          <a:xfrm>
            <a:off x="723900" y="1481633"/>
            <a:ext cx="16840200" cy="7323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3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1C78-F10E-3F23-F9DF-9C818C8D56B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50F672D-6587-1754-62CF-3B756392B992}"/>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49B7597B-A1CA-D128-EACB-A1FA4B6B8F56}"/>
              </a:ext>
            </a:extLst>
          </p:cNvPr>
          <p:cNvSpPr txBox="1"/>
          <p:nvPr/>
        </p:nvSpPr>
        <p:spPr>
          <a:xfrm>
            <a:off x="520860" y="1866900"/>
            <a:ext cx="16776539"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Audit your team’s data and automation skills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Start small with Office Scripts and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Experiment safely with Copilot and Agent Mode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a roadmap for AI adoption and governance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Get in touch to plan your next moves</a:t>
            </a:r>
          </a:p>
        </p:txBody>
      </p:sp>
      <p:pic>
        <p:nvPicPr>
          <p:cNvPr id="15" name="Picture 14" descr="A close up of a sign&#10;&#10;Description automatically generated">
            <a:extLst>
              <a:ext uri="{FF2B5EF4-FFF2-40B4-BE49-F238E27FC236}">
                <a16:creationId xmlns:a16="http://schemas.microsoft.com/office/drawing/2014/main" id="{EAEDEC2C-D927-44DA-1C74-B83FF1B785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213438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0FEE0-1585-1CA1-B126-07BE6F8A489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6881496-D23A-3D77-A320-5198134F7DF1}"/>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04A3749B-D6B8-CD96-C6ED-D83C8153B2F0}"/>
              </a:ext>
            </a:extLst>
          </p:cNvPr>
          <p:cNvSpPr>
            <a:spLocks noGrp="1"/>
          </p:cNvSpPr>
          <p:nvPr>
            <p:ph type="ctrTitle"/>
          </p:nvPr>
        </p:nvSpPr>
        <p:spPr>
          <a:xfrm>
            <a:off x="2286000" y="2598656"/>
            <a:ext cx="13716000" cy="3581400"/>
          </a:xfrm>
        </p:spPr>
        <p:txBody>
          <a:bodyPr>
            <a:normAutofit/>
          </a:bodyPr>
          <a:lstStyle/>
          <a:p>
            <a:r>
              <a:rPr lang="en-US" sz="9900" b="1" dirty="0">
                <a:solidFill>
                  <a:srgbClr val="241F62"/>
                </a:solidFill>
                <a:latin typeface="+mn-lt"/>
              </a:rPr>
              <a:t>THANK YOU</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3FD6AC7F-1054-5A62-472F-AB412916EB96}"/>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45B0E24A-7B4A-1422-EA99-6AEC7FAD05DA}"/>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8866335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2653</TotalTime>
  <Words>2453</Words>
  <Application>Microsoft Office PowerPoint</Application>
  <PresentationFormat>Custom</PresentationFormat>
  <Paragraphs>156</Paragraphs>
  <Slides>18</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Calibri</vt:lpstr>
      <vt:lpstr>Aliens &amp; cows</vt:lpstr>
      <vt:lpstr>Normafixed Tryout</vt:lpstr>
      <vt:lpstr>Pragmatica</vt:lpstr>
      <vt:lpstr>Consolas</vt:lpstr>
      <vt:lpstr>Office Theme</vt:lpstr>
      <vt:lpstr>AI comes to Excel: Building your first Excel agent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228</cp:revision>
  <dcterms:created xsi:type="dcterms:W3CDTF">2006-08-16T00:00:00Z</dcterms:created>
  <dcterms:modified xsi:type="dcterms:W3CDTF">2025-11-15T16:47:54Z</dcterms:modified>
  <dc:identifier>DADurESpNu8</dc:identifier>
</cp:coreProperties>
</file>