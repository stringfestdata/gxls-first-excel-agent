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20"/>
  </p:notesMasterIdLst>
  <p:sldIdLst>
    <p:sldId id="444" r:id="rId2"/>
    <p:sldId id="425" r:id="rId3"/>
    <p:sldId id="426" r:id="rId4"/>
    <p:sldId id="435" r:id="rId5"/>
    <p:sldId id="436" r:id="rId6"/>
    <p:sldId id="472" r:id="rId7"/>
    <p:sldId id="471" r:id="rId8"/>
    <p:sldId id="437" r:id="rId9"/>
    <p:sldId id="438" r:id="rId10"/>
    <p:sldId id="407" r:id="rId11"/>
    <p:sldId id="443" r:id="rId12"/>
    <p:sldId id="467" r:id="rId13"/>
    <p:sldId id="470" r:id="rId14"/>
    <p:sldId id="446" r:id="rId15"/>
    <p:sldId id="469" r:id="rId16"/>
    <p:sldId id="442" r:id="rId17"/>
    <p:sldId id="415" r:id="rId18"/>
    <p:sldId id="468" r:id="rId19"/>
  </p:sldIdLst>
  <p:sldSz cx="18288000" cy="10287000"/>
  <p:notesSz cx="6858000" cy="9144000"/>
  <p:embeddedFontLst>
    <p:embeddedFont>
      <p:font typeface="Consolas" panose="020B0609020204030204" pitchFamily="49" charset="0"/>
      <p:regular r:id="rId21"/>
      <p:bold r:id="rId22"/>
      <p:italic r:id="rId23"/>
      <p:boldItalic r:id="rId24"/>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A7684158-E8C8-9BE0-21EB-718D906F94A5}" name="George Mount" initials="GM" userId="S::george@stringfestanalytics.com::22d0b802-afc6-4b8f-ba57-7a855d96927f"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George Mount" initials="GM" lastIdx="9" clrIdx="0">
    <p:extLst>
      <p:ext uri="{19B8F6BF-5375-455C-9EA6-DF929625EA0E}">
        <p15:presenceInfo xmlns:p15="http://schemas.microsoft.com/office/powerpoint/2012/main" userId="57d2ab2a84d54c81"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CF3338"/>
    <a:srgbClr val="3D393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9EA6155-9679-457C-9482-8E13709CA374}" v="55" dt="2025-10-22T16:18:55.83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992" autoAdjust="0"/>
    <p:restoredTop sz="74298" autoAdjust="0"/>
  </p:normalViewPr>
  <p:slideViewPr>
    <p:cSldViewPr>
      <p:cViewPr varScale="1">
        <p:scale>
          <a:sx n="31" d="100"/>
          <a:sy n="31" d="100"/>
        </p:scale>
        <p:origin x="912" y="251"/>
      </p:cViewPr>
      <p:guideLst>
        <p:guide orient="horz" pos="2160"/>
        <p:guide pos="2880"/>
      </p:guideLst>
    </p:cSldViewPr>
  </p:slideViewPr>
  <p:outlineViewPr>
    <p:cViewPr>
      <p:scale>
        <a:sx n="33" d="100"/>
        <a:sy n="33" d="100"/>
      </p:scale>
      <p:origin x="0" y="0"/>
    </p:cViewPr>
  </p:outlineViewPr>
  <p:notesTextViewPr>
    <p:cViewPr>
      <p:scale>
        <a:sx n="140" d="100"/>
        <a:sy n="14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font" Target="fonts/font1.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commentAuthors" Target="commentAuthor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4.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3.fntdata"/><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microsoft.com/office/2018/10/relationships/authors" Target="author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2.fntdata"/><Relationship Id="rId27" Type="http://schemas.openxmlformats.org/officeDocument/2006/relationships/viewProps" Target="viewProps.xml"/><Relationship Id="rId30" Type="http://schemas.microsoft.com/office/2015/10/relationships/revisionInfo" Target="revisionInfo.xml"/></Relationships>
</file>

<file path=ppt/diagrams/colors1.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9596FC0A-FD31-4A13-A101-B34906B5FCA3}" type="doc">
      <dgm:prSet loTypeId="urn:microsoft.com/office/officeart/2009/3/layout/StepUpProcess" loCatId="process" qsTypeId="urn:microsoft.com/office/officeart/2005/8/quickstyle/simple1" qsCatId="simple" csTypeId="urn:microsoft.com/office/officeart/2005/8/colors/accent2_2" csCatId="accent2" phldr="1"/>
      <dgm:spPr/>
      <dgm:t>
        <a:bodyPr/>
        <a:lstStyle/>
        <a:p>
          <a:endParaRPr lang="en-US"/>
        </a:p>
      </dgm:t>
    </dgm:pt>
    <dgm:pt modelId="{7E095769-9D9B-40C6-A448-32B20215D868}">
      <dgm:prSet phldrT="[Text]" phldr="0"/>
      <dgm:spPr/>
      <dgm:t>
        <a:bodyPr/>
        <a:lstStyle/>
        <a:p>
          <a:r>
            <a:rPr lang="en-US" dirty="0"/>
            <a:t>Formulas</a:t>
          </a:r>
        </a:p>
      </dgm:t>
    </dgm:pt>
    <dgm:pt modelId="{F4600BDA-8F82-442F-A2E5-6E673A39A7ED}" type="parTrans" cxnId="{2EE4C9C5-18F6-4208-BFC2-DDFBC96794DA}">
      <dgm:prSet/>
      <dgm:spPr/>
      <dgm:t>
        <a:bodyPr/>
        <a:lstStyle/>
        <a:p>
          <a:endParaRPr lang="en-US"/>
        </a:p>
      </dgm:t>
    </dgm:pt>
    <dgm:pt modelId="{2FD94EF4-6AF8-4026-9D1C-BB8474CF7C4C}" type="sibTrans" cxnId="{2EE4C9C5-18F6-4208-BFC2-DDFBC96794DA}">
      <dgm:prSet/>
      <dgm:spPr/>
      <dgm:t>
        <a:bodyPr/>
        <a:lstStyle/>
        <a:p>
          <a:endParaRPr lang="en-US"/>
        </a:p>
      </dgm:t>
    </dgm:pt>
    <dgm:pt modelId="{9755B054-2A0A-4243-A5C5-182AC48ED55B}">
      <dgm:prSet phldrT="[Text]" phldr="0"/>
      <dgm:spPr/>
      <dgm:t>
        <a:bodyPr/>
        <a:lstStyle/>
        <a:p>
          <a:r>
            <a:rPr lang="en-US" dirty="0"/>
            <a:t>PivotTables</a:t>
          </a:r>
        </a:p>
      </dgm:t>
    </dgm:pt>
    <dgm:pt modelId="{8A628A53-949A-440A-AA57-8A743CA87032}" type="parTrans" cxnId="{EE26EA72-087D-4F8D-9070-C1852D70C64A}">
      <dgm:prSet/>
      <dgm:spPr/>
      <dgm:t>
        <a:bodyPr/>
        <a:lstStyle/>
        <a:p>
          <a:endParaRPr lang="en-US"/>
        </a:p>
      </dgm:t>
    </dgm:pt>
    <dgm:pt modelId="{16C0DDF2-CBDB-4619-ADAC-B681C71B6F89}" type="sibTrans" cxnId="{EE26EA72-087D-4F8D-9070-C1852D70C64A}">
      <dgm:prSet/>
      <dgm:spPr/>
      <dgm:t>
        <a:bodyPr/>
        <a:lstStyle/>
        <a:p>
          <a:endParaRPr lang="en-US"/>
        </a:p>
      </dgm:t>
    </dgm:pt>
    <dgm:pt modelId="{ECDF3F5F-D616-4773-AD86-206CBB2C9A45}">
      <dgm:prSet phldrT="[Text]" phldr="0"/>
      <dgm:spPr/>
      <dgm:t>
        <a:bodyPr/>
        <a:lstStyle/>
        <a:p>
          <a:r>
            <a:rPr lang="en-US" dirty="0"/>
            <a:t>Power Query</a:t>
          </a:r>
        </a:p>
      </dgm:t>
    </dgm:pt>
    <dgm:pt modelId="{2B13BBD9-23B6-4A64-8160-2979AC683130}" type="parTrans" cxnId="{98F83CF4-04E0-4019-ADAD-02149DA9E92B}">
      <dgm:prSet/>
      <dgm:spPr/>
      <dgm:t>
        <a:bodyPr/>
        <a:lstStyle/>
        <a:p>
          <a:endParaRPr lang="en-US"/>
        </a:p>
      </dgm:t>
    </dgm:pt>
    <dgm:pt modelId="{48E1857D-DABA-49C3-A05A-879561167E94}" type="sibTrans" cxnId="{98F83CF4-04E0-4019-ADAD-02149DA9E92B}">
      <dgm:prSet/>
      <dgm:spPr/>
      <dgm:t>
        <a:bodyPr/>
        <a:lstStyle/>
        <a:p>
          <a:endParaRPr lang="en-US"/>
        </a:p>
      </dgm:t>
    </dgm:pt>
    <dgm:pt modelId="{D7893660-5BFC-4EEE-852D-A0B87874F466}">
      <dgm:prSet phldrT="[Text]" phldr="0"/>
      <dgm:spPr/>
      <dgm:t>
        <a:bodyPr/>
        <a:lstStyle/>
        <a:p>
          <a:r>
            <a:rPr lang="en-US"/>
            <a:t>Copilot</a:t>
          </a:r>
          <a:endParaRPr lang="en-US" dirty="0"/>
        </a:p>
      </dgm:t>
    </dgm:pt>
    <dgm:pt modelId="{6EEC88D9-076A-419A-9A6B-120C27DF31EB}" type="parTrans" cxnId="{562DE018-A951-4CE6-882D-10E86DD91AED}">
      <dgm:prSet/>
      <dgm:spPr/>
    </dgm:pt>
    <dgm:pt modelId="{DDFB99C5-58BB-421F-9CEC-742A00ABA300}" type="sibTrans" cxnId="{562DE018-A951-4CE6-882D-10E86DD91AED}">
      <dgm:prSet/>
      <dgm:spPr/>
    </dgm:pt>
    <dgm:pt modelId="{E1C5162A-7220-4DEC-A00E-88E41A0FBFB7}" type="pres">
      <dgm:prSet presAssocID="{9596FC0A-FD31-4A13-A101-B34906B5FCA3}" presName="rootnode" presStyleCnt="0">
        <dgm:presLayoutVars>
          <dgm:chMax/>
          <dgm:chPref/>
          <dgm:dir/>
          <dgm:animLvl val="lvl"/>
        </dgm:presLayoutVars>
      </dgm:prSet>
      <dgm:spPr/>
    </dgm:pt>
    <dgm:pt modelId="{87829CA9-EEC9-440A-95A0-711332578C97}" type="pres">
      <dgm:prSet presAssocID="{7E095769-9D9B-40C6-A448-32B20215D868}" presName="composite" presStyleCnt="0"/>
      <dgm:spPr/>
    </dgm:pt>
    <dgm:pt modelId="{9270B02A-591F-4475-8B46-CA257B56BD42}" type="pres">
      <dgm:prSet presAssocID="{7E095769-9D9B-40C6-A448-32B20215D868}" presName="LShape" presStyleLbl="alignNode1" presStyleIdx="0" presStyleCnt="7"/>
      <dgm:spPr/>
    </dgm:pt>
    <dgm:pt modelId="{70D0D292-7A19-4BB9-92FE-398428920B5A}" type="pres">
      <dgm:prSet presAssocID="{7E095769-9D9B-40C6-A448-32B20215D868}" presName="ParentText" presStyleLbl="revTx" presStyleIdx="0" presStyleCnt="4">
        <dgm:presLayoutVars>
          <dgm:chMax val="0"/>
          <dgm:chPref val="0"/>
          <dgm:bulletEnabled val="1"/>
        </dgm:presLayoutVars>
      </dgm:prSet>
      <dgm:spPr/>
    </dgm:pt>
    <dgm:pt modelId="{6E1B76BE-C8A3-4EFE-B029-79471988039A}" type="pres">
      <dgm:prSet presAssocID="{7E095769-9D9B-40C6-A448-32B20215D868}" presName="Triangle" presStyleLbl="alignNode1" presStyleIdx="1" presStyleCnt="7"/>
      <dgm:spPr/>
    </dgm:pt>
    <dgm:pt modelId="{65CCD5B0-6FA3-4512-870D-0688E6DC15BB}" type="pres">
      <dgm:prSet presAssocID="{2FD94EF4-6AF8-4026-9D1C-BB8474CF7C4C}" presName="sibTrans" presStyleCnt="0"/>
      <dgm:spPr/>
    </dgm:pt>
    <dgm:pt modelId="{06A88AE1-611E-4204-A7B3-0D769D20F3DC}" type="pres">
      <dgm:prSet presAssocID="{2FD94EF4-6AF8-4026-9D1C-BB8474CF7C4C}" presName="space" presStyleCnt="0"/>
      <dgm:spPr/>
    </dgm:pt>
    <dgm:pt modelId="{BC9F4771-E159-4033-81EB-9DFA4894F0DB}" type="pres">
      <dgm:prSet presAssocID="{9755B054-2A0A-4243-A5C5-182AC48ED55B}" presName="composite" presStyleCnt="0"/>
      <dgm:spPr/>
    </dgm:pt>
    <dgm:pt modelId="{31A2965E-BA52-4DAE-B25D-0B8DF9759693}" type="pres">
      <dgm:prSet presAssocID="{9755B054-2A0A-4243-A5C5-182AC48ED55B}" presName="LShape" presStyleLbl="alignNode1" presStyleIdx="2" presStyleCnt="7"/>
      <dgm:spPr/>
    </dgm:pt>
    <dgm:pt modelId="{7D89103A-A049-459F-BE27-3F7CDAB3116F}" type="pres">
      <dgm:prSet presAssocID="{9755B054-2A0A-4243-A5C5-182AC48ED55B}" presName="ParentText" presStyleLbl="revTx" presStyleIdx="1" presStyleCnt="4">
        <dgm:presLayoutVars>
          <dgm:chMax val="0"/>
          <dgm:chPref val="0"/>
          <dgm:bulletEnabled val="1"/>
        </dgm:presLayoutVars>
      </dgm:prSet>
      <dgm:spPr/>
    </dgm:pt>
    <dgm:pt modelId="{3C5452DC-DF54-41F6-A2E7-B2C3D5FFDF04}" type="pres">
      <dgm:prSet presAssocID="{9755B054-2A0A-4243-A5C5-182AC48ED55B}" presName="Triangle" presStyleLbl="alignNode1" presStyleIdx="3" presStyleCnt="7"/>
      <dgm:spPr/>
    </dgm:pt>
    <dgm:pt modelId="{C5E6AA56-FF3F-4B0C-BB85-D5CE068DE08E}" type="pres">
      <dgm:prSet presAssocID="{16C0DDF2-CBDB-4619-ADAC-B681C71B6F89}" presName="sibTrans" presStyleCnt="0"/>
      <dgm:spPr/>
    </dgm:pt>
    <dgm:pt modelId="{9332C6F2-99EA-46F3-8A63-326A0AAEC36C}" type="pres">
      <dgm:prSet presAssocID="{16C0DDF2-CBDB-4619-ADAC-B681C71B6F89}" presName="space" presStyleCnt="0"/>
      <dgm:spPr/>
    </dgm:pt>
    <dgm:pt modelId="{71194B23-C715-4BA4-A045-7005C525AF3E}" type="pres">
      <dgm:prSet presAssocID="{ECDF3F5F-D616-4773-AD86-206CBB2C9A45}" presName="composite" presStyleCnt="0"/>
      <dgm:spPr/>
    </dgm:pt>
    <dgm:pt modelId="{72EB81E9-684C-485A-8117-9D259B875780}" type="pres">
      <dgm:prSet presAssocID="{ECDF3F5F-D616-4773-AD86-206CBB2C9A45}" presName="LShape" presStyleLbl="alignNode1" presStyleIdx="4" presStyleCnt="7"/>
      <dgm:spPr/>
    </dgm:pt>
    <dgm:pt modelId="{D789AC9C-80C2-4DAF-A9CF-4E79F9DAA1AC}" type="pres">
      <dgm:prSet presAssocID="{ECDF3F5F-D616-4773-AD86-206CBB2C9A45}" presName="ParentText" presStyleLbl="revTx" presStyleIdx="2" presStyleCnt="4">
        <dgm:presLayoutVars>
          <dgm:chMax val="0"/>
          <dgm:chPref val="0"/>
          <dgm:bulletEnabled val="1"/>
        </dgm:presLayoutVars>
      </dgm:prSet>
      <dgm:spPr/>
    </dgm:pt>
    <dgm:pt modelId="{1D50067A-87B8-435B-B026-B5457AF02675}" type="pres">
      <dgm:prSet presAssocID="{ECDF3F5F-D616-4773-AD86-206CBB2C9A45}" presName="Triangle" presStyleLbl="alignNode1" presStyleIdx="5" presStyleCnt="7"/>
      <dgm:spPr/>
    </dgm:pt>
    <dgm:pt modelId="{BF4F7FD1-FA8A-4C56-A404-B0172E0306C7}" type="pres">
      <dgm:prSet presAssocID="{48E1857D-DABA-49C3-A05A-879561167E94}" presName="sibTrans" presStyleCnt="0"/>
      <dgm:spPr/>
    </dgm:pt>
    <dgm:pt modelId="{32644BF9-5AF3-4D29-BE08-74A83ECBD4A9}" type="pres">
      <dgm:prSet presAssocID="{48E1857D-DABA-49C3-A05A-879561167E94}" presName="space" presStyleCnt="0"/>
      <dgm:spPr/>
    </dgm:pt>
    <dgm:pt modelId="{34B2BED8-9D9E-4B33-A8A7-2CC4A0ED4095}" type="pres">
      <dgm:prSet presAssocID="{D7893660-5BFC-4EEE-852D-A0B87874F466}" presName="composite" presStyleCnt="0"/>
      <dgm:spPr/>
    </dgm:pt>
    <dgm:pt modelId="{45F51B91-CDE2-4150-ABC9-E07326939C02}" type="pres">
      <dgm:prSet presAssocID="{D7893660-5BFC-4EEE-852D-A0B87874F466}" presName="LShape" presStyleLbl="alignNode1" presStyleIdx="6" presStyleCnt="7"/>
      <dgm:spPr/>
    </dgm:pt>
    <dgm:pt modelId="{C1303DAA-A72B-4927-BF7B-07847C41FFDF}" type="pres">
      <dgm:prSet presAssocID="{D7893660-5BFC-4EEE-852D-A0B87874F466}" presName="ParentText" presStyleLbl="revTx" presStyleIdx="3" presStyleCnt="4">
        <dgm:presLayoutVars>
          <dgm:chMax val="0"/>
          <dgm:chPref val="0"/>
          <dgm:bulletEnabled val="1"/>
        </dgm:presLayoutVars>
      </dgm:prSet>
      <dgm:spPr/>
    </dgm:pt>
  </dgm:ptLst>
  <dgm:cxnLst>
    <dgm:cxn modelId="{562DE018-A951-4CE6-882D-10E86DD91AED}" srcId="{9596FC0A-FD31-4A13-A101-B34906B5FCA3}" destId="{D7893660-5BFC-4EEE-852D-A0B87874F466}" srcOrd="3" destOrd="0" parTransId="{6EEC88D9-076A-419A-9A6B-120C27DF31EB}" sibTransId="{DDFB99C5-58BB-421F-9CEC-742A00ABA300}"/>
    <dgm:cxn modelId="{E2BD9F22-0B50-46E3-BAED-8E33F3EF52A7}" type="presOf" srcId="{D7893660-5BFC-4EEE-852D-A0B87874F466}" destId="{C1303DAA-A72B-4927-BF7B-07847C41FFDF}" srcOrd="0" destOrd="0" presId="urn:microsoft.com/office/officeart/2009/3/layout/StepUpProcess"/>
    <dgm:cxn modelId="{1BAAE84C-B4C5-4E73-B9B1-02C29868C3E6}" type="presOf" srcId="{ECDF3F5F-D616-4773-AD86-206CBB2C9A45}" destId="{D789AC9C-80C2-4DAF-A9CF-4E79F9DAA1AC}" srcOrd="0" destOrd="0" presId="urn:microsoft.com/office/officeart/2009/3/layout/StepUpProcess"/>
    <dgm:cxn modelId="{EE26EA72-087D-4F8D-9070-C1852D70C64A}" srcId="{9596FC0A-FD31-4A13-A101-B34906B5FCA3}" destId="{9755B054-2A0A-4243-A5C5-182AC48ED55B}" srcOrd="1" destOrd="0" parTransId="{8A628A53-949A-440A-AA57-8A743CA87032}" sibTransId="{16C0DDF2-CBDB-4619-ADAC-B681C71B6F89}"/>
    <dgm:cxn modelId="{70223BA7-3977-4363-B8B1-9018CF9464B6}" type="presOf" srcId="{9755B054-2A0A-4243-A5C5-182AC48ED55B}" destId="{7D89103A-A049-459F-BE27-3F7CDAB3116F}" srcOrd="0" destOrd="0" presId="urn:microsoft.com/office/officeart/2009/3/layout/StepUpProcess"/>
    <dgm:cxn modelId="{7AA0C1BB-5351-49F2-A43B-1BDC920190A8}" type="presOf" srcId="{9596FC0A-FD31-4A13-A101-B34906B5FCA3}" destId="{E1C5162A-7220-4DEC-A00E-88E41A0FBFB7}" srcOrd="0" destOrd="0" presId="urn:microsoft.com/office/officeart/2009/3/layout/StepUpProcess"/>
    <dgm:cxn modelId="{2EE4C9C5-18F6-4208-BFC2-DDFBC96794DA}" srcId="{9596FC0A-FD31-4A13-A101-B34906B5FCA3}" destId="{7E095769-9D9B-40C6-A448-32B20215D868}" srcOrd="0" destOrd="0" parTransId="{F4600BDA-8F82-442F-A2E5-6E673A39A7ED}" sibTransId="{2FD94EF4-6AF8-4026-9D1C-BB8474CF7C4C}"/>
    <dgm:cxn modelId="{98F83CF4-04E0-4019-ADAD-02149DA9E92B}" srcId="{9596FC0A-FD31-4A13-A101-B34906B5FCA3}" destId="{ECDF3F5F-D616-4773-AD86-206CBB2C9A45}" srcOrd="2" destOrd="0" parTransId="{2B13BBD9-23B6-4A64-8160-2979AC683130}" sibTransId="{48E1857D-DABA-49C3-A05A-879561167E94}"/>
    <dgm:cxn modelId="{19CA1EFA-6E30-48AB-9169-FBD3733306D8}" type="presOf" srcId="{7E095769-9D9B-40C6-A448-32B20215D868}" destId="{70D0D292-7A19-4BB9-92FE-398428920B5A}" srcOrd="0" destOrd="0" presId="urn:microsoft.com/office/officeart/2009/3/layout/StepUpProcess"/>
    <dgm:cxn modelId="{4A92DC72-1C29-4066-9066-2B3F109B73A6}" type="presParOf" srcId="{E1C5162A-7220-4DEC-A00E-88E41A0FBFB7}" destId="{87829CA9-EEC9-440A-95A0-711332578C97}" srcOrd="0" destOrd="0" presId="urn:microsoft.com/office/officeart/2009/3/layout/StepUpProcess"/>
    <dgm:cxn modelId="{65A324FE-3A72-46CB-AB0F-48288DB4D980}" type="presParOf" srcId="{87829CA9-EEC9-440A-95A0-711332578C97}" destId="{9270B02A-591F-4475-8B46-CA257B56BD42}" srcOrd="0" destOrd="0" presId="urn:microsoft.com/office/officeart/2009/3/layout/StepUpProcess"/>
    <dgm:cxn modelId="{B7641341-7687-4E96-9A67-BCCA1DC079CE}" type="presParOf" srcId="{87829CA9-EEC9-440A-95A0-711332578C97}" destId="{70D0D292-7A19-4BB9-92FE-398428920B5A}" srcOrd="1" destOrd="0" presId="urn:microsoft.com/office/officeart/2009/3/layout/StepUpProcess"/>
    <dgm:cxn modelId="{2D982769-D530-451D-B0B9-79FC2E1086BE}" type="presParOf" srcId="{87829CA9-EEC9-440A-95A0-711332578C97}" destId="{6E1B76BE-C8A3-4EFE-B029-79471988039A}" srcOrd="2" destOrd="0" presId="urn:microsoft.com/office/officeart/2009/3/layout/StepUpProcess"/>
    <dgm:cxn modelId="{825DD771-FA76-47CF-9FA0-8C0710127C54}" type="presParOf" srcId="{E1C5162A-7220-4DEC-A00E-88E41A0FBFB7}" destId="{65CCD5B0-6FA3-4512-870D-0688E6DC15BB}" srcOrd="1" destOrd="0" presId="urn:microsoft.com/office/officeart/2009/3/layout/StepUpProcess"/>
    <dgm:cxn modelId="{1AC141DA-AB94-490B-9CB1-6A40AE07004F}" type="presParOf" srcId="{65CCD5B0-6FA3-4512-870D-0688E6DC15BB}" destId="{06A88AE1-611E-4204-A7B3-0D769D20F3DC}" srcOrd="0" destOrd="0" presId="urn:microsoft.com/office/officeart/2009/3/layout/StepUpProcess"/>
    <dgm:cxn modelId="{1F9697A3-B262-48A5-AA76-D0E663A655A2}" type="presParOf" srcId="{E1C5162A-7220-4DEC-A00E-88E41A0FBFB7}" destId="{BC9F4771-E159-4033-81EB-9DFA4894F0DB}" srcOrd="2" destOrd="0" presId="urn:microsoft.com/office/officeart/2009/3/layout/StepUpProcess"/>
    <dgm:cxn modelId="{0C5C56B4-294A-47A8-A8AA-92229D56634C}" type="presParOf" srcId="{BC9F4771-E159-4033-81EB-9DFA4894F0DB}" destId="{31A2965E-BA52-4DAE-B25D-0B8DF9759693}" srcOrd="0" destOrd="0" presId="urn:microsoft.com/office/officeart/2009/3/layout/StepUpProcess"/>
    <dgm:cxn modelId="{CA54501C-B50A-4574-9EC3-1902549C6CD8}" type="presParOf" srcId="{BC9F4771-E159-4033-81EB-9DFA4894F0DB}" destId="{7D89103A-A049-459F-BE27-3F7CDAB3116F}" srcOrd="1" destOrd="0" presId="urn:microsoft.com/office/officeart/2009/3/layout/StepUpProcess"/>
    <dgm:cxn modelId="{56A920E3-8786-475D-A46D-A6C98B5F37C5}" type="presParOf" srcId="{BC9F4771-E159-4033-81EB-9DFA4894F0DB}" destId="{3C5452DC-DF54-41F6-A2E7-B2C3D5FFDF04}" srcOrd="2" destOrd="0" presId="urn:microsoft.com/office/officeart/2009/3/layout/StepUpProcess"/>
    <dgm:cxn modelId="{2DBDB027-666C-4653-BE66-6F50B636101A}" type="presParOf" srcId="{E1C5162A-7220-4DEC-A00E-88E41A0FBFB7}" destId="{C5E6AA56-FF3F-4B0C-BB85-D5CE068DE08E}" srcOrd="3" destOrd="0" presId="urn:microsoft.com/office/officeart/2009/3/layout/StepUpProcess"/>
    <dgm:cxn modelId="{72B37DF4-520E-42C4-A095-064BF56AC332}" type="presParOf" srcId="{C5E6AA56-FF3F-4B0C-BB85-D5CE068DE08E}" destId="{9332C6F2-99EA-46F3-8A63-326A0AAEC36C}" srcOrd="0" destOrd="0" presId="urn:microsoft.com/office/officeart/2009/3/layout/StepUpProcess"/>
    <dgm:cxn modelId="{1A6E2490-2732-496A-A74B-89557380CDBF}" type="presParOf" srcId="{E1C5162A-7220-4DEC-A00E-88E41A0FBFB7}" destId="{71194B23-C715-4BA4-A045-7005C525AF3E}" srcOrd="4" destOrd="0" presId="urn:microsoft.com/office/officeart/2009/3/layout/StepUpProcess"/>
    <dgm:cxn modelId="{2F085E8E-74C5-4BB7-9E6F-82681753A748}" type="presParOf" srcId="{71194B23-C715-4BA4-A045-7005C525AF3E}" destId="{72EB81E9-684C-485A-8117-9D259B875780}" srcOrd="0" destOrd="0" presId="urn:microsoft.com/office/officeart/2009/3/layout/StepUpProcess"/>
    <dgm:cxn modelId="{18667A45-0FE2-4073-AA4C-64849B4AE10D}" type="presParOf" srcId="{71194B23-C715-4BA4-A045-7005C525AF3E}" destId="{D789AC9C-80C2-4DAF-A9CF-4E79F9DAA1AC}" srcOrd="1" destOrd="0" presId="urn:microsoft.com/office/officeart/2009/3/layout/StepUpProcess"/>
    <dgm:cxn modelId="{B7F6B86D-D0D3-4DDE-9E7E-4D3A957DA948}" type="presParOf" srcId="{71194B23-C715-4BA4-A045-7005C525AF3E}" destId="{1D50067A-87B8-435B-B026-B5457AF02675}" srcOrd="2" destOrd="0" presId="urn:microsoft.com/office/officeart/2009/3/layout/StepUpProcess"/>
    <dgm:cxn modelId="{7F80C062-50FD-4282-A883-2E8CDE2FE1DB}" type="presParOf" srcId="{E1C5162A-7220-4DEC-A00E-88E41A0FBFB7}" destId="{BF4F7FD1-FA8A-4C56-A404-B0172E0306C7}" srcOrd="5" destOrd="0" presId="urn:microsoft.com/office/officeart/2009/3/layout/StepUpProcess"/>
    <dgm:cxn modelId="{1A6459C7-7EF6-4D30-92EC-F6F7A1D99C4B}" type="presParOf" srcId="{BF4F7FD1-FA8A-4C56-A404-B0172E0306C7}" destId="{32644BF9-5AF3-4D29-BE08-74A83ECBD4A9}" srcOrd="0" destOrd="0" presId="urn:microsoft.com/office/officeart/2009/3/layout/StepUpProcess"/>
    <dgm:cxn modelId="{39B6C53D-D583-4441-8258-2FE45FC1C7A2}" type="presParOf" srcId="{E1C5162A-7220-4DEC-A00E-88E41A0FBFB7}" destId="{34B2BED8-9D9E-4B33-A8A7-2CC4A0ED4095}" srcOrd="6" destOrd="0" presId="urn:microsoft.com/office/officeart/2009/3/layout/StepUpProcess"/>
    <dgm:cxn modelId="{42C918C6-35C2-4E58-BAE9-F0BB1C10867D}" type="presParOf" srcId="{34B2BED8-9D9E-4B33-A8A7-2CC4A0ED4095}" destId="{45F51B91-CDE2-4150-ABC9-E07326939C02}" srcOrd="0" destOrd="0" presId="urn:microsoft.com/office/officeart/2009/3/layout/StepUpProcess"/>
    <dgm:cxn modelId="{C351E5D4-D9D6-431A-83F1-287E1D3F23EB}" type="presParOf" srcId="{34B2BED8-9D9E-4B33-A8A7-2CC4A0ED4095}" destId="{C1303DAA-A72B-4927-BF7B-07847C41FFDF}" srcOrd="1" destOrd="0" presId="urn:microsoft.com/office/officeart/2009/3/layout/StepUpProcess"/>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596FC0A-FD31-4A13-A101-B34906B5FCA3}" type="doc">
      <dgm:prSet loTypeId="urn:microsoft.com/office/officeart/2009/3/layout/StepUpProcess" loCatId="process" qsTypeId="urn:microsoft.com/office/officeart/2005/8/quickstyle/simple1" qsCatId="simple" csTypeId="urn:microsoft.com/office/officeart/2005/8/colors/accent2_2" csCatId="accent2" phldr="1"/>
      <dgm:spPr/>
      <dgm:t>
        <a:bodyPr/>
        <a:lstStyle/>
        <a:p>
          <a:endParaRPr lang="en-US"/>
        </a:p>
      </dgm:t>
    </dgm:pt>
    <dgm:pt modelId="{7E095769-9D9B-40C6-A448-32B20215D868}">
      <dgm:prSet phldrT="[Text]" phldr="0"/>
      <dgm:spPr/>
      <dgm:t>
        <a:bodyPr/>
        <a:lstStyle/>
        <a:p>
          <a:r>
            <a:rPr lang="en-US" dirty="0"/>
            <a:t>Formulas</a:t>
          </a:r>
        </a:p>
      </dgm:t>
    </dgm:pt>
    <dgm:pt modelId="{F4600BDA-8F82-442F-A2E5-6E673A39A7ED}" type="parTrans" cxnId="{2EE4C9C5-18F6-4208-BFC2-DDFBC96794DA}">
      <dgm:prSet/>
      <dgm:spPr/>
      <dgm:t>
        <a:bodyPr/>
        <a:lstStyle/>
        <a:p>
          <a:endParaRPr lang="en-US"/>
        </a:p>
      </dgm:t>
    </dgm:pt>
    <dgm:pt modelId="{2FD94EF4-6AF8-4026-9D1C-BB8474CF7C4C}" type="sibTrans" cxnId="{2EE4C9C5-18F6-4208-BFC2-DDFBC96794DA}">
      <dgm:prSet/>
      <dgm:spPr/>
      <dgm:t>
        <a:bodyPr/>
        <a:lstStyle/>
        <a:p>
          <a:endParaRPr lang="en-US"/>
        </a:p>
      </dgm:t>
    </dgm:pt>
    <dgm:pt modelId="{9755B054-2A0A-4243-A5C5-182AC48ED55B}">
      <dgm:prSet phldrT="[Text]" phldr="0"/>
      <dgm:spPr/>
      <dgm:t>
        <a:bodyPr/>
        <a:lstStyle/>
        <a:p>
          <a:r>
            <a:rPr lang="en-US" dirty="0"/>
            <a:t>PivotTables</a:t>
          </a:r>
        </a:p>
      </dgm:t>
    </dgm:pt>
    <dgm:pt modelId="{8A628A53-949A-440A-AA57-8A743CA87032}" type="parTrans" cxnId="{EE26EA72-087D-4F8D-9070-C1852D70C64A}">
      <dgm:prSet/>
      <dgm:spPr/>
      <dgm:t>
        <a:bodyPr/>
        <a:lstStyle/>
        <a:p>
          <a:endParaRPr lang="en-US"/>
        </a:p>
      </dgm:t>
    </dgm:pt>
    <dgm:pt modelId="{16C0DDF2-CBDB-4619-ADAC-B681C71B6F89}" type="sibTrans" cxnId="{EE26EA72-087D-4F8D-9070-C1852D70C64A}">
      <dgm:prSet/>
      <dgm:spPr/>
      <dgm:t>
        <a:bodyPr/>
        <a:lstStyle/>
        <a:p>
          <a:endParaRPr lang="en-US"/>
        </a:p>
      </dgm:t>
    </dgm:pt>
    <dgm:pt modelId="{ECDF3F5F-D616-4773-AD86-206CBB2C9A45}">
      <dgm:prSet phldrT="[Text]" phldr="0"/>
      <dgm:spPr/>
      <dgm:t>
        <a:bodyPr/>
        <a:lstStyle/>
        <a:p>
          <a:r>
            <a:rPr lang="en-US" dirty="0"/>
            <a:t>Power Query</a:t>
          </a:r>
        </a:p>
      </dgm:t>
    </dgm:pt>
    <dgm:pt modelId="{2B13BBD9-23B6-4A64-8160-2979AC683130}" type="parTrans" cxnId="{98F83CF4-04E0-4019-ADAD-02149DA9E92B}">
      <dgm:prSet/>
      <dgm:spPr/>
      <dgm:t>
        <a:bodyPr/>
        <a:lstStyle/>
        <a:p>
          <a:endParaRPr lang="en-US"/>
        </a:p>
      </dgm:t>
    </dgm:pt>
    <dgm:pt modelId="{48E1857D-DABA-49C3-A05A-879561167E94}" type="sibTrans" cxnId="{98F83CF4-04E0-4019-ADAD-02149DA9E92B}">
      <dgm:prSet/>
      <dgm:spPr/>
      <dgm:t>
        <a:bodyPr/>
        <a:lstStyle/>
        <a:p>
          <a:endParaRPr lang="en-US"/>
        </a:p>
      </dgm:t>
    </dgm:pt>
    <dgm:pt modelId="{DD10328E-A6DD-41E3-B554-4474C789EE3B}">
      <dgm:prSet phldrT="[Text]" phldr="0"/>
      <dgm:spPr/>
      <dgm:t>
        <a:bodyPr/>
        <a:lstStyle/>
        <a:p>
          <a:r>
            <a:rPr lang="en-US"/>
            <a:t>Copilot</a:t>
          </a:r>
          <a:endParaRPr lang="en-US" dirty="0"/>
        </a:p>
      </dgm:t>
    </dgm:pt>
    <dgm:pt modelId="{4797E7E1-7520-4563-8E79-62450B631D4B}" type="parTrans" cxnId="{15541B4A-6034-416F-A9C3-A32F77ED3760}">
      <dgm:prSet/>
      <dgm:spPr/>
    </dgm:pt>
    <dgm:pt modelId="{89CB7E39-70B1-4EAE-ADEF-C2D7ECAB52C3}" type="sibTrans" cxnId="{15541B4A-6034-416F-A9C3-A32F77ED3760}">
      <dgm:prSet/>
      <dgm:spPr/>
    </dgm:pt>
    <dgm:pt modelId="{E1C5162A-7220-4DEC-A00E-88E41A0FBFB7}" type="pres">
      <dgm:prSet presAssocID="{9596FC0A-FD31-4A13-A101-B34906B5FCA3}" presName="rootnode" presStyleCnt="0">
        <dgm:presLayoutVars>
          <dgm:chMax/>
          <dgm:chPref/>
          <dgm:dir/>
          <dgm:animLvl val="lvl"/>
        </dgm:presLayoutVars>
      </dgm:prSet>
      <dgm:spPr/>
    </dgm:pt>
    <dgm:pt modelId="{87829CA9-EEC9-440A-95A0-711332578C97}" type="pres">
      <dgm:prSet presAssocID="{7E095769-9D9B-40C6-A448-32B20215D868}" presName="composite" presStyleCnt="0"/>
      <dgm:spPr/>
    </dgm:pt>
    <dgm:pt modelId="{9270B02A-591F-4475-8B46-CA257B56BD42}" type="pres">
      <dgm:prSet presAssocID="{7E095769-9D9B-40C6-A448-32B20215D868}" presName="LShape" presStyleLbl="alignNode1" presStyleIdx="0" presStyleCnt="7"/>
      <dgm:spPr/>
    </dgm:pt>
    <dgm:pt modelId="{70D0D292-7A19-4BB9-92FE-398428920B5A}" type="pres">
      <dgm:prSet presAssocID="{7E095769-9D9B-40C6-A448-32B20215D868}" presName="ParentText" presStyleLbl="revTx" presStyleIdx="0" presStyleCnt="4">
        <dgm:presLayoutVars>
          <dgm:chMax val="0"/>
          <dgm:chPref val="0"/>
          <dgm:bulletEnabled val="1"/>
        </dgm:presLayoutVars>
      </dgm:prSet>
      <dgm:spPr/>
    </dgm:pt>
    <dgm:pt modelId="{6E1B76BE-C8A3-4EFE-B029-79471988039A}" type="pres">
      <dgm:prSet presAssocID="{7E095769-9D9B-40C6-A448-32B20215D868}" presName="Triangle" presStyleLbl="alignNode1" presStyleIdx="1" presStyleCnt="7"/>
      <dgm:spPr/>
    </dgm:pt>
    <dgm:pt modelId="{65CCD5B0-6FA3-4512-870D-0688E6DC15BB}" type="pres">
      <dgm:prSet presAssocID="{2FD94EF4-6AF8-4026-9D1C-BB8474CF7C4C}" presName="sibTrans" presStyleCnt="0"/>
      <dgm:spPr/>
    </dgm:pt>
    <dgm:pt modelId="{06A88AE1-611E-4204-A7B3-0D769D20F3DC}" type="pres">
      <dgm:prSet presAssocID="{2FD94EF4-6AF8-4026-9D1C-BB8474CF7C4C}" presName="space" presStyleCnt="0"/>
      <dgm:spPr/>
    </dgm:pt>
    <dgm:pt modelId="{BC9F4771-E159-4033-81EB-9DFA4894F0DB}" type="pres">
      <dgm:prSet presAssocID="{9755B054-2A0A-4243-A5C5-182AC48ED55B}" presName="composite" presStyleCnt="0"/>
      <dgm:spPr/>
    </dgm:pt>
    <dgm:pt modelId="{31A2965E-BA52-4DAE-B25D-0B8DF9759693}" type="pres">
      <dgm:prSet presAssocID="{9755B054-2A0A-4243-A5C5-182AC48ED55B}" presName="LShape" presStyleLbl="alignNode1" presStyleIdx="2" presStyleCnt="7"/>
      <dgm:spPr/>
    </dgm:pt>
    <dgm:pt modelId="{7D89103A-A049-459F-BE27-3F7CDAB3116F}" type="pres">
      <dgm:prSet presAssocID="{9755B054-2A0A-4243-A5C5-182AC48ED55B}" presName="ParentText" presStyleLbl="revTx" presStyleIdx="1" presStyleCnt="4">
        <dgm:presLayoutVars>
          <dgm:chMax val="0"/>
          <dgm:chPref val="0"/>
          <dgm:bulletEnabled val="1"/>
        </dgm:presLayoutVars>
      </dgm:prSet>
      <dgm:spPr/>
    </dgm:pt>
    <dgm:pt modelId="{3C5452DC-DF54-41F6-A2E7-B2C3D5FFDF04}" type="pres">
      <dgm:prSet presAssocID="{9755B054-2A0A-4243-A5C5-182AC48ED55B}" presName="Triangle" presStyleLbl="alignNode1" presStyleIdx="3" presStyleCnt="7"/>
      <dgm:spPr/>
    </dgm:pt>
    <dgm:pt modelId="{C5E6AA56-FF3F-4B0C-BB85-D5CE068DE08E}" type="pres">
      <dgm:prSet presAssocID="{16C0DDF2-CBDB-4619-ADAC-B681C71B6F89}" presName="sibTrans" presStyleCnt="0"/>
      <dgm:spPr/>
    </dgm:pt>
    <dgm:pt modelId="{9332C6F2-99EA-46F3-8A63-326A0AAEC36C}" type="pres">
      <dgm:prSet presAssocID="{16C0DDF2-CBDB-4619-ADAC-B681C71B6F89}" presName="space" presStyleCnt="0"/>
      <dgm:spPr/>
    </dgm:pt>
    <dgm:pt modelId="{71194B23-C715-4BA4-A045-7005C525AF3E}" type="pres">
      <dgm:prSet presAssocID="{ECDF3F5F-D616-4773-AD86-206CBB2C9A45}" presName="composite" presStyleCnt="0"/>
      <dgm:spPr/>
    </dgm:pt>
    <dgm:pt modelId="{72EB81E9-684C-485A-8117-9D259B875780}" type="pres">
      <dgm:prSet presAssocID="{ECDF3F5F-D616-4773-AD86-206CBB2C9A45}" presName="LShape" presStyleLbl="alignNode1" presStyleIdx="4" presStyleCnt="7"/>
      <dgm:spPr/>
    </dgm:pt>
    <dgm:pt modelId="{D789AC9C-80C2-4DAF-A9CF-4E79F9DAA1AC}" type="pres">
      <dgm:prSet presAssocID="{ECDF3F5F-D616-4773-AD86-206CBB2C9A45}" presName="ParentText" presStyleLbl="revTx" presStyleIdx="2" presStyleCnt="4">
        <dgm:presLayoutVars>
          <dgm:chMax val="0"/>
          <dgm:chPref val="0"/>
          <dgm:bulletEnabled val="1"/>
        </dgm:presLayoutVars>
      </dgm:prSet>
      <dgm:spPr/>
    </dgm:pt>
    <dgm:pt modelId="{14EFF778-3053-49EA-B8FF-91963C53C838}" type="pres">
      <dgm:prSet presAssocID="{ECDF3F5F-D616-4773-AD86-206CBB2C9A45}" presName="Triangle" presStyleLbl="alignNode1" presStyleIdx="5" presStyleCnt="7"/>
      <dgm:spPr/>
    </dgm:pt>
    <dgm:pt modelId="{48896D18-1FB6-4DEF-9EEA-AF6FB11D0F17}" type="pres">
      <dgm:prSet presAssocID="{48E1857D-DABA-49C3-A05A-879561167E94}" presName="sibTrans" presStyleCnt="0"/>
      <dgm:spPr/>
    </dgm:pt>
    <dgm:pt modelId="{449B5E31-9683-440C-8D54-C8DD516DD73A}" type="pres">
      <dgm:prSet presAssocID="{48E1857D-DABA-49C3-A05A-879561167E94}" presName="space" presStyleCnt="0"/>
      <dgm:spPr/>
    </dgm:pt>
    <dgm:pt modelId="{E96AF6BE-0A31-4A43-994F-7ACA89F404A5}" type="pres">
      <dgm:prSet presAssocID="{DD10328E-A6DD-41E3-B554-4474C789EE3B}" presName="composite" presStyleCnt="0"/>
      <dgm:spPr/>
    </dgm:pt>
    <dgm:pt modelId="{69FB57F2-30E0-447B-9CA3-6081CC2A6EF0}" type="pres">
      <dgm:prSet presAssocID="{DD10328E-A6DD-41E3-B554-4474C789EE3B}" presName="LShape" presStyleLbl="alignNode1" presStyleIdx="6" presStyleCnt="7"/>
      <dgm:spPr/>
    </dgm:pt>
    <dgm:pt modelId="{8831F2BD-16CB-4DFD-906B-F2ABDB3649AD}" type="pres">
      <dgm:prSet presAssocID="{DD10328E-A6DD-41E3-B554-4474C789EE3B}" presName="ParentText" presStyleLbl="revTx" presStyleIdx="3" presStyleCnt="4">
        <dgm:presLayoutVars>
          <dgm:chMax val="0"/>
          <dgm:chPref val="0"/>
          <dgm:bulletEnabled val="1"/>
        </dgm:presLayoutVars>
      </dgm:prSet>
      <dgm:spPr/>
    </dgm:pt>
  </dgm:ptLst>
  <dgm:cxnLst>
    <dgm:cxn modelId="{15541B4A-6034-416F-A9C3-A32F77ED3760}" srcId="{9596FC0A-FD31-4A13-A101-B34906B5FCA3}" destId="{DD10328E-A6DD-41E3-B554-4474C789EE3B}" srcOrd="3" destOrd="0" parTransId="{4797E7E1-7520-4563-8E79-62450B631D4B}" sibTransId="{89CB7E39-70B1-4EAE-ADEF-C2D7ECAB52C3}"/>
    <dgm:cxn modelId="{1BAAE84C-B4C5-4E73-B9B1-02C29868C3E6}" type="presOf" srcId="{ECDF3F5F-D616-4773-AD86-206CBB2C9A45}" destId="{D789AC9C-80C2-4DAF-A9CF-4E79F9DAA1AC}" srcOrd="0" destOrd="0" presId="urn:microsoft.com/office/officeart/2009/3/layout/StepUpProcess"/>
    <dgm:cxn modelId="{EE26EA72-087D-4F8D-9070-C1852D70C64A}" srcId="{9596FC0A-FD31-4A13-A101-B34906B5FCA3}" destId="{9755B054-2A0A-4243-A5C5-182AC48ED55B}" srcOrd="1" destOrd="0" parTransId="{8A628A53-949A-440A-AA57-8A743CA87032}" sibTransId="{16C0DDF2-CBDB-4619-ADAC-B681C71B6F89}"/>
    <dgm:cxn modelId="{70223BA7-3977-4363-B8B1-9018CF9464B6}" type="presOf" srcId="{9755B054-2A0A-4243-A5C5-182AC48ED55B}" destId="{7D89103A-A049-459F-BE27-3F7CDAB3116F}" srcOrd="0" destOrd="0" presId="urn:microsoft.com/office/officeart/2009/3/layout/StepUpProcess"/>
    <dgm:cxn modelId="{9B6313B1-6985-4CAA-8504-23046B34F1B1}" type="presOf" srcId="{DD10328E-A6DD-41E3-B554-4474C789EE3B}" destId="{8831F2BD-16CB-4DFD-906B-F2ABDB3649AD}" srcOrd="0" destOrd="0" presId="urn:microsoft.com/office/officeart/2009/3/layout/StepUpProcess"/>
    <dgm:cxn modelId="{7AA0C1BB-5351-49F2-A43B-1BDC920190A8}" type="presOf" srcId="{9596FC0A-FD31-4A13-A101-B34906B5FCA3}" destId="{E1C5162A-7220-4DEC-A00E-88E41A0FBFB7}" srcOrd="0" destOrd="0" presId="urn:microsoft.com/office/officeart/2009/3/layout/StepUpProcess"/>
    <dgm:cxn modelId="{2EE4C9C5-18F6-4208-BFC2-DDFBC96794DA}" srcId="{9596FC0A-FD31-4A13-A101-B34906B5FCA3}" destId="{7E095769-9D9B-40C6-A448-32B20215D868}" srcOrd="0" destOrd="0" parTransId="{F4600BDA-8F82-442F-A2E5-6E673A39A7ED}" sibTransId="{2FD94EF4-6AF8-4026-9D1C-BB8474CF7C4C}"/>
    <dgm:cxn modelId="{98F83CF4-04E0-4019-ADAD-02149DA9E92B}" srcId="{9596FC0A-FD31-4A13-A101-B34906B5FCA3}" destId="{ECDF3F5F-D616-4773-AD86-206CBB2C9A45}" srcOrd="2" destOrd="0" parTransId="{2B13BBD9-23B6-4A64-8160-2979AC683130}" sibTransId="{48E1857D-DABA-49C3-A05A-879561167E94}"/>
    <dgm:cxn modelId="{19CA1EFA-6E30-48AB-9169-FBD3733306D8}" type="presOf" srcId="{7E095769-9D9B-40C6-A448-32B20215D868}" destId="{70D0D292-7A19-4BB9-92FE-398428920B5A}" srcOrd="0" destOrd="0" presId="urn:microsoft.com/office/officeart/2009/3/layout/StepUpProcess"/>
    <dgm:cxn modelId="{4A92DC72-1C29-4066-9066-2B3F109B73A6}" type="presParOf" srcId="{E1C5162A-7220-4DEC-A00E-88E41A0FBFB7}" destId="{87829CA9-EEC9-440A-95A0-711332578C97}" srcOrd="0" destOrd="0" presId="urn:microsoft.com/office/officeart/2009/3/layout/StepUpProcess"/>
    <dgm:cxn modelId="{65A324FE-3A72-46CB-AB0F-48288DB4D980}" type="presParOf" srcId="{87829CA9-EEC9-440A-95A0-711332578C97}" destId="{9270B02A-591F-4475-8B46-CA257B56BD42}" srcOrd="0" destOrd="0" presId="urn:microsoft.com/office/officeart/2009/3/layout/StepUpProcess"/>
    <dgm:cxn modelId="{B7641341-7687-4E96-9A67-BCCA1DC079CE}" type="presParOf" srcId="{87829CA9-EEC9-440A-95A0-711332578C97}" destId="{70D0D292-7A19-4BB9-92FE-398428920B5A}" srcOrd="1" destOrd="0" presId="urn:microsoft.com/office/officeart/2009/3/layout/StepUpProcess"/>
    <dgm:cxn modelId="{2D982769-D530-451D-B0B9-79FC2E1086BE}" type="presParOf" srcId="{87829CA9-EEC9-440A-95A0-711332578C97}" destId="{6E1B76BE-C8A3-4EFE-B029-79471988039A}" srcOrd="2" destOrd="0" presId="urn:microsoft.com/office/officeart/2009/3/layout/StepUpProcess"/>
    <dgm:cxn modelId="{825DD771-FA76-47CF-9FA0-8C0710127C54}" type="presParOf" srcId="{E1C5162A-7220-4DEC-A00E-88E41A0FBFB7}" destId="{65CCD5B0-6FA3-4512-870D-0688E6DC15BB}" srcOrd="1" destOrd="0" presId="urn:microsoft.com/office/officeart/2009/3/layout/StepUpProcess"/>
    <dgm:cxn modelId="{1AC141DA-AB94-490B-9CB1-6A40AE07004F}" type="presParOf" srcId="{65CCD5B0-6FA3-4512-870D-0688E6DC15BB}" destId="{06A88AE1-611E-4204-A7B3-0D769D20F3DC}" srcOrd="0" destOrd="0" presId="urn:microsoft.com/office/officeart/2009/3/layout/StepUpProcess"/>
    <dgm:cxn modelId="{1F9697A3-B262-48A5-AA76-D0E663A655A2}" type="presParOf" srcId="{E1C5162A-7220-4DEC-A00E-88E41A0FBFB7}" destId="{BC9F4771-E159-4033-81EB-9DFA4894F0DB}" srcOrd="2" destOrd="0" presId="urn:microsoft.com/office/officeart/2009/3/layout/StepUpProcess"/>
    <dgm:cxn modelId="{0C5C56B4-294A-47A8-A8AA-92229D56634C}" type="presParOf" srcId="{BC9F4771-E159-4033-81EB-9DFA4894F0DB}" destId="{31A2965E-BA52-4DAE-B25D-0B8DF9759693}" srcOrd="0" destOrd="0" presId="urn:microsoft.com/office/officeart/2009/3/layout/StepUpProcess"/>
    <dgm:cxn modelId="{CA54501C-B50A-4574-9EC3-1902549C6CD8}" type="presParOf" srcId="{BC9F4771-E159-4033-81EB-9DFA4894F0DB}" destId="{7D89103A-A049-459F-BE27-3F7CDAB3116F}" srcOrd="1" destOrd="0" presId="urn:microsoft.com/office/officeart/2009/3/layout/StepUpProcess"/>
    <dgm:cxn modelId="{56A920E3-8786-475D-A46D-A6C98B5F37C5}" type="presParOf" srcId="{BC9F4771-E159-4033-81EB-9DFA4894F0DB}" destId="{3C5452DC-DF54-41F6-A2E7-B2C3D5FFDF04}" srcOrd="2" destOrd="0" presId="urn:microsoft.com/office/officeart/2009/3/layout/StepUpProcess"/>
    <dgm:cxn modelId="{2DBDB027-666C-4653-BE66-6F50B636101A}" type="presParOf" srcId="{E1C5162A-7220-4DEC-A00E-88E41A0FBFB7}" destId="{C5E6AA56-FF3F-4B0C-BB85-D5CE068DE08E}" srcOrd="3" destOrd="0" presId="urn:microsoft.com/office/officeart/2009/3/layout/StepUpProcess"/>
    <dgm:cxn modelId="{72B37DF4-520E-42C4-A095-064BF56AC332}" type="presParOf" srcId="{C5E6AA56-FF3F-4B0C-BB85-D5CE068DE08E}" destId="{9332C6F2-99EA-46F3-8A63-326A0AAEC36C}" srcOrd="0" destOrd="0" presId="urn:microsoft.com/office/officeart/2009/3/layout/StepUpProcess"/>
    <dgm:cxn modelId="{1A6E2490-2732-496A-A74B-89557380CDBF}" type="presParOf" srcId="{E1C5162A-7220-4DEC-A00E-88E41A0FBFB7}" destId="{71194B23-C715-4BA4-A045-7005C525AF3E}" srcOrd="4" destOrd="0" presId="urn:microsoft.com/office/officeart/2009/3/layout/StepUpProcess"/>
    <dgm:cxn modelId="{2F085E8E-74C5-4BB7-9E6F-82681753A748}" type="presParOf" srcId="{71194B23-C715-4BA4-A045-7005C525AF3E}" destId="{72EB81E9-684C-485A-8117-9D259B875780}" srcOrd="0" destOrd="0" presId="urn:microsoft.com/office/officeart/2009/3/layout/StepUpProcess"/>
    <dgm:cxn modelId="{18667A45-0FE2-4073-AA4C-64849B4AE10D}" type="presParOf" srcId="{71194B23-C715-4BA4-A045-7005C525AF3E}" destId="{D789AC9C-80C2-4DAF-A9CF-4E79F9DAA1AC}" srcOrd="1" destOrd="0" presId="urn:microsoft.com/office/officeart/2009/3/layout/StepUpProcess"/>
    <dgm:cxn modelId="{80DF88C6-F94F-4789-A333-94594EB24137}" type="presParOf" srcId="{71194B23-C715-4BA4-A045-7005C525AF3E}" destId="{14EFF778-3053-49EA-B8FF-91963C53C838}" srcOrd="2" destOrd="0" presId="urn:microsoft.com/office/officeart/2009/3/layout/StepUpProcess"/>
    <dgm:cxn modelId="{14096607-09E7-47CD-A76A-B1A244F164FE}" type="presParOf" srcId="{E1C5162A-7220-4DEC-A00E-88E41A0FBFB7}" destId="{48896D18-1FB6-4DEF-9EEA-AF6FB11D0F17}" srcOrd="5" destOrd="0" presId="urn:microsoft.com/office/officeart/2009/3/layout/StepUpProcess"/>
    <dgm:cxn modelId="{F8FB3E92-BB56-406D-A301-35CF44B3756C}" type="presParOf" srcId="{48896D18-1FB6-4DEF-9EEA-AF6FB11D0F17}" destId="{449B5E31-9683-440C-8D54-C8DD516DD73A}" srcOrd="0" destOrd="0" presId="urn:microsoft.com/office/officeart/2009/3/layout/StepUpProcess"/>
    <dgm:cxn modelId="{1A9E898E-ECEF-478A-B9F3-99B08A1E61D1}" type="presParOf" srcId="{E1C5162A-7220-4DEC-A00E-88E41A0FBFB7}" destId="{E96AF6BE-0A31-4A43-994F-7ACA89F404A5}" srcOrd="6" destOrd="0" presId="urn:microsoft.com/office/officeart/2009/3/layout/StepUpProcess"/>
    <dgm:cxn modelId="{FFE93C43-1FDA-436A-9C91-8F53DEB7E6AF}" type="presParOf" srcId="{E96AF6BE-0A31-4A43-994F-7ACA89F404A5}" destId="{69FB57F2-30E0-447B-9CA3-6081CC2A6EF0}" srcOrd="0" destOrd="0" presId="urn:microsoft.com/office/officeart/2009/3/layout/StepUpProcess"/>
    <dgm:cxn modelId="{181F6695-C855-4873-9BD4-3B4B2604253D}" type="presParOf" srcId="{E96AF6BE-0A31-4A43-994F-7ACA89F404A5}" destId="{8831F2BD-16CB-4DFD-906B-F2ABDB3649AD}" srcOrd="1" destOrd="0" presId="urn:microsoft.com/office/officeart/2009/3/layout/StepUpProcess"/>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270B02A-591F-4475-8B46-CA257B56BD42}">
      <dsp:nvSpPr>
        <dsp:cNvPr id="0" name=""/>
        <dsp:cNvSpPr/>
      </dsp:nvSpPr>
      <dsp:spPr>
        <a:xfrm rot="5400000">
          <a:off x="563527" y="3401553"/>
          <a:ext cx="1696954" cy="2823694"/>
        </a:xfrm>
        <a:prstGeom prst="corner">
          <a:avLst>
            <a:gd name="adj1" fmla="val 16120"/>
            <a:gd name="adj2" fmla="val 1611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70D0D292-7A19-4BB9-92FE-398428920B5A}">
      <dsp:nvSpPr>
        <dsp:cNvPr id="0" name=""/>
        <dsp:cNvSpPr/>
      </dsp:nvSpPr>
      <dsp:spPr>
        <a:xfrm>
          <a:off x="280263" y="4245229"/>
          <a:ext cx="2549247" cy="22345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kern="1200" dirty="0"/>
            <a:t>Formulas</a:t>
          </a:r>
        </a:p>
      </dsp:txBody>
      <dsp:txXfrm>
        <a:off x="280263" y="4245229"/>
        <a:ext cx="2549247" cy="2234565"/>
      </dsp:txXfrm>
    </dsp:sp>
    <dsp:sp modelId="{6E1B76BE-C8A3-4EFE-B029-79471988039A}">
      <dsp:nvSpPr>
        <dsp:cNvPr id="0" name=""/>
        <dsp:cNvSpPr/>
      </dsp:nvSpPr>
      <dsp:spPr>
        <a:xfrm>
          <a:off x="2348521" y="3193669"/>
          <a:ext cx="480990" cy="480990"/>
        </a:xfrm>
        <a:prstGeom prst="triangle">
          <a:avLst>
            <a:gd name="adj" fmla="val 10000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31A2965E-BA52-4DAE-B25D-0B8DF9759693}">
      <dsp:nvSpPr>
        <dsp:cNvPr id="0" name=""/>
        <dsp:cNvSpPr/>
      </dsp:nvSpPr>
      <dsp:spPr>
        <a:xfrm rot="5400000">
          <a:off x="3684304" y="2629313"/>
          <a:ext cx="1696954" cy="2823694"/>
        </a:xfrm>
        <a:prstGeom prst="corner">
          <a:avLst>
            <a:gd name="adj1" fmla="val 16120"/>
            <a:gd name="adj2" fmla="val 1611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7D89103A-A049-459F-BE27-3F7CDAB3116F}">
      <dsp:nvSpPr>
        <dsp:cNvPr id="0" name=""/>
        <dsp:cNvSpPr/>
      </dsp:nvSpPr>
      <dsp:spPr>
        <a:xfrm>
          <a:off x="3401040" y="3472990"/>
          <a:ext cx="2549247" cy="22345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kern="1200" dirty="0"/>
            <a:t>PivotTables</a:t>
          </a:r>
        </a:p>
      </dsp:txBody>
      <dsp:txXfrm>
        <a:off x="3401040" y="3472990"/>
        <a:ext cx="2549247" cy="2234565"/>
      </dsp:txXfrm>
    </dsp:sp>
    <dsp:sp modelId="{3C5452DC-DF54-41F6-A2E7-B2C3D5FFDF04}">
      <dsp:nvSpPr>
        <dsp:cNvPr id="0" name=""/>
        <dsp:cNvSpPr/>
      </dsp:nvSpPr>
      <dsp:spPr>
        <a:xfrm>
          <a:off x="5469298" y="2421430"/>
          <a:ext cx="480990" cy="480990"/>
        </a:xfrm>
        <a:prstGeom prst="triangle">
          <a:avLst>
            <a:gd name="adj" fmla="val 10000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72EB81E9-684C-485A-8117-9D259B875780}">
      <dsp:nvSpPr>
        <dsp:cNvPr id="0" name=""/>
        <dsp:cNvSpPr/>
      </dsp:nvSpPr>
      <dsp:spPr>
        <a:xfrm rot="5400000">
          <a:off x="6805081" y="1857074"/>
          <a:ext cx="1696954" cy="2823694"/>
        </a:xfrm>
        <a:prstGeom prst="corner">
          <a:avLst>
            <a:gd name="adj1" fmla="val 16120"/>
            <a:gd name="adj2" fmla="val 1611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D789AC9C-80C2-4DAF-A9CF-4E79F9DAA1AC}">
      <dsp:nvSpPr>
        <dsp:cNvPr id="0" name=""/>
        <dsp:cNvSpPr/>
      </dsp:nvSpPr>
      <dsp:spPr>
        <a:xfrm>
          <a:off x="6521817" y="2700751"/>
          <a:ext cx="2549247" cy="22345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kern="1200" dirty="0"/>
            <a:t>Power Query</a:t>
          </a:r>
        </a:p>
      </dsp:txBody>
      <dsp:txXfrm>
        <a:off x="6521817" y="2700751"/>
        <a:ext cx="2549247" cy="2234565"/>
      </dsp:txXfrm>
    </dsp:sp>
    <dsp:sp modelId="{1D50067A-87B8-435B-B026-B5457AF02675}">
      <dsp:nvSpPr>
        <dsp:cNvPr id="0" name=""/>
        <dsp:cNvSpPr/>
      </dsp:nvSpPr>
      <dsp:spPr>
        <a:xfrm>
          <a:off x="8590075" y="1649191"/>
          <a:ext cx="480990" cy="480990"/>
        </a:xfrm>
        <a:prstGeom prst="triangle">
          <a:avLst>
            <a:gd name="adj" fmla="val 10000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45F51B91-CDE2-4150-ABC9-E07326939C02}">
      <dsp:nvSpPr>
        <dsp:cNvPr id="0" name=""/>
        <dsp:cNvSpPr/>
      </dsp:nvSpPr>
      <dsp:spPr>
        <a:xfrm rot="5400000">
          <a:off x="9925858" y="1084835"/>
          <a:ext cx="1696954" cy="2823694"/>
        </a:xfrm>
        <a:prstGeom prst="corner">
          <a:avLst>
            <a:gd name="adj1" fmla="val 16120"/>
            <a:gd name="adj2" fmla="val 1611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C1303DAA-A72B-4927-BF7B-07847C41FFDF}">
      <dsp:nvSpPr>
        <dsp:cNvPr id="0" name=""/>
        <dsp:cNvSpPr/>
      </dsp:nvSpPr>
      <dsp:spPr>
        <a:xfrm>
          <a:off x="9642594" y="1928511"/>
          <a:ext cx="2549247" cy="22345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kern="1200"/>
            <a:t>Copilot</a:t>
          </a:r>
          <a:endParaRPr lang="en-US" sz="3800" kern="1200" dirty="0"/>
        </a:p>
      </dsp:txBody>
      <dsp:txXfrm>
        <a:off x="9642594" y="1928511"/>
        <a:ext cx="2549247" cy="2234565"/>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270B02A-591F-4475-8B46-CA257B56BD42}">
      <dsp:nvSpPr>
        <dsp:cNvPr id="0" name=""/>
        <dsp:cNvSpPr/>
      </dsp:nvSpPr>
      <dsp:spPr>
        <a:xfrm rot="5400000">
          <a:off x="563527" y="3401553"/>
          <a:ext cx="1696954" cy="2823694"/>
        </a:xfrm>
        <a:prstGeom prst="corner">
          <a:avLst>
            <a:gd name="adj1" fmla="val 16120"/>
            <a:gd name="adj2" fmla="val 1611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70D0D292-7A19-4BB9-92FE-398428920B5A}">
      <dsp:nvSpPr>
        <dsp:cNvPr id="0" name=""/>
        <dsp:cNvSpPr/>
      </dsp:nvSpPr>
      <dsp:spPr>
        <a:xfrm>
          <a:off x="280263" y="4245229"/>
          <a:ext cx="2549247" cy="22345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kern="1200" dirty="0"/>
            <a:t>Formulas</a:t>
          </a:r>
        </a:p>
      </dsp:txBody>
      <dsp:txXfrm>
        <a:off x="280263" y="4245229"/>
        <a:ext cx="2549247" cy="2234565"/>
      </dsp:txXfrm>
    </dsp:sp>
    <dsp:sp modelId="{6E1B76BE-C8A3-4EFE-B029-79471988039A}">
      <dsp:nvSpPr>
        <dsp:cNvPr id="0" name=""/>
        <dsp:cNvSpPr/>
      </dsp:nvSpPr>
      <dsp:spPr>
        <a:xfrm>
          <a:off x="2348521" y="3193669"/>
          <a:ext cx="480990" cy="480990"/>
        </a:xfrm>
        <a:prstGeom prst="triangle">
          <a:avLst>
            <a:gd name="adj" fmla="val 10000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31A2965E-BA52-4DAE-B25D-0B8DF9759693}">
      <dsp:nvSpPr>
        <dsp:cNvPr id="0" name=""/>
        <dsp:cNvSpPr/>
      </dsp:nvSpPr>
      <dsp:spPr>
        <a:xfrm rot="5400000">
          <a:off x="3684304" y="2629313"/>
          <a:ext cx="1696954" cy="2823694"/>
        </a:xfrm>
        <a:prstGeom prst="corner">
          <a:avLst>
            <a:gd name="adj1" fmla="val 16120"/>
            <a:gd name="adj2" fmla="val 1611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7D89103A-A049-459F-BE27-3F7CDAB3116F}">
      <dsp:nvSpPr>
        <dsp:cNvPr id="0" name=""/>
        <dsp:cNvSpPr/>
      </dsp:nvSpPr>
      <dsp:spPr>
        <a:xfrm>
          <a:off x="3401040" y="3472990"/>
          <a:ext cx="2549247" cy="22345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kern="1200" dirty="0"/>
            <a:t>PivotTables</a:t>
          </a:r>
        </a:p>
      </dsp:txBody>
      <dsp:txXfrm>
        <a:off x="3401040" y="3472990"/>
        <a:ext cx="2549247" cy="2234565"/>
      </dsp:txXfrm>
    </dsp:sp>
    <dsp:sp modelId="{3C5452DC-DF54-41F6-A2E7-B2C3D5FFDF04}">
      <dsp:nvSpPr>
        <dsp:cNvPr id="0" name=""/>
        <dsp:cNvSpPr/>
      </dsp:nvSpPr>
      <dsp:spPr>
        <a:xfrm>
          <a:off x="5469298" y="2421430"/>
          <a:ext cx="480990" cy="480990"/>
        </a:xfrm>
        <a:prstGeom prst="triangle">
          <a:avLst>
            <a:gd name="adj" fmla="val 10000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72EB81E9-684C-485A-8117-9D259B875780}">
      <dsp:nvSpPr>
        <dsp:cNvPr id="0" name=""/>
        <dsp:cNvSpPr/>
      </dsp:nvSpPr>
      <dsp:spPr>
        <a:xfrm rot="5400000">
          <a:off x="6805081" y="1857074"/>
          <a:ext cx="1696954" cy="2823694"/>
        </a:xfrm>
        <a:prstGeom prst="corner">
          <a:avLst>
            <a:gd name="adj1" fmla="val 16120"/>
            <a:gd name="adj2" fmla="val 1611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D789AC9C-80C2-4DAF-A9CF-4E79F9DAA1AC}">
      <dsp:nvSpPr>
        <dsp:cNvPr id="0" name=""/>
        <dsp:cNvSpPr/>
      </dsp:nvSpPr>
      <dsp:spPr>
        <a:xfrm>
          <a:off x="6521817" y="2700751"/>
          <a:ext cx="2549247" cy="22345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kern="1200" dirty="0"/>
            <a:t>Power Query</a:t>
          </a:r>
        </a:p>
      </dsp:txBody>
      <dsp:txXfrm>
        <a:off x="6521817" y="2700751"/>
        <a:ext cx="2549247" cy="2234565"/>
      </dsp:txXfrm>
    </dsp:sp>
    <dsp:sp modelId="{14EFF778-3053-49EA-B8FF-91963C53C838}">
      <dsp:nvSpPr>
        <dsp:cNvPr id="0" name=""/>
        <dsp:cNvSpPr/>
      </dsp:nvSpPr>
      <dsp:spPr>
        <a:xfrm>
          <a:off x="8590075" y="1649191"/>
          <a:ext cx="480990" cy="480990"/>
        </a:xfrm>
        <a:prstGeom prst="triangle">
          <a:avLst>
            <a:gd name="adj" fmla="val 10000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69FB57F2-30E0-447B-9CA3-6081CC2A6EF0}">
      <dsp:nvSpPr>
        <dsp:cNvPr id="0" name=""/>
        <dsp:cNvSpPr/>
      </dsp:nvSpPr>
      <dsp:spPr>
        <a:xfrm rot="5400000">
          <a:off x="9925858" y="1084835"/>
          <a:ext cx="1696954" cy="2823694"/>
        </a:xfrm>
        <a:prstGeom prst="corner">
          <a:avLst>
            <a:gd name="adj1" fmla="val 16120"/>
            <a:gd name="adj2" fmla="val 1611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8831F2BD-16CB-4DFD-906B-F2ABDB3649AD}">
      <dsp:nvSpPr>
        <dsp:cNvPr id="0" name=""/>
        <dsp:cNvSpPr/>
      </dsp:nvSpPr>
      <dsp:spPr>
        <a:xfrm>
          <a:off x="9642594" y="1928511"/>
          <a:ext cx="2549247" cy="22345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kern="1200"/>
            <a:t>Copilot</a:t>
          </a:r>
          <a:endParaRPr lang="en-US" sz="3800" kern="1200" dirty="0"/>
        </a:p>
      </dsp:txBody>
      <dsp:txXfrm>
        <a:off x="9642594" y="1928511"/>
        <a:ext cx="2549247" cy="2234565"/>
      </dsp:txXfrm>
    </dsp:sp>
  </dsp:spTree>
</dsp:drawing>
</file>

<file path=ppt/diagrams/layout1.xml><?xml version="1.0" encoding="utf-8"?>
<dgm:layoutDef xmlns:dgm="http://schemas.openxmlformats.org/drawingml/2006/diagram" xmlns:a="http://schemas.openxmlformats.org/drawingml/2006/main" uniqueId="urn:microsoft.com/office/officeart/2009/3/layout/StepUpProcess">
  <dgm:title val=""/>
  <dgm:desc val=""/>
  <dgm:catLst>
    <dgm:cat type="process" pri="1300"/>
  </dgm:catLst>
  <dgm:sampData>
    <dgm:dataModel>
      <dgm:ptLst>
        <dgm:pt modelId="0" type="doc"/>
        <dgm:pt modelId="10">
          <dgm:prSet phldr="1"/>
        </dgm:pt>
        <dgm:pt modelId="20">
          <dgm:prSet phldr="1"/>
        </dgm:pt>
        <dgm:pt modelId="30">
          <dgm:prSet phldr="1"/>
        </dgm:pt>
      </dgm:ptLst>
      <dgm:cxnLst>
        <dgm:cxn modelId="60" srcId="0" destId="10" srcOrd="0" destOrd="0"/>
        <dgm:cxn modelId="70" srcId="0" destId="20" srcOrd="1" destOrd="0"/>
        <dgm:cxn modelId="80" srcId="0" destId="30" srcOrd="2"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rootnode">
    <dgm:varLst>
      <dgm:chMax/>
      <dgm:chPref/>
      <dgm:dir/>
      <dgm:animLvl val="lvl"/>
    </dgm:varLst>
    <dgm:choose name="Name0">
      <dgm:if name="Name1" func="var" arg="dir" op="equ" val="norm">
        <dgm:alg type="snake">
          <dgm:param type="grDir" val="bL"/>
          <dgm:param type="flowDir" val="row"/>
          <dgm:param type="off" val="off"/>
          <dgm:param type="bkpt" val="fixed"/>
          <dgm:param type="bkPtFixedVal" val="1"/>
        </dgm:alg>
      </dgm:if>
      <dgm:else name="Name2">
        <dgm:alg type="snake">
          <dgm:param type="grDir" val="bR"/>
          <dgm:param type="flowDir" val="row"/>
          <dgm:param type="off" val="off"/>
          <dgm:param type="bkpt" val="fixed"/>
          <dgm:param type="bkPtFixedVal" val="1"/>
        </dgm:alg>
      </dgm:else>
    </dgm:choose>
    <dgm:shape xmlns:r="http://schemas.openxmlformats.org/officeDocument/2006/relationships" r:blip="">
      <dgm:adjLst/>
    </dgm:shape>
    <dgm:constrLst>
      <dgm:constr type="alignOff" forName="rootnode" val="1"/>
      <dgm:constr type="primFontSz" for="des" ptType="node" op="equ" val="65"/>
      <dgm:constr type="w" for="ch" forName="composite" refType="w"/>
      <dgm:constr type="h" for="ch" forName="composite" refType="h"/>
      <dgm:constr type="sp" refType="h" refFor="ch" refForName="composite" op="equ" fact="-0.765"/>
      <dgm:constr type="w" for="ch" forName="sibTrans" refType="w" fact="0.103"/>
      <dgm:constr type="h" for="ch" forName="sibTrans" refType="h" fact="0.103"/>
    </dgm:constrLst>
    <dgm:forEach name="nodesForEach" axis="ch" ptType="node">
      <dgm:layoutNode name="composite">
        <dgm:alg type="composite">
          <dgm:param type="ar" val="0.861"/>
        </dgm:alg>
        <dgm:shape xmlns:r="http://schemas.openxmlformats.org/officeDocument/2006/relationships" r:blip="">
          <dgm:adjLst/>
        </dgm:shape>
        <dgm:choose name="Name3">
          <dgm:if name="Name4" func="var" arg="dir" op="equ" val="norm">
            <dgm:constrLst>
              <dgm:constr type="l" for="ch" forName="LShape" refType="w" fact="0"/>
              <dgm:constr type="t" for="ch" forName="LShape" refType="h" fact="0.2347"/>
              <dgm:constr type="w" for="ch" forName="LShape" refType="w" fact="0.998"/>
              <dgm:constr type="h" for="ch" forName="LShape" refType="h" fact="0.5164"/>
              <dgm:constr type="r" for="ch" forName="ParentText" refType="w"/>
              <dgm:constr type="t" for="ch" forName="ParentText" refType="h" fact="0.32"/>
              <dgm:constr type="w" for="ch" forName="ParentText" refType="w" fact="0.901"/>
              <dgm:constr type="h" for="ch" forName="ParentText" refType="h" fact="0.68"/>
              <dgm:constr type="l" for="ch" forName="Triangle" refType="w" fact="0.83"/>
              <dgm:constr type="t" for="ch" forName="Triangle" refType="h" fact="0"/>
              <dgm:constr type="w" for="ch" forName="Triangle" refType="w" fact="0.17"/>
              <dgm:constr type="h" for="ch" forName="Triangle" refType="w" refFor="ch" refForName="Triangle"/>
            </dgm:constrLst>
          </dgm:if>
          <dgm:else name="Name5">
            <dgm:constrLst>
              <dgm:constr type="l" for="ch" forName="LShape" refType="w" fact="0.002"/>
              <dgm:constr type="t" for="ch" forName="LShape" refType="h" fact="0.2347"/>
              <dgm:constr type="w" for="ch" forName="LShape" refType="w"/>
              <dgm:constr type="h" for="ch" forName="LShape" refType="h" fact="0.5164"/>
              <dgm:constr type="l" for="ch" forName="ParentText" refType="w" fact="0"/>
              <dgm:constr type="t" for="ch" forName="ParentText" refType="h" fact="0.32"/>
              <dgm:constr type="w" for="ch" forName="ParentText" refType="w" fact="0.902"/>
              <dgm:constr type="h" for="ch" forName="ParentText" refType="h" fact="0.68"/>
              <dgm:constr type="l" for="ch" forName="Triangle" refType="w" fact="0"/>
              <dgm:constr type="t" for="ch" forName="Triangle" refType="h" fact="0"/>
              <dgm:constr type="w" for="ch" forName="Triangle" refType="w" fact="0.17"/>
              <dgm:constr type="h" for="ch" forName="Triangle" refType="w" refFor="ch" refForName="Triangle"/>
            </dgm:constrLst>
          </dgm:else>
        </dgm:choose>
        <dgm:layoutNode name="LShape" styleLbl="alignNode1">
          <dgm:alg type="sp"/>
          <dgm:choose name="Name6">
            <dgm:if name="Name7" func="var" arg="dir" op="equ" val="norm">
              <dgm:shape xmlns:r="http://schemas.openxmlformats.org/officeDocument/2006/relationships" rot="90" type="corner" r:blip="">
                <dgm:adjLst>
                  <dgm:adj idx="1" val="0.1612"/>
                  <dgm:adj idx="2" val="0.1611"/>
                </dgm:adjLst>
              </dgm:shape>
            </dgm:if>
            <dgm:else name="Name8">
              <dgm:shape xmlns:r="http://schemas.openxmlformats.org/officeDocument/2006/relationships" rot="180" type="corner" r:blip="">
                <dgm:adjLst>
                  <dgm:adj idx="1" val="0.1612"/>
                  <dgm:adj idx="2" val="0.1611"/>
                </dgm:adjLst>
              </dgm:shape>
            </dgm:else>
          </dgm:choose>
          <dgm:presOf/>
        </dgm:layoutNode>
        <dgm:layoutNode name="ParentText" styleLbl="revTx">
          <dgm:varLst>
            <dgm:chMax val="0"/>
            <dgm:chPref val="0"/>
            <dgm:bulletEnabled val="1"/>
          </dgm:varLst>
          <dgm:alg type="tx">
            <dgm:param type="parTxLTRAlign" val="l"/>
            <dgm:param type="txAnchorVert" val="t"/>
          </dgm:alg>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choose name="Name9">
          <dgm:if name="Name10" axis="followSib" ptType="node" func="cnt" op="gte" val="1">
            <dgm:layoutNode name="Triangle" styleLbl="alignNode1">
              <dgm:alg type="sp"/>
              <dgm:choose name="Name11">
                <dgm:if name="Name12" func="var" arg="dir" op="equ" val="norm">
                  <dgm:shape xmlns:r="http://schemas.openxmlformats.org/officeDocument/2006/relationships" type="triangle" r:blip="">
                    <dgm:adjLst>
                      <dgm:adj idx="1" val="1"/>
                    </dgm:adjLst>
                  </dgm:shape>
                </dgm:if>
                <dgm:else name="Name13">
                  <dgm:shape xmlns:r="http://schemas.openxmlformats.org/officeDocument/2006/relationships" rot="90" type="triangle" r:blip="">
                    <dgm:adjLst>
                      <dgm:adj idx="1" val="1"/>
                    </dgm:adjLst>
                  </dgm:shape>
                </dgm:else>
              </dgm:choose>
              <dgm:presOf/>
            </dgm:layoutNode>
          </dgm:if>
          <dgm:else name="Name14"/>
        </dgm:choose>
      </dgm:layoutNode>
      <dgm:forEach name="sibTransForEach" axis="followSib" ptType="sibTrans" cnt="1">
        <dgm:layoutNode name="sibTrans">
          <dgm:alg type="composite">
            <dgm:param type="ar" val="0.861"/>
          </dgm:alg>
          <dgm:constrLst>
            <dgm:constr type="w" for="ch" forName="space" refType="w"/>
            <dgm:constr type="h" for="ch" forName="space" refType="w"/>
          </dgm:constrLst>
          <dgm:layoutNode name="space" styleLbl="alignNode1">
            <dgm:alg type="sp"/>
            <dgm:shape xmlns:r="http://schemas.openxmlformats.org/officeDocument/2006/relationships" r:blip="">
              <dgm:adjLst/>
            </dgm:shape>
            <dgm:presOf/>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9/3/layout/StepUpProcess">
  <dgm:title val=""/>
  <dgm:desc val=""/>
  <dgm:catLst>
    <dgm:cat type="process" pri="1300"/>
  </dgm:catLst>
  <dgm:sampData>
    <dgm:dataModel>
      <dgm:ptLst>
        <dgm:pt modelId="0" type="doc"/>
        <dgm:pt modelId="10">
          <dgm:prSet phldr="1"/>
        </dgm:pt>
        <dgm:pt modelId="20">
          <dgm:prSet phldr="1"/>
        </dgm:pt>
        <dgm:pt modelId="30">
          <dgm:prSet phldr="1"/>
        </dgm:pt>
      </dgm:ptLst>
      <dgm:cxnLst>
        <dgm:cxn modelId="60" srcId="0" destId="10" srcOrd="0" destOrd="0"/>
        <dgm:cxn modelId="70" srcId="0" destId="20" srcOrd="1" destOrd="0"/>
        <dgm:cxn modelId="80" srcId="0" destId="30" srcOrd="2"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rootnode">
    <dgm:varLst>
      <dgm:chMax/>
      <dgm:chPref/>
      <dgm:dir/>
      <dgm:animLvl val="lvl"/>
    </dgm:varLst>
    <dgm:choose name="Name0">
      <dgm:if name="Name1" func="var" arg="dir" op="equ" val="norm">
        <dgm:alg type="snake">
          <dgm:param type="grDir" val="bL"/>
          <dgm:param type="flowDir" val="row"/>
          <dgm:param type="off" val="off"/>
          <dgm:param type="bkpt" val="fixed"/>
          <dgm:param type="bkPtFixedVal" val="1"/>
        </dgm:alg>
      </dgm:if>
      <dgm:else name="Name2">
        <dgm:alg type="snake">
          <dgm:param type="grDir" val="bR"/>
          <dgm:param type="flowDir" val="row"/>
          <dgm:param type="off" val="off"/>
          <dgm:param type="bkpt" val="fixed"/>
          <dgm:param type="bkPtFixedVal" val="1"/>
        </dgm:alg>
      </dgm:else>
    </dgm:choose>
    <dgm:shape xmlns:r="http://schemas.openxmlformats.org/officeDocument/2006/relationships" r:blip="">
      <dgm:adjLst/>
    </dgm:shape>
    <dgm:constrLst>
      <dgm:constr type="alignOff" forName="rootnode" val="1"/>
      <dgm:constr type="primFontSz" for="des" ptType="node" op="equ" val="65"/>
      <dgm:constr type="w" for="ch" forName="composite" refType="w"/>
      <dgm:constr type="h" for="ch" forName="composite" refType="h"/>
      <dgm:constr type="sp" refType="h" refFor="ch" refForName="composite" op="equ" fact="-0.765"/>
      <dgm:constr type="w" for="ch" forName="sibTrans" refType="w" fact="0.103"/>
      <dgm:constr type="h" for="ch" forName="sibTrans" refType="h" fact="0.103"/>
    </dgm:constrLst>
    <dgm:forEach name="nodesForEach" axis="ch" ptType="node">
      <dgm:layoutNode name="composite">
        <dgm:alg type="composite">
          <dgm:param type="ar" val="0.861"/>
        </dgm:alg>
        <dgm:shape xmlns:r="http://schemas.openxmlformats.org/officeDocument/2006/relationships" r:blip="">
          <dgm:adjLst/>
        </dgm:shape>
        <dgm:choose name="Name3">
          <dgm:if name="Name4" func="var" arg="dir" op="equ" val="norm">
            <dgm:constrLst>
              <dgm:constr type="l" for="ch" forName="LShape" refType="w" fact="0"/>
              <dgm:constr type="t" for="ch" forName="LShape" refType="h" fact="0.2347"/>
              <dgm:constr type="w" for="ch" forName="LShape" refType="w" fact="0.998"/>
              <dgm:constr type="h" for="ch" forName="LShape" refType="h" fact="0.5164"/>
              <dgm:constr type="r" for="ch" forName="ParentText" refType="w"/>
              <dgm:constr type="t" for="ch" forName="ParentText" refType="h" fact="0.32"/>
              <dgm:constr type="w" for="ch" forName="ParentText" refType="w" fact="0.901"/>
              <dgm:constr type="h" for="ch" forName="ParentText" refType="h" fact="0.68"/>
              <dgm:constr type="l" for="ch" forName="Triangle" refType="w" fact="0.83"/>
              <dgm:constr type="t" for="ch" forName="Triangle" refType="h" fact="0"/>
              <dgm:constr type="w" for="ch" forName="Triangle" refType="w" fact="0.17"/>
              <dgm:constr type="h" for="ch" forName="Triangle" refType="w" refFor="ch" refForName="Triangle"/>
            </dgm:constrLst>
          </dgm:if>
          <dgm:else name="Name5">
            <dgm:constrLst>
              <dgm:constr type="l" for="ch" forName="LShape" refType="w" fact="0.002"/>
              <dgm:constr type="t" for="ch" forName="LShape" refType="h" fact="0.2347"/>
              <dgm:constr type="w" for="ch" forName="LShape" refType="w"/>
              <dgm:constr type="h" for="ch" forName="LShape" refType="h" fact="0.5164"/>
              <dgm:constr type="l" for="ch" forName="ParentText" refType="w" fact="0"/>
              <dgm:constr type="t" for="ch" forName="ParentText" refType="h" fact="0.32"/>
              <dgm:constr type="w" for="ch" forName="ParentText" refType="w" fact="0.902"/>
              <dgm:constr type="h" for="ch" forName="ParentText" refType="h" fact="0.68"/>
              <dgm:constr type="l" for="ch" forName="Triangle" refType="w" fact="0"/>
              <dgm:constr type="t" for="ch" forName="Triangle" refType="h" fact="0"/>
              <dgm:constr type="w" for="ch" forName="Triangle" refType="w" fact="0.17"/>
              <dgm:constr type="h" for="ch" forName="Triangle" refType="w" refFor="ch" refForName="Triangle"/>
            </dgm:constrLst>
          </dgm:else>
        </dgm:choose>
        <dgm:layoutNode name="LShape" styleLbl="alignNode1">
          <dgm:alg type="sp"/>
          <dgm:choose name="Name6">
            <dgm:if name="Name7" func="var" arg="dir" op="equ" val="norm">
              <dgm:shape xmlns:r="http://schemas.openxmlformats.org/officeDocument/2006/relationships" rot="90" type="corner" r:blip="">
                <dgm:adjLst>
                  <dgm:adj idx="1" val="0.1612"/>
                  <dgm:adj idx="2" val="0.1611"/>
                </dgm:adjLst>
              </dgm:shape>
            </dgm:if>
            <dgm:else name="Name8">
              <dgm:shape xmlns:r="http://schemas.openxmlformats.org/officeDocument/2006/relationships" rot="180" type="corner" r:blip="">
                <dgm:adjLst>
                  <dgm:adj idx="1" val="0.1612"/>
                  <dgm:adj idx="2" val="0.1611"/>
                </dgm:adjLst>
              </dgm:shape>
            </dgm:else>
          </dgm:choose>
          <dgm:presOf/>
        </dgm:layoutNode>
        <dgm:layoutNode name="ParentText" styleLbl="revTx">
          <dgm:varLst>
            <dgm:chMax val="0"/>
            <dgm:chPref val="0"/>
            <dgm:bulletEnabled val="1"/>
          </dgm:varLst>
          <dgm:alg type="tx">
            <dgm:param type="parTxLTRAlign" val="l"/>
            <dgm:param type="txAnchorVert" val="t"/>
          </dgm:alg>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choose name="Name9">
          <dgm:if name="Name10" axis="followSib" ptType="node" func="cnt" op="gte" val="1">
            <dgm:layoutNode name="Triangle" styleLbl="alignNode1">
              <dgm:alg type="sp"/>
              <dgm:choose name="Name11">
                <dgm:if name="Name12" func="var" arg="dir" op="equ" val="norm">
                  <dgm:shape xmlns:r="http://schemas.openxmlformats.org/officeDocument/2006/relationships" type="triangle" r:blip="">
                    <dgm:adjLst>
                      <dgm:adj idx="1" val="1"/>
                    </dgm:adjLst>
                  </dgm:shape>
                </dgm:if>
                <dgm:else name="Name13">
                  <dgm:shape xmlns:r="http://schemas.openxmlformats.org/officeDocument/2006/relationships" rot="90" type="triangle" r:blip="">
                    <dgm:adjLst>
                      <dgm:adj idx="1" val="1"/>
                    </dgm:adjLst>
                  </dgm:shape>
                </dgm:else>
              </dgm:choose>
              <dgm:presOf/>
            </dgm:layoutNode>
          </dgm:if>
          <dgm:else name="Name14"/>
        </dgm:choose>
      </dgm:layoutNode>
      <dgm:forEach name="sibTransForEach" axis="followSib" ptType="sibTrans" cnt="1">
        <dgm:layoutNode name="sibTrans">
          <dgm:alg type="composite">
            <dgm:param type="ar" val="0.861"/>
          </dgm:alg>
          <dgm:constrLst>
            <dgm:constr type="w" for="ch" forName="space" refType="w"/>
            <dgm:constr type="h" for="ch" forName="space" refType="w"/>
          </dgm:constrLst>
          <dgm:layoutNode name="space" styleLbl="alignNode1">
            <dgm:alg type="sp"/>
            <dgm:shape xmlns:r="http://schemas.openxmlformats.org/officeDocument/2006/relationships" r:blip="">
              <dgm:adjLst/>
            </dgm:shape>
            <dgm:presOf/>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7A98A70-FA8C-4354-959C-C70678AC9BCF}" type="datetimeFigureOut">
              <a:rPr lang="en-US" smtClean="0"/>
              <a:t>11/19/2025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B500C5-13F7-48FC-8160-C29AECF6C602}" type="slidenum">
              <a:rPr lang="en-US" smtClean="0"/>
              <a:t>‹#›</a:t>
            </a:fld>
            <a:endParaRPr lang="en-US"/>
          </a:p>
        </p:txBody>
      </p:sp>
    </p:spTree>
    <p:extLst>
      <p:ext uri="{BB962C8B-B14F-4D97-AF65-F5344CB8AC3E}">
        <p14:creationId xmlns:p14="http://schemas.microsoft.com/office/powerpoint/2010/main" val="30183505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we look back at Excel’s history, you can see these clear jumps in capability. Each one changed what analysts could do without leaving the tool. Formulas gave people real calculation power. PivotTables took that further with fast summarization and reporting. Power Query opened the door to repeatable data cleaning and transformation. And then Copilot arrived and added natural language on top of all of that. Each step expanded what “Excel work” could mean.</a:t>
            </a:r>
          </a:p>
        </p:txBody>
      </p:sp>
      <p:sp>
        <p:nvSpPr>
          <p:cNvPr id="4" name="Slide Number Placeholder 3"/>
          <p:cNvSpPr>
            <a:spLocks noGrp="1"/>
          </p:cNvSpPr>
          <p:nvPr>
            <p:ph type="sldNum" sz="quarter" idx="5"/>
          </p:nvPr>
        </p:nvSpPr>
        <p:spPr/>
        <p:txBody>
          <a:bodyPr/>
          <a:lstStyle/>
          <a:p>
            <a:fld id="{FFB500C5-13F7-48FC-8160-C29AECF6C602}" type="slidenum">
              <a:rPr lang="en-US" smtClean="0"/>
              <a:t>4</a:t>
            </a:fld>
            <a:endParaRPr lang="en-US"/>
          </a:p>
        </p:txBody>
      </p:sp>
    </p:spTree>
    <p:extLst>
      <p:ext uri="{BB962C8B-B14F-4D97-AF65-F5344CB8AC3E}">
        <p14:creationId xmlns:p14="http://schemas.microsoft.com/office/powerpoint/2010/main" val="130736727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now we’re at the next step. AI agents aren’t just another feature. They represent a shift from you doing the work </a:t>
            </a:r>
            <a:r>
              <a:rPr lang="en-US" i="1" dirty="0"/>
              <a:t>inside</a:t>
            </a:r>
            <a:r>
              <a:rPr lang="en-US" dirty="0"/>
              <a:t> Excel to Excel coordinating work for you across tools, data, and processes. This is the same kind of leap we saw when Power Query arrived, but bigger. It means we can start automating decisions, workflows, and tasks that used to take multiple systems and a lot of manual effort. Today I’ll show you what that looks like in practice and how Excel users can take advantage of it right now.</a:t>
            </a:r>
          </a:p>
        </p:txBody>
      </p:sp>
      <p:sp>
        <p:nvSpPr>
          <p:cNvPr id="4" name="Slide Number Placeholder 3"/>
          <p:cNvSpPr>
            <a:spLocks noGrp="1"/>
          </p:cNvSpPr>
          <p:nvPr>
            <p:ph type="sldNum" sz="quarter" idx="5"/>
          </p:nvPr>
        </p:nvSpPr>
        <p:spPr/>
        <p:txBody>
          <a:bodyPr/>
          <a:lstStyle/>
          <a:p>
            <a:fld id="{FFB500C5-13F7-48FC-8160-C29AECF6C602}" type="slidenum">
              <a:rPr lang="en-US" smtClean="0"/>
              <a:t>5</a:t>
            </a:fld>
            <a:endParaRPr lang="en-US"/>
          </a:p>
        </p:txBody>
      </p:sp>
    </p:spTree>
    <p:extLst>
      <p:ext uri="{BB962C8B-B14F-4D97-AF65-F5344CB8AC3E}">
        <p14:creationId xmlns:p14="http://schemas.microsoft.com/office/powerpoint/2010/main" val="2725180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58750" indent="0">
              <a:buNone/>
            </a:pPr>
            <a:r>
              <a:rPr lang="en-US" dirty="0"/>
              <a:t>When Microsoft uses the word “agent,” they’re talking about something more advanced than a normal chatbot. An agent is meant to understand a goal, break it down into steps, and then take actions to complete those steps. So instead of you asking a quick question and getting an answer, an agent can actually carry out a workflow on your behalf.</a:t>
            </a:r>
          </a:p>
          <a:p>
            <a:pPr marL="158750" indent="0">
              <a:buNone/>
            </a:pPr>
            <a:endParaRPr lang="en-US" dirty="0"/>
          </a:p>
          <a:p>
            <a:pPr marL="158750" indent="0">
              <a:buNone/>
            </a:pPr>
            <a:r>
              <a:rPr lang="en-US" dirty="0"/>
              <a:t>It can use memory, tools, and signals from its environment to stay oriented. That means it doesn’t lose the thread every time you ask something new. It can keep track of what you’re trying to accomplish and move the task forward.</a:t>
            </a:r>
          </a:p>
          <a:p>
            <a:pPr marL="158750" indent="0">
              <a:buNone/>
            </a:pPr>
            <a:endParaRPr lang="en-US" dirty="0"/>
          </a:p>
          <a:p>
            <a:pPr marL="158750" indent="0">
              <a:buNone/>
            </a:pPr>
            <a:r>
              <a:rPr lang="en-US" dirty="0"/>
              <a:t>Microsoft also emphasizes that agents are autonomous but still bounded. They operate inside rules, safety constraints, and context so they can take initiative without running off and doing unpredictable things. This is the shift we’re stepping into: Excel isn’t just giving you answers, it’s starting to *do work* for you.</a:t>
            </a:r>
          </a:p>
          <a:p>
            <a:pPr marL="158750" indent="0">
              <a:buNone/>
            </a:pPr>
            <a:endParaRPr lang="en-US" dirty="0"/>
          </a:p>
        </p:txBody>
      </p:sp>
      <p:sp>
        <p:nvSpPr>
          <p:cNvPr id="4" name="Slide Number Placeholder 3"/>
          <p:cNvSpPr>
            <a:spLocks noGrp="1"/>
          </p:cNvSpPr>
          <p:nvPr>
            <p:ph type="sldNum" sz="quarter" idx="5"/>
          </p:nvPr>
        </p:nvSpPr>
        <p:spPr/>
        <p:txBody>
          <a:bodyPr/>
          <a:lstStyle/>
          <a:p>
            <a:fld id="{FFB500C5-13F7-48FC-8160-C29AECF6C602}" type="slidenum">
              <a:rPr lang="en-US" smtClean="0"/>
              <a:t>6</a:t>
            </a:fld>
            <a:endParaRPr lang="en-US"/>
          </a:p>
        </p:txBody>
      </p:sp>
    </p:spTree>
    <p:extLst>
      <p:ext uri="{BB962C8B-B14F-4D97-AF65-F5344CB8AC3E}">
        <p14:creationId xmlns:p14="http://schemas.microsoft.com/office/powerpoint/2010/main" val="304654175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5235D5-173D-7E79-17DB-4B2F9677D6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22173F3-81EB-36E0-5B1E-56098D6D431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BE57913-0448-2B5D-AB0C-7861C360FFC1}"/>
              </a:ext>
            </a:extLst>
          </p:cNvPr>
          <p:cNvSpPr>
            <a:spLocks noGrp="1"/>
          </p:cNvSpPr>
          <p:nvPr>
            <p:ph type="body" idx="1"/>
          </p:nvPr>
        </p:nvSpPr>
        <p:spPr/>
        <p:txBody>
          <a:bodyPr/>
          <a:lstStyle/>
          <a:p>
            <a:pPr marL="0" indent="0">
              <a:buNone/>
            </a:pPr>
            <a:endParaRPr lang="en-US" dirty="0"/>
          </a:p>
        </p:txBody>
      </p:sp>
      <p:sp>
        <p:nvSpPr>
          <p:cNvPr id="4" name="Slide Number Placeholder 3">
            <a:extLst>
              <a:ext uri="{FF2B5EF4-FFF2-40B4-BE49-F238E27FC236}">
                <a16:creationId xmlns:a16="http://schemas.microsoft.com/office/drawing/2014/main" id="{A02CB03B-FCC0-A40A-B1C4-9F60245A8137}"/>
              </a:ext>
            </a:extLst>
          </p:cNvPr>
          <p:cNvSpPr>
            <a:spLocks noGrp="1"/>
          </p:cNvSpPr>
          <p:nvPr>
            <p:ph type="sldNum" sz="quarter" idx="5"/>
          </p:nvPr>
        </p:nvSpPr>
        <p:spPr/>
        <p:txBody>
          <a:bodyPr/>
          <a:lstStyle/>
          <a:p>
            <a:fld id="{1300335D-9F13-4B80-ADC5-B0EA3E10FF6B}" type="slidenum">
              <a:rPr lang="en-US" smtClean="0"/>
              <a:t>7</a:t>
            </a:fld>
            <a:endParaRPr lang="en-US"/>
          </a:p>
        </p:txBody>
      </p:sp>
    </p:spTree>
    <p:extLst>
      <p:ext uri="{BB962C8B-B14F-4D97-AF65-F5344CB8AC3E}">
        <p14:creationId xmlns:p14="http://schemas.microsoft.com/office/powerpoint/2010/main" val="68316324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framework helps make sense of all the vocabulary we’ve been talking about. Instead of treating “copilots” and “agents” as fuzzy marketing terms, it breaks things down by two dimensions: how integrated the tool is with your systems, and how much automation it can actually perform.</a:t>
            </a:r>
          </a:p>
          <a:p>
            <a:endParaRPr lang="en-US" dirty="0"/>
          </a:p>
          <a:p>
            <a:r>
              <a:rPr lang="en-US" dirty="0"/>
              <a:t>In the top left, you have copilots. They’re highly integrated because they sit inside your existing apps, but they still rely on you to drive the workflow. They improve your work, but they don’t take it over.</a:t>
            </a:r>
          </a:p>
          <a:p>
            <a:endParaRPr lang="en-US" dirty="0"/>
          </a:p>
          <a:p>
            <a:r>
              <a:rPr lang="en-US" dirty="0"/>
              <a:t>On the right, you have agents. They combine that same level of integration with the ability to take multi-step actions on their own. So they’re not just responding to you, they’re actually completing tasks across systems.</a:t>
            </a:r>
          </a:p>
          <a:p>
            <a:endParaRPr lang="en-US" dirty="0"/>
          </a:p>
          <a:p>
            <a:r>
              <a:rPr lang="en-US" dirty="0"/>
              <a:t>Below that, you have assistants and autopilots. These are less connected to your internal data and tools, even if some of them can automate quite a bit.</a:t>
            </a:r>
          </a:p>
          <a:p>
            <a:endParaRPr lang="en-US" dirty="0"/>
          </a:p>
          <a:p>
            <a:r>
              <a:rPr lang="en-US" dirty="0"/>
              <a:t>The main idea here is that Excel is moving from the “copilot” box toward the “agent” box. That’s why everything suddenly feels like it’s changing. It isn’t just giving you answers anymore — it’s starting to orchestrate real work.</a:t>
            </a:r>
          </a:p>
          <a:p>
            <a:endParaRPr lang="en-US" dirty="0"/>
          </a:p>
          <a:p>
            <a:endParaRPr lang="en-US" dirty="0"/>
          </a:p>
        </p:txBody>
      </p:sp>
      <p:sp>
        <p:nvSpPr>
          <p:cNvPr id="4" name="Slide Number Placeholder 3"/>
          <p:cNvSpPr>
            <a:spLocks noGrp="1"/>
          </p:cNvSpPr>
          <p:nvPr>
            <p:ph type="sldNum" sz="quarter" idx="5"/>
          </p:nvPr>
        </p:nvSpPr>
        <p:spPr/>
        <p:txBody>
          <a:bodyPr/>
          <a:lstStyle/>
          <a:p>
            <a:fld id="{FFB500C5-13F7-48FC-8160-C29AECF6C602}" type="slidenum">
              <a:rPr lang="en-US" smtClean="0"/>
              <a:t>8</a:t>
            </a:fld>
            <a:endParaRPr lang="en-US"/>
          </a:p>
        </p:txBody>
      </p:sp>
    </p:spTree>
    <p:extLst>
      <p:ext uri="{BB962C8B-B14F-4D97-AF65-F5344CB8AC3E}">
        <p14:creationId xmlns:p14="http://schemas.microsoft.com/office/powerpoint/2010/main" val="277157057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900" dirty="0"/>
              <a:t>When people hear Copilot and Agent Mode, they often assume they are the same thing, but they represent very different stages in how AI works inside Excel.</a:t>
            </a:r>
          </a:p>
          <a:p>
            <a:endParaRPr lang="en-US" sz="900" dirty="0"/>
          </a:p>
          <a:p>
            <a:r>
              <a:rPr lang="en-US" sz="900" dirty="0"/>
              <a:t>Copilot is what most of us have used so far. It is a great assistant when you need to generate a formula, summarize some data, or clean up a quick report. You ask it a question, it gives an answer, and then it is up to you to decide what to do next. It is reactive. It waits for your prompt each time.</a:t>
            </a:r>
          </a:p>
          <a:p>
            <a:endParaRPr lang="en-US" sz="900" dirty="0"/>
          </a:p>
          <a:p>
            <a:r>
              <a:rPr lang="en-US" sz="900" dirty="0"/>
              <a:t>Agent Mode takes this a step further. Instead of a single prompt and response, the agent can plan, execute, and evaluate multiple steps on its own. It does not just answer you, it actually works with you, refining its approach until it gets the result right. Think of it as the difference between giving someone an instruction versus giving them a project.</a:t>
            </a:r>
          </a:p>
          <a:p>
            <a:endParaRPr lang="en-US" sz="900" dirty="0"/>
          </a:p>
          <a:p>
            <a:r>
              <a:rPr lang="en-US" sz="900" dirty="0"/>
              <a:t>That also changes your role as the analyst. With Copilot, you are still the one doing the work, just faster. With Agent Mode, you become more of a manager or reviewer, someone who guides, oversees, and checks the agent’s work. The focus shifts from “Can I get this formula right?” to “Can I structure and verify the workflow my agent is running?”</a:t>
            </a:r>
          </a:p>
          <a:p>
            <a:endParaRPr lang="en-US" sz="900" dirty="0"/>
          </a:p>
          <a:p>
            <a:r>
              <a:rPr lang="en-US" sz="900" dirty="0"/>
              <a:t>In terms of output, Copilot is great for speed. You will get something usable right away. Agent Mode is built for reliability. It double checks itself, validates formulas, and produces outputs that are more auditable and refreshable. That is what makes it better suited for more complex or higher stakes workflows like financial models, reconciliations, or recurring dashboards.</a:t>
            </a:r>
          </a:p>
          <a:p>
            <a:endParaRPr lang="en-US" sz="900" dirty="0"/>
          </a:p>
          <a:p>
            <a:r>
              <a:rPr lang="en-US" sz="900" dirty="0"/>
              <a:t>So the short version is: Copilot accelerates your work. Agent Mode begins to do the work. The real opportunity for Excel professionals is learning how to manage and guide these new digital teammates effectively.</a:t>
            </a:r>
          </a:p>
        </p:txBody>
      </p:sp>
      <p:sp>
        <p:nvSpPr>
          <p:cNvPr id="4" name="Slide Number Placeholder 3"/>
          <p:cNvSpPr>
            <a:spLocks noGrp="1"/>
          </p:cNvSpPr>
          <p:nvPr>
            <p:ph type="sldNum" sz="quarter" idx="5"/>
          </p:nvPr>
        </p:nvSpPr>
        <p:spPr/>
        <p:txBody>
          <a:bodyPr/>
          <a:lstStyle/>
          <a:p>
            <a:fld id="{FFB500C5-13F7-48FC-8160-C29AECF6C602}" type="slidenum">
              <a:rPr lang="en-US" smtClean="0"/>
              <a:t>9</a:t>
            </a:fld>
            <a:endParaRPr lang="en-US"/>
          </a:p>
        </p:txBody>
      </p:sp>
    </p:spTree>
    <p:extLst>
      <p:ext uri="{BB962C8B-B14F-4D97-AF65-F5344CB8AC3E}">
        <p14:creationId xmlns:p14="http://schemas.microsoft.com/office/powerpoint/2010/main" val="298611631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r>
              <a:rPr lang="en-US" dirty="0"/>
              <a:t>For this exercise, we’re going to experiment with Agent Mode using a simple workbook called agent-mode.xlsx. The goal isn’t to “finish” anything perfectly — the goal is to see how the agent behaves with different kinds of </a:t>
            </a:r>
            <a:r>
              <a:rPr lang="en-US" dirty="0" err="1"/>
              <a:t>tasks.I’ve</a:t>
            </a:r>
            <a:r>
              <a:rPr lang="en-US" dirty="0"/>
              <a:t> given you three example use cases to try. The loan calculator is a straightforward structured task. Variance analysis introduces more contextual decision-making. And the monthly close pack is intentionally a little messy, because that’s what real work often looks like. Try a couple of these and see how far Agent Mode gets before it needs </a:t>
            </a:r>
            <a:r>
              <a:rPr lang="en-US" dirty="0" err="1"/>
              <a:t>clarification.As</a:t>
            </a:r>
            <a:r>
              <a:rPr lang="en-US" dirty="0"/>
              <a:t> you’re working, pay attention to what the agent does well. Does it follow instructions? Does it break down the task correctly? And just as important, notice where it stalls or gives vague answers. Those gaps tell us a lot about where the technology is </a:t>
            </a:r>
            <a:r>
              <a:rPr lang="en-US" dirty="0" err="1"/>
              <a:t>today.Finally</a:t>
            </a:r>
            <a:r>
              <a:rPr lang="en-US" dirty="0"/>
              <a:t>, think about how this fits in with the other AI tools we’ve talked about. When should something be a Power Query step? When should it be a Copilot prompt? When should it be an Agent Mode workflow? The more you tease that apart, the easier it becomes to choose the right tool in real work.</a:t>
            </a:r>
          </a:p>
        </p:txBody>
      </p:sp>
      <p:sp>
        <p:nvSpPr>
          <p:cNvPr id="4" name="Slide Number Placeholder 3"/>
          <p:cNvSpPr>
            <a:spLocks noGrp="1"/>
          </p:cNvSpPr>
          <p:nvPr>
            <p:ph type="sldNum" sz="quarter" idx="5"/>
          </p:nvPr>
        </p:nvSpPr>
        <p:spPr/>
        <p:txBody>
          <a:bodyPr/>
          <a:lstStyle/>
          <a:p>
            <a:fld id="{1300335D-9F13-4B80-ADC5-B0EA3E10FF6B}" type="slidenum">
              <a:rPr lang="en-US" smtClean="0"/>
              <a:t>10</a:t>
            </a:fld>
            <a:endParaRPr lang="en-US"/>
          </a:p>
        </p:txBody>
      </p:sp>
    </p:spTree>
    <p:extLst>
      <p:ext uri="{BB962C8B-B14F-4D97-AF65-F5344CB8AC3E}">
        <p14:creationId xmlns:p14="http://schemas.microsoft.com/office/powerpoint/2010/main" val="62454924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550340-90B9-3E9E-2C44-E53E1F5BC8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416F7D-80C0-0BF0-5DAE-28EECF9522B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1923542-0F7D-E832-E549-540653D47B72}"/>
              </a:ext>
            </a:extLst>
          </p:cNvPr>
          <p:cNvSpPr>
            <a:spLocks noGrp="1"/>
          </p:cNvSpPr>
          <p:nvPr>
            <p:ph type="body" idx="1"/>
          </p:nvPr>
        </p:nvSpPr>
        <p:spPr/>
        <p:txBody>
          <a:bodyPr/>
          <a:lstStyle/>
          <a:p>
            <a:r>
              <a:rPr lang="en-US" sz="900" dirty="0"/>
              <a:t>This slide brings everything together. One of the biggest challenges with the new AI features is understanding where each piece fits. It’s not one tool — it’s a full stack. And the order matters, because each layer depends on the ones below it.</a:t>
            </a:r>
          </a:p>
          <a:p>
            <a:endParaRPr lang="en-US" sz="900" dirty="0"/>
          </a:p>
          <a:p>
            <a:r>
              <a:rPr lang="en-US" sz="900" dirty="0"/>
              <a:t>At the foundation, you have Power BI and Dataverse. That’s your governed data backbone. Without clean, consistent data, nothing else in this stack works well.</a:t>
            </a:r>
          </a:p>
          <a:p>
            <a:endParaRPr lang="en-US" sz="900" dirty="0"/>
          </a:p>
          <a:p>
            <a:r>
              <a:rPr lang="en-US" sz="900" dirty="0"/>
              <a:t>Above that is Power Query and Dataflows. This is where the data gets shaped, cleaned, and prepared. If you’ve ever spent hours fixing CSVs or cleaning exports, you already know why this layer is essential.</a:t>
            </a:r>
          </a:p>
          <a:p>
            <a:endParaRPr lang="en-US" sz="900" dirty="0"/>
          </a:p>
          <a:p>
            <a:r>
              <a:rPr lang="en-US" sz="900" dirty="0"/>
              <a:t>Then we get to Excel itself — Agent Mode, Copilot, and Python. This is where analysis happens. This is where you explore, model, visualize, and interact with the data. It’s the heart of the analyst workflow.</a:t>
            </a:r>
          </a:p>
          <a:p>
            <a:endParaRPr lang="en-US" sz="900" dirty="0"/>
          </a:p>
          <a:p>
            <a:r>
              <a:rPr lang="en-US" sz="900" dirty="0"/>
              <a:t>Next is Office Scripts and Power Automate. Once you know what you want done, this layer lets you automate it. It’s the glue between Excel and the rest of your systems.</a:t>
            </a:r>
          </a:p>
          <a:p>
            <a:endParaRPr lang="en-US" sz="900" dirty="0"/>
          </a:p>
          <a:p>
            <a:r>
              <a:rPr lang="en-US" sz="900" dirty="0"/>
              <a:t>At the top is Copilot Studio. This is where you customize, govern, and scale your AI. If you want an agent or copilot that truly understands your business, this is the layer that lets you build it.</a:t>
            </a:r>
          </a:p>
          <a:p>
            <a:endParaRPr lang="en-US" sz="900" dirty="0"/>
          </a:p>
          <a:p>
            <a:r>
              <a:rPr lang="en-US" sz="900" dirty="0"/>
              <a:t>So the big takeaway is: no single tool solves everything. When you put the layers together, that’s when you get the modern Excel experience — an ecosystem that can clean data, analyze it, automate it, and now even act on it.</a:t>
            </a:r>
          </a:p>
          <a:p>
            <a:endParaRPr lang="en-US" sz="900" dirty="0"/>
          </a:p>
        </p:txBody>
      </p:sp>
      <p:sp>
        <p:nvSpPr>
          <p:cNvPr id="4" name="Slide Number Placeholder 3">
            <a:extLst>
              <a:ext uri="{FF2B5EF4-FFF2-40B4-BE49-F238E27FC236}">
                <a16:creationId xmlns:a16="http://schemas.microsoft.com/office/drawing/2014/main" id="{AD1320A6-67F7-AA40-1113-E4509F24AEFD}"/>
              </a:ext>
            </a:extLst>
          </p:cNvPr>
          <p:cNvSpPr>
            <a:spLocks noGrp="1"/>
          </p:cNvSpPr>
          <p:nvPr>
            <p:ph type="sldNum" sz="quarter" idx="5"/>
          </p:nvPr>
        </p:nvSpPr>
        <p:spPr/>
        <p:txBody>
          <a:bodyPr/>
          <a:lstStyle/>
          <a:p>
            <a:fld id="{FFB500C5-13F7-48FC-8160-C29AECF6C602}" type="slidenum">
              <a:rPr lang="en-US" smtClean="0"/>
              <a:t>11</a:t>
            </a:fld>
            <a:endParaRPr lang="en-US"/>
          </a:p>
        </p:txBody>
      </p:sp>
    </p:spTree>
    <p:extLst>
      <p:ext uri="{BB962C8B-B14F-4D97-AF65-F5344CB8AC3E}">
        <p14:creationId xmlns:p14="http://schemas.microsoft.com/office/powerpoint/2010/main" val="64917080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14B1B5-A60D-967D-49BC-6F3ABD430E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F92654-5E87-00BA-6746-303D497ED46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BC1A70-63B8-CA42-42BB-70F21EDD71D7}"/>
              </a:ext>
            </a:extLst>
          </p:cNvPr>
          <p:cNvSpPr>
            <a:spLocks noGrp="1"/>
          </p:cNvSpPr>
          <p:nvPr>
            <p:ph type="body" idx="1"/>
          </p:nvPr>
        </p:nvSpPr>
        <p:spPr/>
        <p:txBody>
          <a:bodyPr/>
          <a:lstStyle/>
          <a:p>
            <a:r>
              <a:rPr lang="en-US" dirty="0"/>
              <a:t>“Earlier we said chatbots are </a:t>
            </a:r>
            <a:r>
              <a:rPr lang="en-US" i="1" dirty="0"/>
              <a:t>not</a:t>
            </a:r>
            <a:r>
              <a:rPr lang="en-US" dirty="0"/>
              <a:t> agents — and that’s absolutely true in the strict Microsoft definition.</a:t>
            </a:r>
            <a:br>
              <a:rPr lang="en-US" dirty="0"/>
            </a:br>
            <a:r>
              <a:rPr lang="en-US" dirty="0"/>
              <a:t>Chatbots respond.</a:t>
            </a:r>
            <a:br>
              <a:rPr lang="en-US" dirty="0"/>
            </a:br>
            <a:r>
              <a:rPr lang="en-US" dirty="0"/>
              <a:t>Agents </a:t>
            </a:r>
            <a:r>
              <a:rPr lang="en-US" i="1" dirty="0"/>
              <a:t>reason</a:t>
            </a:r>
            <a:r>
              <a:rPr lang="en-US" dirty="0"/>
              <a:t> and </a:t>
            </a:r>
            <a:r>
              <a:rPr lang="en-US" i="1" dirty="0"/>
              <a:t>act</a:t>
            </a:r>
            <a:r>
              <a:rPr lang="en-US" dirty="0"/>
              <a:t>.</a:t>
            </a:r>
          </a:p>
          <a:p>
            <a:r>
              <a:rPr lang="en-US" dirty="0"/>
              <a:t>So why are we building a chatbot here?</a:t>
            </a:r>
          </a:p>
          <a:p>
            <a:r>
              <a:rPr lang="en-US" dirty="0"/>
              <a:t>Because when you’re teaching people this stuff, you need a project they can actually finish.</a:t>
            </a:r>
            <a:br>
              <a:rPr lang="en-US" dirty="0"/>
            </a:br>
            <a:r>
              <a:rPr lang="en-US" dirty="0"/>
              <a:t>A fully agentic workflow takes hours and a ton of setup — environment variables, triggers, actions, tool calling, evaluation loops. It’s way too much for a short session like this.</a:t>
            </a:r>
          </a:p>
          <a:p>
            <a:r>
              <a:rPr lang="en-US" dirty="0"/>
              <a:t>But a Copilot Studio chatbot uses </a:t>
            </a:r>
            <a:r>
              <a:rPr lang="en-US" b="1" dirty="0"/>
              <a:t>all the same foundational pieces</a:t>
            </a:r>
            <a:r>
              <a:rPr lang="en-US" dirty="0"/>
              <a:t>:</a:t>
            </a:r>
          </a:p>
          <a:p>
            <a:r>
              <a:rPr lang="en-US" dirty="0"/>
              <a:t>intents</a:t>
            </a:r>
          </a:p>
          <a:p>
            <a:r>
              <a:rPr lang="en-US" dirty="0"/>
              <a:t>topics</a:t>
            </a:r>
          </a:p>
          <a:p>
            <a:r>
              <a:rPr lang="en-US" dirty="0"/>
              <a:t>orchestration</a:t>
            </a:r>
          </a:p>
          <a:p>
            <a:r>
              <a:rPr lang="en-US" dirty="0"/>
              <a:t>knowledge bases</a:t>
            </a:r>
          </a:p>
          <a:p>
            <a:r>
              <a:rPr lang="en-US" dirty="0"/>
              <a:t>grounding</a:t>
            </a:r>
          </a:p>
          <a:p>
            <a:r>
              <a:rPr lang="en-US" dirty="0"/>
              <a:t>troubleshooting AI responses</a:t>
            </a:r>
          </a:p>
          <a:p>
            <a:r>
              <a:rPr lang="en-US" dirty="0"/>
              <a:t>In other words, building a chatbot is the </a:t>
            </a:r>
            <a:r>
              <a:rPr lang="en-US" b="1" dirty="0"/>
              <a:t>on-ramp</a:t>
            </a:r>
            <a:r>
              <a:rPr lang="en-US" dirty="0"/>
              <a:t> to building real enterprise agents.</a:t>
            </a:r>
            <a:br>
              <a:rPr lang="en-US" dirty="0"/>
            </a:br>
            <a:r>
              <a:rPr lang="en-US" dirty="0"/>
              <a:t>This is exactly how Microsoft teaches the progression internally:</a:t>
            </a:r>
            <a:br>
              <a:rPr lang="en-US" dirty="0"/>
            </a:br>
            <a:r>
              <a:rPr lang="en-US" b="1" dirty="0"/>
              <a:t>Chatbot → Copilot → Agent → Automated agentic workflow.</a:t>
            </a:r>
            <a:endParaRPr lang="en-US" dirty="0"/>
          </a:p>
          <a:p>
            <a:r>
              <a:rPr lang="en-US" dirty="0"/>
              <a:t>So what we’re building today is not a full-blown agent — it’s a </a:t>
            </a:r>
            <a:r>
              <a:rPr lang="en-US" i="1" dirty="0"/>
              <a:t>teachable slice</a:t>
            </a:r>
            <a:r>
              <a:rPr lang="en-US" dirty="0"/>
              <a:t> of the agent stack that fits in the time we have and still gives you a meaningful, publishable artifact. After this, you’ll know how to plug in Excel knowledge, how to structure your copilots, and how to combine them with Agent Mode later.”</a:t>
            </a:r>
          </a:p>
        </p:txBody>
      </p:sp>
      <p:sp>
        <p:nvSpPr>
          <p:cNvPr id="4" name="Slide Number Placeholder 3">
            <a:extLst>
              <a:ext uri="{FF2B5EF4-FFF2-40B4-BE49-F238E27FC236}">
                <a16:creationId xmlns:a16="http://schemas.microsoft.com/office/drawing/2014/main" id="{62A5ACB8-FCC1-D3E3-8AE3-DDDF3FBF49DE}"/>
              </a:ext>
            </a:extLst>
          </p:cNvPr>
          <p:cNvSpPr>
            <a:spLocks noGrp="1"/>
          </p:cNvSpPr>
          <p:nvPr>
            <p:ph type="sldNum" sz="quarter" idx="5"/>
          </p:nvPr>
        </p:nvSpPr>
        <p:spPr/>
        <p:txBody>
          <a:bodyPr/>
          <a:lstStyle/>
          <a:p>
            <a:fld id="{1300335D-9F13-4B80-ADC5-B0EA3E10FF6B}" type="slidenum">
              <a:rPr lang="en-US" smtClean="0"/>
              <a:t>12</a:t>
            </a:fld>
            <a:endParaRPr lang="en-US"/>
          </a:p>
        </p:txBody>
      </p:sp>
    </p:spTree>
    <p:extLst>
      <p:ext uri="{BB962C8B-B14F-4D97-AF65-F5344CB8AC3E}">
        <p14:creationId xmlns:p14="http://schemas.microsoft.com/office/powerpoint/2010/main" val="269961923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diagram shows what an automated AI workflow looks like — a sequence of predefined steps that move from a trigger to a final output. You can think of it as a chain reaction: something starts the process, different actions happen automatically, and along the way, AI steps in to add intelligence or decision-making.</a:t>
            </a:r>
          </a:p>
          <a:p>
            <a:r>
              <a:rPr lang="en-US" dirty="0"/>
              <a:t>It all begins with a </a:t>
            </a:r>
            <a:r>
              <a:rPr lang="en-US" b="1" dirty="0"/>
              <a:t>trigger</a:t>
            </a:r>
            <a:r>
              <a:rPr lang="en-US" dirty="0"/>
              <a:t> — something that tells the workflow to start. In Excel or Power Automate, that could be a new row added to a table, a file uploaded to OneDrive, or even a scheduled time like “every Monday morning.” The trigger is what kicks everything off without you having to manually do anything.</a:t>
            </a:r>
          </a:p>
          <a:p>
            <a:r>
              <a:rPr lang="en-US" dirty="0"/>
              <a:t>Then we have </a:t>
            </a:r>
            <a:r>
              <a:rPr lang="en-US" b="1" dirty="0"/>
              <a:t>Step 1</a:t>
            </a:r>
            <a:r>
              <a:rPr lang="en-US" dirty="0"/>
              <a:t>, which is often a preparation step. Maybe it’s collecting the data, formatting it, or sending it into Excel. This could be where Power Automate connects to a SharePoint list, a form submission, or a Teams message and feeds that data into your workbook.</a:t>
            </a:r>
          </a:p>
          <a:p>
            <a:r>
              <a:rPr lang="en-US" dirty="0"/>
              <a:t>Next comes the </a:t>
            </a:r>
            <a:r>
              <a:rPr lang="en-US" b="1" dirty="0"/>
              <a:t>AI Step</a:t>
            </a:r>
            <a:r>
              <a:rPr lang="en-US" dirty="0"/>
              <a:t> — this is where Copilot or another AI model gets involved. This could be an AI Builder action inside Power Automate that summarizes text, classifies feedback, or extracts key details from a document. Or it might be Copilot inside Excel generating a formula, building a chart, or explaining data patterns automatically. The AI step takes what used to be manual analysis and turns it into an automated, intelligent action.</a:t>
            </a:r>
          </a:p>
          <a:p>
            <a:r>
              <a:rPr lang="en-US" dirty="0"/>
              <a:t>After that, there can be more steps — maybe sending results back to Excel, notifying someone in Teams, or updating a dashboard. Each step builds on the last, flowing seamlessly without human intervention.</a:t>
            </a:r>
          </a:p>
          <a:p>
            <a:r>
              <a:rPr lang="en-US" dirty="0"/>
              <a:t>Finally, we reach the </a:t>
            </a:r>
            <a:r>
              <a:rPr lang="en-US" b="1" dirty="0"/>
              <a:t>output</a:t>
            </a:r>
            <a:r>
              <a:rPr lang="en-US" dirty="0"/>
              <a:t>, which is the end goal of the automation. That might be a refreshed Excel report, an email summary, or a new dataset ready for review. The beauty of it is that the whole process runs automatically once it’s designed — no constant copying, pasting, or checking formulas.</a:t>
            </a:r>
          </a:p>
          <a:p>
            <a:r>
              <a:rPr lang="en-US" dirty="0"/>
              <a:t>So, in short, this kind of workflow connects automation tools like Power Automate with AI capabilities from Copilot or AI Builder to take everyday Excel tasks — things like reporting, data cleaning, or summarizing — and turn them into intelligent, repeatable processes.</a:t>
            </a:r>
          </a:p>
          <a:p>
            <a:endParaRPr lang="en-US" dirty="0"/>
          </a:p>
        </p:txBody>
      </p:sp>
      <p:sp>
        <p:nvSpPr>
          <p:cNvPr id="4" name="Slide Number Placeholder 3"/>
          <p:cNvSpPr>
            <a:spLocks noGrp="1"/>
          </p:cNvSpPr>
          <p:nvPr>
            <p:ph type="sldNum" sz="quarter" idx="5"/>
          </p:nvPr>
        </p:nvSpPr>
        <p:spPr/>
        <p:txBody>
          <a:bodyPr/>
          <a:lstStyle/>
          <a:p>
            <a:fld id="{FFB500C5-13F7-48FC-8160-C29AECF6C602}" type="slidenum">
              <a:rPr lang="en-US" smtClean="0"/>
              <a:t>14</a:t>
            </a:fld>
            <a:endParaRPr lang="en-US"/>
          </a:p>
        </p:txBody>
      </p:sp>
    </p:spTree>
    <p:extLst>
      <p:ext uri="{BB962C8B-B14F-4D97-AF65-F5344CB8AC3E}">
        <p14:creationId xmlns:p14="http://schemas.microsoft.com/office/powerpoint/2010/main" val="406450577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diagram shows the core idea behind an agentic workflow. Everything starts with a trigger. That could be a scheduled time, a user action, an event in another system, or even a message. Once the trigger fires, control passes to the AI </a:t>
            </a:r>
            <a:r>
              <a:rPr lang="en-US" dirty="0" err="1"/>
              <a:t>agent.The</a:t>
            </a:r>
            <a:r>
              <a:rPr lang="en-US" dirty="0"/>
              <a:t> agent’s job is to figure out the steps needed to reach the goal. And the important part is that the agent isn’t just following a script. It can draw on three things: the instructions you gave it, the memory it has access to, and the tools it’s allowed to use. Those might include connectors, APIs, retrieval sources, or actions in Power </a:t>
            </a:r>
            <a:r>
              <a:rPr lang="en-US" dirty="0" err="1"/>
              <a:t>Automate.From</a:t>
            </a:r>
            <a:r>
              <a:rPr lang="en-US" dirty="0"/>
              <a:t> there, the agent decides which actions to take and in what order. It keeps adjusting based on the context it sees, and it keeps working until it produces an output. That output might be a document, a dataset, a message, an update in a system, or something else </a:t>
            </a:r>
            <a:r>
              <a:rPr lang="en-US" dirty="0" err="1"/>
              <a:t>entirely.So</a:t>
            </a:r>
            <a:r>
              <a:rPr lang="en-US" dirty="0"/>
              <a:t> even though we’re building this in Copilot Studio, the workflow here is very agent-like. It’s not just a single prompt. It’s a goal-directed system that figures out the how on its own.</a:t>
            </a:r>
          </a:p>
        </p:txBody>
      </p:sp>
      <p:sp>
        <p:nvSpPr>
          <p:cNvPr id="4" name="Slide Number Placeholder 3"/>
          <p:cNvSpPr>
            <a:spLocks noGrp="1"/>
          </p:cNvSpPr>
          <p:nvPr>
            <p:ph type="sldNum" sz="quarter" idx="5"/>
          </p:nvPr>
        </p:nvSpPr>
        <p:spPr/>
        <p:txBody>
          <a:bodyPr/>
          <a:lstStyle/>
          <a:p>
            <a:fld id="{FFB500C5-13F7-48FC-8160-C29AECF6C602}" type="slidenum">
              <a:rPr lang="en-US" smtClean="0"/>
              <a:t>15</a:t>
            </a:fld>
            <a:endParaRPr lang="en-US"/>
          </a:p>
        </p:txBody>
      </p:sp>
    </p:spTree>
    <p:extLst>
      <p:ext uri="{BB962C8B-B14F-4D97-AF65-F5344CB8AC3E}">
        <p14:creationId xmlns:p14="http://schemas.microsoft.com/office/powerpoint/2010/main" val="329709488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t>When I say audit your team’s data and automation skills, I mean really take stock of what you already have. Who knows Power Query? Who can write a bit of Python or create a simple flow in Power Automate? Before you chase shiny new AI tools, get a baseline of your current capabilities.</a:t>
            </a:r>
          </a:p>
          <a:p>
            <a:endParaRPr lang="en-US" b="0" dirty="0"/>
          </a:p>
          <a:p>
            <a:r>
              <a:rPr lang="en-US" b="0" dirty="0"/>
              <a:t>Next, start small with Office Scripts and Power Automate. These are great low-risk ways to build repeatable logic and connect Excel to other systems. Once you understand how those pieces work, Agent Mode and Copilot will make a lot more sense.</a:t>
            </a:r>
          </a:p>
          <a:p>
            <a:endParaRPr lang="en-US" b="0" dirty="0"/>
          </a:p>
          <a:p>
            <a:r>
              <a:rPr lang="en-US" b="0" dirty="0"/>
              <a:t>Then, experiment safely with Copilot and Agent Mode. Try them in sandboxed files or low-stakes tasks. Learn how they interpret prompts, where they struggle, and how they can support your workflows. The goal is to build trust with the tools before relying on them in production.</a:t>
            </a:r>
          </a:p>
          <a:p>
            <a:r>
              <a:rPr lang="en-US" b="0" dirty="0"/>
              <a:t>From there, build a roadmap for AI adoption and governance. This is where system thinking comes in. Decide which processes to automate, who owns the workflows, and how you will review and audit results. This ensures the technology actually scales.</a:t>
            </a:r>
          </a:p>
          <a:p>
            <a:endParaRPr lang="en-US" b="0" dirty="0"/>
          </a:p>
          <a:p>
            <a:r>
              <a:rPr lang="en-US" b="0" dirty="0"/>
              <a:t>Finally, book a discovery call to plan your next moves. Every organization is at a different stage with these tools, and having a plan makes all the difference. I can help you map the skills, systems, and priorities that will make this stack work for you.</a:t>
            </a:r>
          </a:p>
          <a:p>
            <a:endParaRPr lang="en-US" b="0" dirty="0"/>
          </a:p>
        </p:txBody>
      </p:sp>
      <p:sp>
        <p:nvSpPr>
          <p:cNvPr id="4" name="Slide Number Placeholder 3"/>
          <p:cNvSpPr>
            <a:spLocks noGrp="1"/>
          </p:cNvSpPr>
          <p:nvPr>
            <p:ph type="sldNum" sz="quarter" idx="5"/>
          </p:nvPr>
        </p:nvSpPr>
        <p:spPr/>
        <p:txBody>
          <a:bodyPr/>
          <a:lstStyle/>
          <a:p>
            <a:fld id="{FFB500C5-13F7-48FC-8160-C29AECF6C602}" type="slidenum">
              <a:rPr lang="en-US" smtClean="0"/>
              <a:t>16</a:t>
            </a:fld>
            <a:endParaRPr lang="en-US"/>
          </a:p>
        </p:txBody>
      </p:sp>
    </p:spTree>
    <p:extLst>
      <p:ext uri="{BB962C8B-B14F-4D97-AF65-F5344CB8AC3E}">
        <p14:creationId xmlns:p14="http://schemas.microsoft.com/office/powerpoint/2010/main" val="245590439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11/19/2025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11/19/2025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11/19/2025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11/19/2025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11/19/2025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11/19/2025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11/19/2025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11/19/2025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11/19/2025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11/19/2025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11/19/2025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11/19/2025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8.jpeg"/><Relationship Id="rId2" Type="http://schemas.openxmlformats.org/officeDocument/2006/relationships/image" Target="../media/image3.jpeg"/><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jpeg"/></Relationships>
</file>

<file path=ppt/slides/_rels/slide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8" Type="http://schemas.microsoft.com/office/2007/relationships/diagramDrawing" Target="../diagrams/drawing1.xml"/><Relationship Id="rId3" Type="http://schemas.openxmlformats.org/officeDocument/2006/relationships/image" Target="../media/image9.png"/><Relationship Id="rId7" Type="http://schemas.openxmlformats.org/officeDocument/2006/relationships/diagramColors" Target="../diagrams/colors1.xml"/><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diagramQuickStyle" Target="../diagrams/quickStyle1.xml"/><Relationship Id="rId5" Type="http://schemas.openxmlformats.org/officeDocument/2006/relationships/diagramLayout" Target="../diagrams/layout1.xml"/><Relationship Id="rId4" Type="http://schemas.openxmlformats.org/officeDocument/2006/relationships/diagramData" Target="../diagrams/data1.xml"/></Relationships>
</file>

<file path=ppt/slides/_rels/slide5.xml.rels><?xml version="1.0" encoding="UTF-8" standalone="yes"?>
<Relationships xmlns="http://schemas.openxmlformats.org/package/2006/relationships"><Relationship Id="rId8" Type="http://schemas.microsoft.com/office/2007/relationships/diagramDrawing" Target="../diagrams/drawing2.xml"/><Relationship Id="rId3" Type="http://schemas.openxmlformats.org/officeDocument/2006/relationships/image" Target="../media/image9.png"/><Relationship Id="rId7" Type="http://schemas.openxmlformats.org/officeDocument/2006/relationships/diagramColors" Target="../diagrams/colors2.xml"/><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diagramQuickStyle" Target="../diagrams/quickStyle2.xml"/><Relationship Id="rId5" Type="http://schemas.openxmlformats.org/officeDocument/2006/relationships/diagramLayout" Target="../diagrams/layout2.xml"/><Relationship Id="rId4" Type="http://schemas.openxmlformats.org/officeDocument/2006/relationships/diagramData" Target="../diagrams/data2.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hyperlink" Target="https://blog.tobiaszwingmann.com/p/integration-automation-ai-framework"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1.xml"/><Relationship Id="rId4" Type="http://schemas.openxmlformats.org/officeDocument/2006/relationships/image" Target="../media/image14.png"/></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1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16.png"/></Relationships>
</file>

<file path=ppt/slides/_rels/slide16.xml.rels><?xml version="1.0" encoding="UTF-8" standalone="yes"?>
<Relationships xmlns="http://schemas.openxmlformats.org/package/2006/relationships"><Relationship Id="rId3" Type="http://schemas.openxmlformats.org/officeDocument/2006/relationships/hyperlink" Target="https://globalexcelsummit.com/product/becoming-a-citizen-developer-with-power-platform" TargetMode="External"/><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1.xml"/><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58EB9D66-9CB4-B474-27D6-F594F19E2A76}"/>
              </a:ext>
            </a:extLst>
          </p:cNvPr>
          <p:cNvPicPr>
            <a:picLocks noChangeAspect="1"/>
          </p:cNvPicPr>
          <p:nvPr/>
        </p:nvPicPr>
        <p:blipFill>
          <a:blip r:embed="rId2"/>
          <a:srcRect/>
          <a:stretch/>
        </p:blipFill>
        <p:spPr>
          <a:xfrm>
            <a:off x="0" y="0"/>
            <a:ext cx="18288000" cy="10287000"/>
          </a:xfrm>
          <a:prstGeom prst="rect">
            <a:avLst/>
          </a:prstGeom>
        </p:spPr>
      </p:pic>
      <p:sp>
        <p:nvSpPr>
          <p:cNvPr id="2" name="Title 1">
            <a:extLst>
              <a:ext uri="{FF2B5EF4-FFF2-40B4-BE49-F238E27FC236}">
                <a16:creationId xmlns:a16="http://schemas.microsoft.com/office/drawing/2014/main" id="{6F578B23-3522-A45E-113D-CFC55209E2C5}"/>
              </a:ext>
            </a:extLst>
          </p:cNvPr>
          <p:cNvSpPr>
            <a:spLocks noGrp="1"/>
          </p:cNvSpPr>
          <p:nvPr>
            <p:ph type="ctrTitle"/>
          </p:nvPr>
        </p:nvSpPr>
        <p:spPr>
          <a:xfrm>
            <a:off x="2286000" y="2598656"/>
            <a:ext cx="13716000" cy="3581400"/>
          </a:xfrm>
        </p:spPr>
        <p:txBody>
          <a:bodyPr>
            <a:normAutofit fontScale="90000"/>
          </a:bodyPr>
          <a:lstStyle/>
          <a:p>
            <a:r>
              <a:rPr lang="en-US" sz="9900" b="1" dirty="0">
                <a:solidFill>
                  <a:srgbClr val="241F62"/>
                </a:solidFill>
                <a:latin typeface="+mn-lt"/>
              </a:rPr>
              <a:t>AI comes to Excel: Building your first Excel agent</a:t>
            </a:r>
            <a:endParaRPr lang="en-BG" sz="9900" b="1" dirty="0">
              <a:solidFill>
                <a:srgbClr val="241F62"/>
              </a:solidFill>
              <a:latin typeface="+mn-lt"/>
            </a:endParaRPr>
          </a:p>
        </p:txBody>
      </p:sp>
      <p:pic>
        <p:nvPicPr>
          <p:cNvPr id="7" name="Picture 6">
            <a:extLst>
              <a:ext uri="{FF2B5EF4-FFF2-40B4-BE49-F238E27FC236}">
                <a16:creationId xmlns:a16="http://schemas.microsoft.com/office/drawing/2014/main" id="{CADADD3B-A58B-45A3-D5DF-D99E4EB05D2C}"/>
              </a:ext>
            </a:extLst>
          </p:cNvPr>
          <p:cNvPicPr>
            <a:picLocks noChangeAspect="1"/>
          </p:cNvPicPr>
          <p:nvPr/>
        </p:nvPicPr>
        <p:blipFill>
          <a:blip r:embed="rId3"/>
          <a:srcRect b="22069"/>
          <a:stretch/>
        </p:blipFill>
        <p:spPr>
          <a:xfrm>
            <a:off x="8153400" y="8430867"/>
            <a:ext cx="1981200" cy="979833"/>
          </a:xfrm>
          <a:prstGeom prst="rect">
            <a:avLst/>
          </a:prstGeom>
        </p:spPr>
      </p:pic>
      <p:sp>
        <p:nvSpPr>
          <p:cNvPr id="3" name="Title 1">
            <a:extLst>
              <a:ext uri="{FF2B5EF4-FFF2-40B4-BE49-F238E27FC236}">
                <a16:creationId xmlns:a16="http://schemas.microsoft.com/office/drawing/2014/main" id="{51C8D1E5-24B9-FEAC-440F-B059007D73CE}"/>
              </a:ext>
            </a:extLst>
          </p:cNvPr>
          <p:cNvSpPr txBox="1">
            <a:spLocks/>
          </p:cNvSpPr>
          <p:nvPr/>
        </p:nvSpPr>
        <p:spPr>
          <a:xfrm>
            <a:off x="13454742" y="548858"/>
            <a:ext cx="4082145" cy="945771"/>
          </a:xfrm>
          <a:prstGeom prst="rect">
            <a:avLst/>
          </a:prstGeom>
        </p:spPr>
        <p:txBody>
          <a:bodyPr vert="horz" lIns="137160" tIns="68580" rIns="137160" bIns="68580" rtlCol="0" anchor="ctr">
            <a:normAutofit/>
          </a:bodyPr>
          <a:lstStyle>
            <a:lvl1pPr algn="l" defTabSz="914400" rtl="0" eaLnBrk="1" latinLnBrk="0" hangingPunct="1">
              <a:lnSpc>
                <a:spcPct val="90000"/>
              </a:lnSpc>
              <a:spcBef>
                <a:spcPct val="0"/>
              </a:spcBef>
              <a:buNone/>
              <a:defRPr sz="4800" b="1" kern="1200">
                <a:solidFill>
                  <a:schemeClr val="bg1"/>
                </a:solidFill>
                <a:latin typeface="+mn-lt"/>
                <a:ea typeface="+mj-ea"/>
                <a:cs typeface="+mj-cs"/>
              </a:defRPr>
            </a:lvl1pPr>
          </a:lstStyle>
          <a:p>
            <a:r>
              <a:rPr lang="en-GB" sz="4200" dirty="0">
                <a:solidFill>
                  <a:srgbClr val="241F62"/>
                </a:solidFill>
                <a:latin typeface="+mj-lt"/>
              </a:rPr>
              <a:t>George Mount</a:t>
            </a:r>
            <a:endParaRPr lang="en-BG" sz="4200" dirty="0">
              <a:solidFill>
                <a:srgbClr val="241F62"/>
              </a:solidFill>
              <a:latin typeface="+mj-lt"/>
            </a:endParaRPr>
          </a:p>
        </p:txBody>
      </p:sp>
    </p:spTree>
    <p:extLst>
      <p:ext uri="{BB962C8B-B14F-4D97-AF65-F5344CB8AC3E}">
        <p14:creationId xmlns:p14="http://schemas.microsoft.com/office/powerpoint/2010/main" val="27575643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0"/>
            <a:ext cx="18288000" cy="10287000"/>
          </a:xfrm>
          <a:prstGeom prst="rect">
            <a:avLst/>
          </a:prstGeom>
          <a:solidFill>
            <a:srgbClr val="CF333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5" name="TextBox 4"/>
          <p:cNvSpPr txBox="1"/>
          <p:nvPr/>
        </p:nvSpPr>
        <p:spPr>
          <a:xfrm>
            <a:off x="781292" y="590309"/>
            <a:ext cx="15486926" cy="1615827"/>
          </a:xfrm>
          <a:prstGeom prst="rect">
            <a:avLst/>
          </a:prstGeom>
          <a:noFill/>
        </p:spPr>
        <p:txBody>
          <a:bodyPr wrap="square" rtlCol="0">
            <a:spAutoFit/>
          </a:bodyPr>
          <a:lstStyle/>
          <a:p>
            <a:r>
              <a:rPr lang="en-US" sz="9900" b="1" dirty="0">
                <a:solidFill>
                  <a:schemeClr val="bg1"/>
                </a:solidFill>
                <a:latin typeface="Normafixed Tryout" panose="00000409000000000000" pitchFamily="49" charset="0"/>
              </a:rPr>
              <a:t>About me</a:t>
            </a:r>
          </a:p>
        </p:txBody>
      </p:sp>
      <p:pic>
        <p:nvPicPr>
          <p:cNvPr id="3" name="Picture 4" descr="Advancing into Analytics Cover Image">
            <a:extLst>
              <a:ext uri="{FF2B5EF4-FFF2-40B4-BE49-F238E27FC236}">
                <a16:creationId xmlns:a16="http://schemas.microsoft.com/office/drawing/2014/main" id="{588F684B-18EF-D76C-5F7B-15E4BAD60643}"/>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4077075" y="195640"/>
            <a:ext cx="3130385" cy="4088666"/>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7" descr="Logo&#10;&#10;Description automatically generated">
            <a:extLst>
              <a:ext uri="{FF2B5EF4-FFF2-40B4-BE49-F238E27FC236}">
                <a16:creationId xmlns:a16="http://schemas.microsoft.com/office/drawing/2014/main" id="{97E0F267-87DF-961E-1FAA-47FD4F27A5C6}"/>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91730" y="1029387"/>
            <a:ext cx="7448309" cy="5462681"/>
          </a:xfrm>
          <a:prstGeom prst="rect">
            <a:avLst/>
          </a:prstGeom>
        </p:spPr>
      </p:pic>
      <p:pic>
        <p:nvPicPr>
          <p:cNvPr id="1026" name="Picture 2" descr="Modern data analytics in Excel book cover">
            <a:extLst>
              <a:ext uri="{FF2B5EF4-FFF2-40B4-BE49-F238E27FC236}">
                <a16:creationId xmlns:a16="http://schemas.microsoft.com/office/drawing/2014/main" id="{874ADA5E-A7A7-1D02-C728-513187DE1EF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144000" y="2080485"/>
            <a:ext cx="3437261" cy="4507995"/>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descr="Microsoft Most Valuable Professional - Wikipedia">
            <a:extLst>
              <a:ext uri="{FF2B5EF4-FFF2-40B4-BE49-F238E27FC236}">
                <a16:creationId xmlns:a16="http://schemas.microsoft.com/office/drawing/2014/main" id="{36C71929-5967-B93D-05FE-E330D621C59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806530" y="7521455"/>
            <a:ext cx="5057775" cy="2028825"/>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2" descr="Global Excel Summit (9-11 February 2022) - Microsoft Excel Conference">
            <a:extLst>
              <a:ext uri="{FF2B5EF4-FFF2-40B4-BE49-F238E27FC236}">
                <a16:creationId xmlns:a16="http://schemas.microsoft.com/office/drawing/2014/main" id="{EA545C86-0986-E2A5-4B62-E3E41804715B}"/>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502896" y="3743408"/>
            <a:ext cx="3437261" cy="3437261"/>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linkedinlearninginstructor #linkedinlearning | Thais Cooke | 80 comments">
            <a:extLst>
              <a:ext uri="{FF2B5EF4-FFF2-40B4-BE49-F238E27FC236}">
                <a16:creationId xmlns:a16="http://schemas.microsoft.com/office/drawing/2014/main" id="{2E947460-3FEE-CFC7-623B-C27CBE0D9E13}"/>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2954000" y="7292317"/>
            <a:ext cx="5018711" cy="206484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7290117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extBox 10"/>
          <p:cNvSpPr txBox="1"/>
          <p:nvPr/>
        </p:nvSpPr>
        <p:spPr>
          <a:xfrm>
            <a:off x="520861" y="170082"/>
            <a:ext cx="11979797" cy="2862322"/>
          </a:xfrm>
          <a:prstGeom prst="rect">
            <a:avLst/>
          </a:prstGeom>
          <a:noFill/>
        </p:spPr>
        <p:txBody>
          <a:bodyPr wrap="square" rtlCol="0">
            <a:spAutoFit/>
          </a:bodyPr>
          <a:lstStyle/>
          <a:p>
            <a:r>
              <a:rPr lang="en-US" sz="9000" dirty="0">
                <a:latin typeface="Aliens &amp; cows" panose="00000500000000000000" pitchFamily="2" charset="0"/>
              </a:rPr>
              <a:t>Objectives for this session</a:t>
            </a:r>
          </a:p>
        </p:txBody>
      </p:sp>
      <p:sp>
        <p:nvSpPr>
          <p:cNvPr id="3" name="TextBox 2"/>
          <p:cNvSpPr txBox="1"/>
          <p:nvPr/>
        </p:nvSpPr>
        <p:spPr>
          <a:xfrm>
            <a:off x="520861" y="3191948"/>
            <a:ext cx="14393120" cy="3970318"/>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4200" dirty="0">
                <a:solidFill>
                  <a:srgbClr val="707070"/>
                </a:solidFill>
                <a:latin typeface="Pragmatica" panose="020B0403040502020204" pitchFamily="34" charset="0"/>
              </a:rPr>
              <a:t>Explore the difference between Copilot and Agent Mode in Excel</a:t>
            </a:r>
          </a:p>
          <a:p>
            <a:pPr marL="685800" indent="-685800">
              <a:buClr>
                <a:srgbClr val="CF3338"/>
              </a:buClr>
              <a:buFont typeface="Arial" panose="020B0604020202020204" pitchFamily="34" charset="0"/>
              <a:buChar char="•"/>
            </a:pPr>
            <a:r>
              <a:rPr lang="en-US" sz="4200" dirty="0">
                <a:solidFill>
                  <a:srgbClr val="707070"/>
                </a:solidFill>
                <a:latin typeface="Pragmatica" panose="020B0403040502020204" pitchFamily="34" charset="0"/>
              </a:rPr>
              <a:t>Build your first Agent Mode tool in Excel using natural language prompts</a:t>
            </a:r>
          </a:p>
          <a:p>
            <a:pPr marL="685800" indent="-685800">
              <a:buClr>
                <a:srgbClr val="CF3338"/>
              </a:buClr>
              <a:buFont typeface="Arial" panose="020B0604020202020204" pitchFamily="34" charset="0"/>
              <a:buChar char="•"/>
            </a:pPr>
            <a:r>
              <a:rPr lang="en-US" sz="4200" dirty="0">
                <a:solidFill>
                  <a:srgbClr val="707070"/>
                </a:solidFill>
                <a:latin typeface="Pragmatica" panose="020B0403040502020204" pitchFamily="34" charset="0"/>
              </a:rPr>
              <a:t>Understand how Excel Agents fit into the Microsoft AI ecosystem (Copilot Studio, Power Platform, etc.)</a:t>
            </a:r>
          </a:p>
        </p:txBody>
      </p:sp>
      <p:pic>
        <p:nvPicPr>
          <p:cNvPr id="15" name="Picture 14" descr="A close up of a sign&#10;&#10;Description automatically generated">
            <a:extLst>
              <a:ext uri="{FF2B5EF4-FFF2-40B4-BE49-F238E27FC236}">
                <a16:creationId xmlns:a16="http://schemas.microsoft.com/office/drawing/2014/main" id="{29761B90-A7DE-4A60-A915-F085BD87CAB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78707638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C899E4-3D67-4F5C-9D65-EF5EF52CB1B4}"/>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2245D936-66D9-DF0F-F77B-2AE73828D767}"/>
              </a:ext>
            </a:extLst>
          </p:cNvPr>
          <p:cNvSpPr txBox="1"/>
          <p:nvPr/>
        </p:nvSpPr>
        <p:spPr>
          <a:xfrm>
            <a:off x="520861" y="170082"/>
            <a:ext cx="16395539" cy="1477328"/>
          </a:xfrm>
          <a:prstGeom prst="rect">
            <a:avLst/>
          </a:prstGeom>
          <a:noFill/>
        </p:spPr>
        <p:txBody>
          <a:bodyPr wrap="square" rtlCol="0">
            <a:spAutoFit/>
          </a:bodyPr>
          <a:lstStyle/>
          <a:p>
            <a:r>
              <a:rPr lang="en-US" sz="9000" dirty="0">
                <a:latin typeface="Aliens &amp; cows" panose="00000500000000000000" pitchFamily="2" charset="0"/>
              </a:rPr>
              <a:t>Remember when Excel got…</a:t>
            </a:r>
          </a:p>
        </p:txBody>
      </p:sp>
      <p:pic>
        <p:nvPicPr>
          <p:cNvPr id="15" name="Picture 14" descr="A close up of a sign&#10;&#10;Description automatically generated">
            <a:extLst>
              <a:ext uri="{FF2B5EF4-FFF2-40B4-BE49-F238E27FC236}">
                <a16:creationId xmlns:a16="http://schemas.microsoft.com/office/drawing/2014/main" id="{7FC47B52-F116-9B07-9F82-E4A341395C2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graphicFrame>
        <p:nvGraphicFramePr>
          <p:cNvPr id="2" name="Diagram 1">
            <a:extLst>
              <a:ext uri="{FF2B5EF4-FFF2-40B4-BE49-F238E27FC236}">
                <a16:creationId xmlns:a16="http://schemas.microsoft.com/office/drawing/2014/main" id="{F3762FA8-595D-366F-D814-2F4111A487F4}"/>
              </a:ext>
            </a:extLst>
          </p:cNvPr>
          <p:cNvGraphicFramePr/>
          <p:nvPr>
            <p:extLst>
              <p:ext uri="{D42A27DB-BD31-4B8C-83A1-F6EECF244321}">
                <p14:modId xmlns:p14="http://schemas.microsoft.com/office/powerpoint/2010/main" val="3703804162"/>
              </p:ext>
            </p:extLst>
          </p:nvPr>
        </p:nvGraphicFramePr>
        <p:xfrm>
          <a:off x="1371600" y="1333500"/>
          <a:ext cx="12192000" cy="8128000"/>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311208445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C68A8F-238B-F149-883B-EC39513349C8}"/>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DD7566E4-0615-C523-0C0B-1436446427E8}"/>
              </a:ext>
            </a:extLst>
          </p:cNvPr>
          <p:cNvSpPr txBox="1"/>
          <p:nvPr/>
        </p:nvSpPr>
        <p:spPr>
          <a:xfrm>
            <a:off x="520861" y="170082"/>
            <a:ext cx="16395539" cy="9787295"/>
          </a:xfrm>
          <a:prstGeom prst="rect">
            <a:avLst/>
          </a:prstGeom>
          <a:noFill/>
        </p:spPr>
        <p:txBody>
          <a:bodyPr wrap="square" rtlCol="0">
            <a:spAutoFit/>
          </a:bodyPr>
          <a:lstStyle/>
          <a:p>
            <a:r>
              <a:rPr lang="en-US" sz="9000" dirty="0">
                <a:latin typeface="Aliens &amp; cows" panose="00000500000000000000" pitchFamily="2" charset="0"/>
              </a:rPr>
              <a:t>Remember when Excel got…</a:t>
            </a:r>
          </a:p>
          <a:p>
            <a:endParaRPr lang="en-US" sz="9000" dirty="0">
              <a:latin typeface="Aliens &amp; cows" panose="00000500000000000000" pitchFamily="2" charset="0"/>
            </a:endParaRPr>
          </a:p>
          <a:p>
            <a:endParaRPr lang="en-US" sz="9000" dirty="0">
              <a:latin typeface="Aliens &amp; cows" panose="00000500000000000000" pitchFamily="2" charset="0"/>
            </a:endParaRPr>
          </a:p>
          <a:p>
            <a:endParaRPr lang="en-US" sz="9000" dirty="0">
              <a:latin typeface="Aliens &amp; cows" panose="00000500000000000000" pitchFamily="2" charset="0"/>
            </a:endParaRPr>
          </a:p>
          <a:p>
            <a:endParaRPr lang="en-US" sz="9000" dirty="0">
              <a:latin typeface="Aliens &amp; cows" panose="00000500000000000000" pitchFamily="2" charset="0"/>
            </a:endParaRPr>
          </a:p>
          <a:p>
            <a:endParaRPr lang="en-US" sz="9000" dirty="0">
              <a:latin typeface="Aliens &amp; cows" panose="00000500000000000000" pitchFamily="2" charset="0"/>
            </a:endParaRPr>
          </a:p>
          <a:p>
            <a:r>
              <a:rPr lang="en-US" sz="7200" dirty="0">
                <a:latin typeface="Aliens &amp; cows" panose="00000500000000000000" pitchFamily="2" charset="0"/>
              </a:rPr>
              <a:t>Now it’s getting AI agents!</a:t>
            </a:r>
            <a:endParaRPr lang="en-US" sz="9000" dirty="0">
              <a:latin typeface="Aliens &amp; cows" panose="00000500000000000000" pitchFamily="2" charset="0"/>
            </a:endParaRPr>
          </a:p>
        </p:txBody>
      </p:sp>
      <p:pic>
        <p:nvPicPr>
          <p:cNvPr id="15" name="Picture 14" descr="A close up of a sign&#10;&#10;Description automatically generated">
            <a:extLst>
              <a:ext uri="{FF2B5EF4-FFF2-40B4-BE49-F238E27FC236}">
                <a16:creationId xmlns:a16="http://schemas.microsoft.com/office/drawing/2014/main" id="{46818568-EDBC-7BFE-3043-22CA89C97F2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graphicFrame>
        <p:nvGraphicFramePr>
          <p:cNvPr id="2" name="Diagram 1">
            <a:extLst>
              <a:ext uri="{FF2B5EF4-FFF2-40B4-BE49-F238E27FC236}">
                <a16:creationId xmlns:a16="http://schemas.microsoft.com/office/drawing/2014/main" id="{95373B1F-0E74-5415-E434-6EEC8C37F1D4}"/>
              </a:ext>
            </a:extLst>
          </p:cNvPr>
          <p:cNvGraphicFramePr/>
          <p:nvPr>
            <p:extLst>
              <p:ext uri="{D42A27DB-BD31-4B8C-83A1-F6EECF244321}">
                <p14:modId xmlns:p14="http://schemas.microsoft.com/office/powerpoint/2010/main" val="2049646212"/>
              </p:ext>
            </p:extLst>
          </p:nvPr>
        </p:nvGraphicFramePr>
        <p:xfrm>
          <a:off x="1371600" y="1333500"/>
          <a:ext cx="12192000" cy="8128000"/>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120658782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5B8467-3264-164E-245A-CA973080BF71}"/>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663C3EA9-9B9C-11DC-B9AA-2A75B2C1D4E1}"/>
              </a:ext>
            </a:extLst>
          </p:cNvPr>
          <p:cNvSpPr txBox="1"/>
          <p:nvPr/>
        </p:nvSpPr>
        <p:spPr>
          <a:xfrm>
            <a:off x="520861" y="170082"/>
            <a:ext cx="11979797" cy="2862322"/>
          </a:xfrm>
          <a:prstGeom prst="rect">
            <a:avLst/>
          </a:prstGeom>
          <a:noFill/>
        </p:spPr>
        <p:txBody>
          <a:bodyPr wrap="square" rtlCol="0">
            <a:spAutoFit/>
          </a:bodyPr>
          <a:lstStyle/>
          <a:p>
            <a:r>
              <a:rPr lang="en-US" sz="9000" dirty="0">
                <a:latin typeface="Aliens &amp; cows" panose="00000500000000000000" pitchFamily="2" charset="0"/>
              </a:rPr>
              <a:t>What Microsoft means by “agent”</a:t>
            </a:r>
          </a:p>
        </p:txBody>
      </p:sp>
      <p:sp>
        <p:nvSpPr>
          <p:cNvPr id="3" name="TextBox 2">
            <a:extLst>
              <a:ext uri="{FF2B5EF4-FFF2-40B4-BE49-F238E27FC236}">
                <a16:creationId xmlns:a16="http://schemas.microsoft.com/office/drawing/2014/main" id="{6B4AC10A-C819-B1A8-EDB5-937D9D353771}"/>
              </a:ext>
            </a:extLst>
          </p:cNvPr>
          <p:cNvSpPr txBox="1"/>
          <p:nvPr/>
        </p:nvSpPr>
        <p:spPr>
          <a:xfrm>
            <a:off x="520861" y="3191948"/>
            <a:ext cx="14393120" cy="4616648"/>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4200" dirty="0">
                <a:solidFill>
                  <a:srgbClr val="707070"/>
                </a:solidFill>
                <a:latin typeface="Pragmatica" panose="020B0403040502020204" pitchFamily="34" charset="0"/>
              </a:rPr>
              <a:t>An agent is an AI system that can understand goals, reason about steps, and take actions to complete a task.</a:t>
            </a:r>
          </a:p>
          <a:p>
            <a:pPr marL="685800" indent="-685800">
              <a:buClr>
                <a:srgbClr val="CF3338"/>
              </a:buClr>
              <a:buFont typeface="Arial" panose="020B0604020202020204" pitchFamily="34" charset="0"/>
              <a:buChar char="•"/>
            </a:pPr>
            <a:r>
              <a:rPr lang="en-US" sz="4200" dirty="0">
                <a:solidFill>
                  <a:srgbClr val="707070"/>
                </a:solidFill>
                <a:latin typeface="Pragmatica" panose="020B0403040502020204" pitchFamily="34" charset="0"/>
              </a:rPr>
              <a:t>Goes beyond Q&amp;A → performs multi-step workflows driven by user intent.</a:t>
            </a:r>
          </a:p>
          <a:p>
            <a:pPr marL="685800" indent="-685800">
              <a:buClr>
                <a:srgbClr val="CF3338"/>
              </a:buClr>
              <a:buFont typeface="Arial" panose="020B0604020202020204" pitchFamily="34" charset="0"/>
              <a:buChar char="•"/>
            </a:pPr>
            <a:r>
              <a:rPr lang="en-US" sz="4200" dirty="0">
                <a:solidFill>
                  <a:srgbClr val="707070"/>
                </a:solidFill>
                <a:latin typeface="Pragmatica" panose="020B0403040502020204" pitchFamily="34" charset="0"/>
              </a:rPr>
              <a:t>Uses memory, tools, and environment signals to stay on track.</a:t>
            </a:r>
          </a:p>
          <a:p>
            <a:pPr marL="685800" indent="-685800">
              <a:buClr>
                <a:srgbClr val="CF3338"/>
              </a:buClr>
              <a:buFont typeface="Arial" panose="020B0604020202020204" pitchFamily="34" charset="0"/>
              <a:buChar char="•"/>
            </a:pPr>
            <a:r>
              <a:rPr lang="en-US" sz="4200" dirty="0">
                <a:solidFill>
                  <a:srgbClr val="707070"/>
                </a:solidFill>
                <a:latin typeface="Pragmatica" panose="020B0403040502020204" pitchFamily="34" charset="0"/>
              </a:rPr>
              <a:t>Designed to be autonomous but bounded (rules, safety, context).</a:t>
            </a:r>
          </a:p>
        </p:txBody>
      </p:sp>
      <p:pic>
        <p:nvPicPr>
          <p:cNvPr id="15" name="Picture 14" descr="A close up of a sign&#10;&#10;Description automatically generated">
            <a:extLst>
              <a:ext uri="{FF2B5EF4-FFF2-40B4-BE49-F238E27FC236}">
                <a16:creationId xmlns:a16="http://schemas.microsoft.com/office/drawing/2014/main" id="{B63E6436-73B5-9AF2-AAA0-310632B9B9C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57340828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F5349B-DB31-7CF0-253B-40E005108FA5}"/>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F2656377-103E-7009-5B54-C4B68D82227D}"/>
              </a:ext>
            </a:extLst>
          </p:cNvPr>
          <p:cNvSpPr/>
          <p:nvPr/>
        </p:nvSpPr>
        <p:spPr>
          <a:xfrm>
            <a:off x="9861630" y="0"/>
            <a:ext cx="8426370" cy="10287000"/>
          </a:xfrm>
          <a:prstGeom prst="rect">
            <a:avLst/>
          </a:prstGeom>
          <a:solidFill>
            <a:srgbClr val="CF333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pic>
        <p:nvPicPr>
          <p:cNvPr id="2" name="Picture 1">
            <a:extLst>
              <a:ext uri="{FF2B5EF4-FFF2-40B4-BE49-F238E27FC236}">
                <a16:creationId xmlns:a16="http://schemas.microsoft.com/office/drawing/2014/main" id="{3E7DFBDB-D475-7CC0-8525-A9747D8D0849}"/>
              </a:ext>
            </a:extLst>
          </p:cNvPr>
          <p:cNvPicPr>
            <a:picLocks noChangeAspect="1"/>
          </p:cNvPicPr>
          <p:nvPr/>
        </p:nvPicPr>
        <p:blipFill rotWithShape="1">
          <a:blip r:embed="rId3">
            <a:extLst>
              <a:ext uri="{28A0092B-C50C-407E-A947-70E740481C1C}">
                <a14:useLocalDpi xmlns:a14="http://schemas.microsoft.com/office/drawing/2010/main" val="0"/>
              </a:ext>
            </a:extLst>
          </a:blip>
          <a:srcRect l="69227" t="33418" r="20112" b="50548"/>
          <a:stretch/>
        </p:blipFill>
        <p:spPr>
          <a:xfrm>
            <a:off x="15579524" y="7544693"/>
            <a:ext cx="2708477" cy="2987579"/>
          </a:xfrm>
          <a:prstGeom prst="rect">
            <a:avLst/>
          </a:prstGeom>
        </p:spPr>
      </p:pic>
      <p:sp>
        <p:nvSpPr>
          <p:cNvPr id="3" name="TextBox 2">
            <a:extLst>
              <a:ext uri="{FF2B5EF4-FFF2-40B4-BE49-F238E27FC236}">
                <a16:creationId xmlns:a16="http://schemas.microsoft.com/office/drawing/2014/main" id="{975AF735-7C85-1BA0-0030-14B6DCFFCC84}"/>
              </a:ext>
            </a:extLst>
          </p:cNvPr>
          <p:cNvSpPr txBox="1"/>
          <p:nvPr/>
        </p:nvSpPr>
        <p:spPr>
          <a:xfrm>
            <a:off x="260431" y="329879"/>
            <a:ext cx="8906720" cy="6153479"/>
          </a:xfrm>
          <a:prstGeom prst="rect">
            <a:avLst/>
          </a:prstGeom>
          <a:noFill/>
        </p:spPr>
        <p:txBody>
          <a:bodyPr wrap="square" rtlCol="0">
            <a:spAutoFit/>
          </a:bodyPr>
          <a:lstStyle/>
          <a:p>
            <a:r>
              <a:rPr lang="en-US" sz="6000" b="1" dirty="0">
                <a:solidFill>
                  <a:srgbClr val="CF3338"/>
                </a:solidFill>
                <a:latin typeface="Pragmatica" panose="020B0403040502020204" pitchFamily="34" charset="0"/>
              </a:rPr>
              <a:t>Demo: Researcher &amp; Analyst agents</a:t>
            </a:r>
          </a:p>
          <a:p>
            <a:endParaRPr lang="en-US" sz="4200" dirty="0">
              <a:solidFill>
                <a:srgbClr val="CF3338"/>
              </a:solidFill>
              <a:latin typeface="Pragmatica" panose="020B0403040502020204" pitchFamily="34" charset="0"/>
            </a:endParaRPr>
          </a:p>
          <a:p>
            <a:pPr marL="685800" indent="-542925">
              <a:lnSpc>
                <a:spcPct val="115000"/>
              </a:lnSpc>
              <a:spcBef>
                <a:spcPts val="1125"/>
              </a:spcBef>
              <a:buClr>
                <a:srgbClr val="C00000"/>
              </a:buClr>
              <a:buSzPts val="2100"/>
              <a:buFont typeface="Arial"/>
              <a:buAutoNum type="arabicPeriod"/>
            </a:pPr>
            <a:r>
              <a:rPr lang="en-US" sz="3600" dirty="0">
                <a:solidFill>
                  <a:srgbClr val="C00000"/>
                </a:solidFill>
                <a:latin typeface="Pragmatica" panose="020B0403040502020204"/>
                <a:sym typeface="Consolas"/>
              </a:rPr>
              <a:t>Researcher agent: framing questions and gathering context</a:t>
            </a:r>
          </a:p>
          <a:p>
            <a:pPr marL="685800" indent="-542925">
              <a:lnSpc>
                <a:spcPct val="115000"/>
              </a:lnSpc>
              <a:spcBef>
                <a:spcPts val="1125"/>
              </a:spcBef>
              <a:buClr>
                <a:srgbClr val="C00000"/>
              </a:buClr>
              <a:buSzPts val="2100"/>
              <a:buFont typeface="Arial"/>
              <a:buAutoNum type="arabicPeriod"/>
            </a:pPr>
            <a:r>
              <a:rPr lang="en-US" sz="3600" dirty="0">
                <a:solidFill>
                  <a:srgbClr val="C00000"/>
                </a:solidFill>
                <a:latin typeface="Pragmatica" panose="020B0403040502020204"/>
                <a:sym typeface="Consolas"/>
              </a:rPr>
              <a:t>Analyst agent: analyzing, visualizing, and executing with data</a:t>
            </a:r>
          </a:p>
          <a:p>
            <a:pPr marL="142875">
              <a:lnSpc>
                <a:spcPct val="115000"/>
              </a:lnSpc>
              <a:spcBef>
                <a:spcPts val="1125"/>
              </a:spcBef>
              <a:buClr>
                <a:srgbClr val="C00000"/>
              </a:buClr>
              <a:buSzPts val="2100"/>
            </a:pPr>
            <a:r>
              <a:rPr lang="en-US" sz="3600" dirty="0">
                <a:solidFill>
                  <a:srgbClr val="C00000"/>
                </a:solidFill>
                <a:latin typeface="Pragmatica" panose="020B0403040502020204"/>
                <a:sym typeface="Consolas"/>
              </a:rPr>
              <a:t>Dataset: </a:t>
            </a:r>
            <a:r>
              <a:rPr lang="en-US" sz="3600" dirty="0">
                <a:solidFill>
                  <a:srgbClr val="C00000"/>
                </a:solidFill>
                <a:latin typeface="Consolas" panose="020B0609020204030204" pitchFamily="49" charset="0"/>
                <a:sym typeface="Consolas"/>
              </a:rPr>
              <a:t>analyst-researcher.xlsx</a:t>
            </a:r>
          </a:p>
        </p:txBody>
      </p:sp>
    </p:spTree>
    <p:extLst>
      <p:ext uri="{BB962C8B-B14F-4D97-AF65-F5344CB8AC3E}">
        <p14:creationId xmlns:p14="http://schemas.microsoft.com/office/powerpoint/2010/main" val="329221581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0C3270-992F-73FB-7E73-4DA42D379BBE}"/>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85358931-C887-DF08-D582-E12AD136D695}"/>
              </a:ext>
            </a:extLst>
          </p:cNvPr>
          <p:cNvSpPr txBox="1"/>
          <p:nvPr/>
        </p:nvSpPr>
        <p:spPr>
          <a:xfrm>
            <a:off x="520861" y="170082"/>
            <a:ext cx="16395539" cy="1200329"/>
          </a:xfrm>
          <a:prstGeom prst="rect">
            <a:avLst/>
          </a:prstGeom>
          <a:noFill/>
        </p:spPr>
        <p:txBody>
          <a:bodyPr wrap="square" rtlCol="0">
            <a:spAutoFit/>
          </a:bodyPr>
          <a:lstStyle/>
          <a:p>
            <a:r>
              <a:rPr lang="en-US" sz="7200" dirty="0">
                <a:latin typeface="Aliens &amp; cows" panose="00000500000000000000" pitchFamily="2" charset="0"/>
              </a:rPr>
              <a:t>The integration-automation AI framework</a:t>
            </a:r>
          </a:p>
        </p:txBody>
      </p:sp>
      <p:pic>
        <p:nvPicPr>
          <p:cNvPr id="15" name="Picture 14" descr="A close up of a sign&#10;&#10;Description automatically generated">
            <a:extLst>
              <a:ext uri="{FF2B5EF4-FFF2-40B4-BE49-F238E27FC236}">
                <a16:creationId xmlns:a16="http://schemas.microsoft.com/office/drawing/2014/main" id="{88701840-B113-B321-9200-F6ADD5F263A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
        <p:nvSpPr>
          <p:cNvPr id="4" name="TextBox 3">
            <a:extLst>
              <a:ext uri="{FF2B5EF4-FFF2-40B4-BE49-F238E27FC236}">
                <a16:creationId xmlns:a16="http://schemas.microsoft.com/office/drawing/2014/main" id="{057A3FD3-5C03-0966-77FB-885E6BFE811D}"/>
              </a:ext>
            </a:extLst>
          </p:cNvPr>
          <p:cNvSpPr txBox="1"/>
          <p:nvPr/>
        </p:nvSpPr>
        <p:spPr>
          <a:xfrm>
            <a:off x="152400" y="7254596"/>
            <a:ext cx="3446118" cy="2862322"/>
          </a:xfrm>
          <a:prstGeom prst="rect">
            <a:avLst/>
          </a:prstGeom>
          <a:noFill/>
        </p:spPr>
        <p:txBody>
          <a:bodyPr wrap="square">
            <a:spAutoFit/>
          </a:bodyPr>
          <a:lstStyle/>
          <a:p>
            <a:r>
              <a:rPr lang="en-US" sz="3600" dirty="0">
                <a:hlinkClick r:id="rId4">
                  <a:extLst>
                    <a:ext uri="{A12FA001-AC4F-418D-AE19-62706E023703}">
                      <ahyp:hlinkClr xmlns:ahyp="http://schemas.microsoft.com/office/drawing/2018/hyperlinkcolor" val="tx"/>
                    </a:ext>
                  </a:extLst>
                </a:hlinkClick>
              </a:rPr>
              <a:t>https://blog.tobiaszwingmann.com/p/integration-automation-ai-framework</a:t>
            </a:r>
            <a:r>
              <a:rPr lang="en-US" sz="3600" dirty="0"/>
              <a:t> </a:t>
            </a:r>
          </a:p>
        </p:txBody>
      </p:sp>
      <p:pic>
        <p:nvPicPr>
          <p:cNvPr id="3074" name="Picture 2">
            <a:extLst>
              <a:ext uri="{FF2B5EF4-FFF2-40B4-BE49-F238E27FC236}">
                <a16:creationId xmlns:a16="http://schemas.microsoft.com/office/drawing/2014/main" id="{BD67A6B6-57FE-1727-C346-ED9D61BE407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886200" y="1369361"/>
            <a:ext cx="10287000" cy="873424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9297176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1B2F53-9CBC-02CA-9A51-ED2E8A944633}"/>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1DA59A59-1845-383F-38E2-0337D6AE0BFB}"/>
              </a:ext>
            </a:extLst>
          </p:cNvPr>
          <p:cNvSpPr txBox="1"/>
          <p:nvPr/>
        </p:nvSpPr>
        <p:spPr>
          <a:xfrm>
            <a:off x="520861" y="170082"/>
            <a:ext cx="16395539" cy="1200329"/>
          </a:xfrm>
          <a:prstGeom prst="rect">
            <a:avLst/>
          </a:prstGeom>
          <a:noFill/>
        </p:spPr>
        <p:txBody>
          <a:bodyPr wrap="square" rtlCol="0">
            <a:spAutoFit/>
          </a:bodyPr>
          <a:lstStyle/>
          <a:p>
            <a:r>
              <a:rPr lang="en-US" sz="7200" dirty="0">
                <a:latin typeface="Aliens &amp; cows" panose="00000500000000000000" pitchFamily="2" charset="0"/>
              </a:rPr>
              <a:t>Excel Copilot vs Excel Agent Mode</a:t>
            </a:r>
          </a:p>
        </p:txBody>
      </p:sp>
      <p:pic>
        <p:nvPicPr>
          <p:cNvPr id="15" name="Picture 14" descr="A close up of a sign&#10;&#10;Description automatically generated">
            <a:extLst>
              <a:ext uri="{FF2B5EF4-FFF2-40B4-BE49-F238E27FC236}">
                <a16:creationId xmlns:a16="http://schemas.microsoft.com/office/drawing/2014/main" id="{25B7AACD-032E-784C-D92C-BF6F5751F60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graphicFrame>
        <p:nvGraphicFramePr>
          <p:cNvPr id="3" name="Table 2">
            <a:extLst>
              <a:ext uri="{FF2B5EF4-FFF2-40B4-BE49-F238E27FC236}">
                <a16:creationId xmlns:a16="http://schemas.microsoft.com/office/drawing/2014/main" id="{A7829486-E1C2-6EFC-4E09-983F9108F30F}"/>
              </a:ext>
            </a:extLst>
          </p:cNvPr>
          <p:cNvGraphicFramePr>
            <a:graphicFrameLocks noGrp="1"/>
          </p:cNvGraphicFramePr>
          <p:nvPr>
            <p:extLst>
              <p:ext uri="{D42A27DB-BD31-4B8C-83A1-F6EECF244321}">
                <p14:modId xmlns:p14="http://schemas.microsoft.com/office/powerpoint/2010/main" val="3681093686"/>
              </p:ext>
            </p:extLst>
          </p:nvPr>
        </p:nvGraphicFramePr>
        <p:xfrm>
          <a:off x="457200" y="1714340"/>
          <a:ext cx="14401800" cy="7162962"/>
        </p:xfrm>
        <a:graphic>
          <a:graphicData uri="http://schemas.openxmlformats.org/drawingml/2006/table">
            <a:tbl>
              <a:tblPr/>
              <a:tblGrid>
                <a:gridCol w="4800600">
                  <a:extLst>
                    <a:ext uri="{9D8B030D-6E8A-4147-A177-3AD203B41FA5}">
                      <a16:colId xmlns:a16="http://schemas.microsoft.com/office/drawing/2014/main" val="4201771282"/>
                    </a:ext>
                  </a:extLst>
                </a:gridCol>
                <a:gridCol w="4800600">
                  <a:extLst>
                    <a:ext uri="{9D8B030D-6E8A-4147-A177-3AD203B41FA5}">
                      <a16:colId xmlns:a16="http://schemas.microsoft.com/office/drawing/2014/main" val="777237233"/>
                    </a:ext>
                  </a:extLst>
                </a:gridCol>
                <a:gridCol w="4800600">
                  <a:extLst>
                    <a:ext uri="{9D8B030D-6E8A-4147-A177-3AD203B41FA5}">
                      <a16:colId xmlns:a16="http://schemas.microsoft.com/office/drawing/2014/main" val="673316634"/>
                    </a:ext>
                  </a:extLst>
                </a:gridCol>
              </a:tblGrid>
              <a:tr h="609614">
                <a:tc>
                  <a:txBody>
                    <a:bodyPr/>
                    <a:lstStyle/>
                    <a:p>
                      <a:pPr>
                        <a:buNone/>
                      </a:pPr>
                      <a:r>
                        <a:rPr lang="en-US" sz="3200" b="1"/>
                        <a:t>Feature</a:t>
                      </a:r>
                      <a:endParaRPr lang="en-US" sz="32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b="1"/>
                        <a:t>Excel Copilot</a:t>
                      </a:r>
                      <a:endParaRPr lang="en-US" sz="32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b="1"/>
                        <a:t>Agent Mode</a:t>
                      </a:r>
                      <a:endParaRPr lang="en-US" sz="32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06272724"/>
                  </a:ext>
                </a:extLst>
              </a:tr>
              <a:tr h="1066824">
                <a:tc>
                  <a:txBody>
                    <a:bodyPr/>
                    <a:lstStyle/>
                    <a:p>
                      <a:pPr>
                        <a:buNone/>
                      </a:pPr>
                      <a:r>
                        <a:rPr lang="en-US" sz="3200" b="1"/>
                        <a:t>Interaction</a:t>
                      </a:r>
                      <a:endParaRPr lang="en-US" sz="32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a:t>One-shot prompts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a:t>Iterative, self-guided workflow</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3507712"/>
                  </a:ext>
                </a:extLst>
              </a:tr>
              <a:tr h="1066824">
                <a:tc>
                  <a:txBody>
                    <a:bodyPr/>
                    <a:lstStyle/>
                    <a:p>
                      <a:pPr>
                        <a:buNone/>
                      </a:pPr>
                      <a:r>
                        <a:rPr lang="en-US" sz="3200" b="1"/>
                        <a:t>Task Scope</a:t>
                      </a:r>
                      <a:endParaRPr lang="en-US" sz="32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a:t>Single actions (formulas, charts, summaries)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a:t>Multi-step processes across sheets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82026323"/>
                  </a:ext>
                </a:extLst>
              </a:tr>
              <a:tr h="1066824">
                <a:tc>
                  <a:txBody>
                    <a:bodyPr/>
                    <a:lstStyle/>
                    <a:p>
                      <a:pPr>
                        <a:buNone/>
                      </a:pPr>
                      <a:r>
                        <a:rPr lang="en-US" sz="3200" b="1"/>
                        <a:t>Error Handling</a:t>
                      </a:r>
                      <a:endParaRPr lang="en-US" sz="32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a:t>User re-prompts or fixes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a:t>Agent reviews, retries, self-corrects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5923970"/>
                  </a:ext>
                </a:extLst>
              </a:tr>
              <a:tr h="1066824">
                <a:tc>
                  <a:txBody>
                    <a:bodyPr/>
                    <a:lstStyle/>
                    <a:p>
                      <a:pPr>
                        <a:buNone/>
                      </a:pPr>
                      <a:r>
                        <a:rPr lang="en-US" sz="3200" b="1"/>
                        <a:t>User Role</a:t>
                      </a:r>
                      <a:endParaRPr lang="en-US" sz="32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dirty="0"/>
                        <a:t>You do, Copilot helps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a:t>You manage, Agent executes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97454490"/>
                  </a:ext>
                </a:extLst>
              </a:tr>
              <a:tr h="609614">
                <a:tc>
                  <a:txBody>
                    <a:bodyPr/>
                    <a:lstStyle/>
                    <a:p>
                      <a:pPr>
                        <a:buNone/>
                      </a:pPr>
                      <a:r>
                        <a:rPr lang="en-US" sz="3200" b="1"/>
                        <a:t>Output Quality</a:t>
                      </a:r>
                      <a:endParaRPr lang="en-US" sz="32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dirty="0"/>
                        <a:t>Fast but shallow</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a:t>Verified and repeatable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21303429"/>
                  </a:ext>
                </a:extLst>
              </a:tr>
              <a:tr h="1066824">
                <a:tc>
                  <a:txBody>
                    <a:bodyPr/>
                    <a:lstStyle/>
                    <a:p>
                      <a:pPr>
                        <a:buNone/>
                      </a:pPr>
                      <a:r>
                        <a:rPr lang="en-US" sz="3200" b="1"/>
                        <a:t>Best For</a:t>
                      </a:r>
                      <a:endParaRPr lang="en-US" sz="32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a:t>Quick wins, ad-hoc tasks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a:t>Structured, high-stakes workflows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88752908"/>
                  </a:ext>
                </a:extLst>
              </a:tr>
              <a:tr h="609614">
                <a:tc>
                  <a:txBody>
                    <a:bodyPr/>
                    <a:lstStyle/>
                    <a:p>
                      <a:pPr>
                        <a:buNone/>
                      </a:pPr>
                      <a:r>
                        <a:rPr lang="en-US" sz="3200" b="1"/>
                        <a:t>Analogy</a:t>
                      </a:r>
                      <a:endParaRPr lang="en-US" sz="32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a:t>Smart assistant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dirty="0"/>
                        <a:t>Junior analyst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05630930"/>
                  </a:ext>
                </a:extLst>
              </a:tr>
            </a:tbl>
          </a:graphicData>
        </a:graphic>
      </p:graphicFrame>
    </p:spTree>
    <p:extLst>
      <p:ext uri="{BB962C8B-B14F-4D97-AF65-F5344CB8AC3E}">
        <p14:creationId xmlns:p14="http://schemas.microsoft.com/office/powerpoint/2010/main" val="246028112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9861630" y="0"/>
            <a:ext cx="8426370" cy="10287000"/>
          </a:xfrm>
          <a:prstGeom prst="rect">
            <a:avLst/>
          </a:prstGeom>
          <a:solidFill>
            <a:srgbClr val="CF333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pic>
        <p:nvPicPr>
          <p:cNvPr id="2" name="Picture 1"/>
          <p:cNvPicPr>
            <a:picLocks noChangeAspect="1"/>
          </p:cNvPicPr>
          <p:nvPr/>
        </p:nvPicPr>
        <p:blipFill rotWithShape="1">
          <a:blip r:embed="rId3">
            <a:extLst>
              <a:ext uri="{28A0092B-C50C-407E-A947-70E740481C1C}">
                <a14:useLocalDpi xmlns:a14="http://schemas.microsoft.com/office/drawing/2010/main" val="0"/>
              </a:ext>
            </a:extLst>
          </a:blip>
          <a:srcRect l="69227" t="33418" r="20112" b="50548"/>
          <a:stretch/>
        </p:blipFill>
        <p:spPr>
          <a:xfrm>
            <a:off x="15579524" y="7544693"/>
            <a:ext cx="2708477" cy="2987579"/>
          </a:xfrm>
          <a:prstGeom prst="rect">
            <a:avLst/>
          </a:prstGeom>
        </p:spPr>
      </p:pic>
      <p:sp>
        <p:nvSpPr>
          <p:cNvPr id="3" name="TextBox 2"/>
          <p:cNvSpPr txBox="1"/>
          <p:nvPr/>
        </p:nvSpPr>
        <p:spPr>
          <a:xfrm>
            <a:off x="260431" y="329879"/>
            <a:ext cx="8906720" cy="8490401"/>
          </a:xfrm>
          <a:prstGeom prst="rect">
            <a:avLst/>
          </a:prstGeom>
          <a:noFill/>
        </p:spPr>
        <p:txBody>
          <a:bodyPr wrap="square" rtlCol="0">
            <a:spAutoFit/>
          </a:bodyPr>
          <a:lstStyle/>
          <a:p>
            <a:r>
              <a:rPr lang="en-US" sz="6000" b="1" dirty="0">
                <a:solidFill>
                  <a:srgbClr val="CF3338"/>
                </a:solidFill>
                <a:latin typeface="Pragmatica" panose="020B0403040502020204" pitchFamily="34" charset="0"/>
              </a:rPr>
              <a:t>Demo: Agent Mode in action</a:t>
            </a:r>
          </a:p>
          <a:p>
            <a:endParaRPr lang="en-US" sz="4200" dirty="0">
              <a:solidFill>
                <a:srgbClr val="CF3338"/>
              </a:solidFill>
              <a:latin typeface="Pragmatica" panose="020B0403040502020204" pitchFamily="34" charset="0"/>
            </a:endParaRPr>
          </a:p>
          <a:p>
            <a:pPr marL="685800" indent="-542925">
              <a:lnSpc>
                <a:spcPct val="115000"/>
              </a:lnSpc>
              <a:spcBef>
                <a:spcPts val="1125"/>
              </a:spcBef>
              <a:buClr>
                <a:srgbClr val="C00000"/>
              </a:buClr>
              <a:buSzPts val="2100"/>
              <a:buFont typeface="Arial"/>
              <a:buAutoNum type="arabicPeriod"/>
            </a:pPr>
            <a:r>
              <a:rPr lang="en-US" sz="3600" dirty="0">
                <a:solidFill>
                  <a:srgbClr val="C00000"/>
                </a:solidFill>
                <a:latin typeface="Pragmatica" panose="020B0403040502020204"/>
                <a:sym typeface="Consolas"/>
              </a:rPr>
              <a:t>Loan calculator</a:t>
            </a:r>
          </a:p>
          <a:p>
            <a:pPr marL="685800" indent="-542925">
              <a:lnSpc>
                <a:spcPct val="115000"/>
              </a:lnSpc>
              <a:spcBef>
                <a:spcPts val="1125"/>
              </a:spcBef>
              <a:buClr>
                <a:srgbClr val="C00000"/>
              </a:buClr>
              <a:buSzPts val="2100"/>
              <a:buFont typeface="Arial"/>
              <a:buAutoNum type="arabicPeriod"/>
            </a:pPr>
            <a:r>
              <a:rPr lang="en-US" sz="3600" dirty="0">
                <a:solidFill>
                  <a:srgbClr val="C00000"/>
                </a:solidFill>
                <a:latin typeface="Pragmatica" panose="020B0403040502020204"/>
                <a:sym typeface="Consolas"/>
              </a:rPr>
              <a:t>Variance analysis</a:t>
            </a:r>
          </a:p>
          <a:p>
            <a:pPr marL="685800" indent="-542925">
              <a:lnSpc>
                <a:spcPct val="115000"/>
              </a:lnSpc>
              <a:spcBef>
                <a:spcPts val="1125"/>
              </a:spcBef>
              <a:buClr>
                <a:srgbClr val="C00000"/>
              </a:buClr>
              <a:buSzPts val="2100"/>
              <a:buFont typeface="Arial"/>
              <a:buAutoNum type="arabicPeriod"/>
            </a:pPr>
            <a:r>
              <a:rPr lang="en-US" sz="3600" dirty="0">
                <a:solidFill>
                  <a:srgbClr val="C00000"/>
                </a:solidFill>
                <a:latin typeface="Pragmatica" panose="020B0403040502020204"/>
                <a:sym typeface="Consolas"/>
              </a:rPr>
              <a:t>Monthly close pack</a:t>
            </a:r>
          </a:p>
          <a:p>
            <a:pPr marL="685800" indent="-542925">
              <a:lnSpc>
                <a:spcPct val="115000"/>
              </a:lnSpc>
              <a:spcBef>
                <a:spcPts val="1125"/>
              </a:spcBef>
              <a:buClr>
                <a:srgbClr val="C00000"/>
              </a:buClr>
              <a:buSzPts val="2100"/>
              <a:buFont typeface="Arial"/>
              <a:buAutoNum type="arabicPeriod"/>
            </a:pPr>
            <a:endParaRPr lang="en-US" sz="3600" dirty="0">
              <a:solidFill>
                <a:srgbClr val="C00000"/>
              </a:solidFill>
              <a:latin typeface="Pragmatica" panose="020B0403040502020204"/>
              <a:sym typeface="Consolas"/>
            </a:endParaRPr>
          </a:p>
          <a:p>
            <a:pPr marL="142875">
              <a:lnSpc>
                <a:spcPct val="115000"/>
              </a:lnSpc>
              <a:spcBef>
                <a:spcPts val="1125"/>
              </a:spcBef>
              <a:buClr>
                <a:srgbClr val="C00000"/>
              </a:buClr>
              <a:buSzPts val="2100"/>
            </a:pPr>
            <a:r>
              <a:rPr lang="en-US" sz="3600" dirty="0">
                <a:solidFill>
                  <a:srgbClr val="C00000"/>
                </a:solidFill>
                <a:latin typeface="Pragmatica" panose="020B0403040502020204"/>
                <a:sym typeface="Consolas"/>
              </a:rPr>
              <a:t>What does Agent Mode do well, poorly, or not at all? </a:t>
            </a:r>
          </a:p>
          <a:p>
            <a:pPr marL="142875">
              <a:lnSpc>
                <a:spcPct val="115000"/>
              </a:lnSpc>
              <a:spcBef>
                <a:spcPts val="1125"/>
              </a:spcBef>
              <a:buClr>
                <a:srgbClr val="C00000"/>
              </a:buClr>
              <a:buSzPts val="2100"/>
            </a:pPr>
            <a:r>
              <a:rPr lang="en-US" sz="3600" dirty="0">
                <a:solidFill>
                  <a:srgbClr val="C00000"/>
                </a:solidFill>
                <a:latin typeface="Pragmatica" panose="020B0403040502020204"/>
                <a:sym typeface="Consolas"/>
              </a:rPr>
              <a:t>How does this relate to other tools in the Excel AI stack?</a:t>
            </a:r>
            <a:endParaRPr lang="en-US" sz="3600" dirty="0">
              <a:solidFill>
                <a:srgbClr val="C00000"/>
              </a:solidFill>
              <a:latin typeface="Consolas" panose="020B0609020204030204" pitchFamily="49" charset="0"/>
              <a:sym typeface="Consolas"/>
            </a:endParaRPr>
          </a:p>
        </p:txBody>
      </p:sp>
    </p:spTree>
    <p:extLst>
      <p:ext uri="{BB962C8B-B14F-4D97-AF65-F5344CB8AC3E}">
        <p14:creationId xmlns:p14="http://schemas.microsoft.com/office/powerpoint/2010/main" val="387153177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0FB617-C0E7-3228-013C-BAC06730C5D4}"/>
            </a:ext>
          </a:extLst>
        </p:cNvPr>
        <p:cNvGrpSpPr/>
        <p:nvPr/>
      </p:nvGrpSpPr>
      <p:grpSpPr>
        <a:xfrm>
          <a:off x="0" y="0"/>
          <a:ext cx="0" cy="0"/>
          <a:chOff x="0" y="0"/>
          <a:chExt cx="0" cy="0"/>
        </a:xfrm>
      </p:grpSpPr>
      <p:pic>
        <p:nvPicPr>
          <p:cNvPr id="15" name="Picture 14" descr="A close up of a sign&#10;&#10;Description automatically generated">
            <a:extLst>
              <a:ext uri="{FF2B5EF4-FFF2-40B4-BE49-F238E27FC236}">
                <a16:creationId xmlns:a16="http://schemas.microsoft.com/office/drawing/2014/main" id="{E21B4799-3E87-1700-15F4-3686FC94E35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pic>
        <p:nvPicPr>
          <p:cNvPr id="1026" name="Picture 2">
            <a:extLst>
              <a:ext uri="{FF2B5EF4-FFF2-40B4-BE49-F238E27FC236}">
                <a16:creationId xmlns:a16="http://schemas.microsoft.com/office/drawing/2014/main" id="{9F1D89B2-86AC-689C-CB18-860F1A902B8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267200" y="266700"/>
            <a:ext cx="9753600" cy="9753600"/>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94252A70-2368-1C9D-63DF-7611C458B4EF}"/>
              </a:ext>
            </a:extLst>
          </p:cNvPr>
          <p:cNvSpPr txBox="1"/>
          <p:nvPr/>
        </p:nvSpPr>
        <p:spPr>
          <a:xfrm>
            <a:off x="516282" y="8648700"/>
            <a:ext cx="2590800" cy="1200329"/>
          </a:xfrm>
          <a:prstGeom prst="rect">
            <a:avLst/>
          </a:prstGeom>
          <a:noFill/>
        </p:spPr>
        <p:txBody>
          <a:bodyPr wrap="square">
            <a:spAutoFit/>
          </a:bodyPr>
          <a:lstStyle/>
          <a:p>
            <a:r>
              <a:rPr lang="en-US" dirty="0"/>
              <a:t>https://stringfestanalytics.com/how-to-understand-the-modern-excel-ai-stack/</a:t>
            </a:r>
          </a:p>
        </p:txBody>
      </p:sp>
    </p:spTree>
    <p:extLst>
      <p:ext uri="{BB962C8B-B14F-4D97-AF65-F5344CB8AC3E}">
        <p14:creationId xmlns:p14="http://schemas.microsoft.com/office/powerpoint/2010/main" val="111675490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57B6D4-A9E1-18F2-6B90-35C6049AD10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6E0BF99-428F-FCDD-2CFB-DD415B3C63E1}"/>
              </a:ext>
            </a:extLst>
          </p:cNvPr>
          <p:cNvSpPr/>
          <p:nvPr/>
        </p:nvSpPr>
        <p:spPr>
          <a:xfrm>
            <a:off x="9861630" y="0"/>
            <a:ext cx="8426370" cy="10287000"/>
          </a:xfrm>
          <a:prstGeom prst="rect">
            <a:avLst/>
          </a:prstGeom>
          <a:solidFill>
            <a:srgbClr val="CF333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pic>
        <p:nvPicPr>
          <p:cNvPr id="2" name="Picture 1">
            <a:extLst>
              <a:ext uri="{FF2B5EF4-FFF2-40B4-BE49-F238E27FC236}">
                <a16:creationId xmlns:a16="http://schemas.microsoft.com/office/drawing/2014/main" id="{84C0E755-7B20-E689-DED8-011B122B9B5A}"/>
              </a:ext>
            </a:extLst>
          </p:cNvPr>
          <p:cNvPicPr>
            <a:picLocks noChangeAspect="1"/>
          </p:cNvPicPr>
          <p:nvPr/>
        </p:nvPicPr>
        <p:blipFill rotWithShape="1">
          <a:blip r:embed="rId3">
            <a:extLst>
              <a:ext uri="{28A0092B-C50C-407E-A947-70E740481C1C}">
                <a14:useLocalDpi xmlns:a14="http://schemas.microsoft.com/office/drawing/2010/main" val="0"/>
              </a:ext>
            </a:extLst>
          </a:blip>
          <a:srcRect l="69227" t="33418" r="20112" b="50548"/>
          <a:stretch/>
        </p:blipFill>
        <p:spPr>
          <a:xfrm>
            <a:off x="15579524" y="7544693"/>
            <a:ext cx="2708477" cy="2987579"/>
          </a:xfrm>
          <a:prstGeom prst="rect">
            <a:avLst/>
          </a:prstGeom>
        </p:spPr>
      </p:pic>
      <p:sp>
        <p:nvSpPr>
          <p:cNvPr id="3" name="TextBox 2">
            <a:extLst>
              <a:ext uri="{FF2B5EF4-FFF2-40B4-BE49-F238E27FC236}">
                <a16:creationId xmlns:a16="http://schemas.microsoft.com/office/drawing/2014/main" id="{45C6A793-A02D-6141-B68A-AED83B08EEA7}"/>
              </a:ext>
            </a:extLst>
          </p:cNvPr>
          <p:cNvSpPr txBox="1"/>
          <p:nvPr/>
        </p:nvSpPr>
        <p:spPr>
          <a:xfrm>
            <a:off x="260431" y="329879"/>
            <a:ext cx="8906720" cy="9480031"/>
          </a:xfrm>
          <a:prstGeom prst="rect">
            <a:avLst/>
          </a:prstGeom>
          <a:noFill/>
        </p:spPr>
        <p:txBody>
          <a:bodyPr wrap="square" rtlCol="0">
            <a:spAutoFit/>
          </a:bodyPr>
          <a:lstStyle/>
          <a:p>
            <a:r>
              <a:rPr lang="en-US" sz="6000" b="1" dirty="0">
                <a:solidFill>
                  <a:srgbClr val="CF3338"/>
                </a:solidFill>
                <a:latin typeface="Pragmatica" panose="020B0403040502020204" pitchFamily="34" charset="0"/>
              </a:rPr>
              <a:t>Creating an Excel MVP chatbot</a:t>
            </a:r>
          </a:p>
          <a:p>
            <a:endParaRPr lang="en-US" sz="4200" dirty="0">
              <a:solidFill>
                <a:srgbClr val="CF3338"/>
              </a:solidFill>
              <a:latin typeface="Pragmatica" panose="020B0403040502020204" pitchFamily="34" charset="0"/>
            </a:endParaRPr>
          </a:p>
          <a:p>
            <a:pPr marL="685800" indent="-542925">
              <a:lnSpc>
                <a:spcPct val="115000"/>
              </a:lnSpc>
              <a:spcBef>
                <a:spcPts val="1125"/>
              </a:spcBef>
              <a:buClr>
                <a:srgbClr val="C00000"/>
              </a:buClr>
              <a:buSzPts val="2100"/>
              <a:buFont typeface="Arial"/>
              <a:buAutoNum type="arabicPeriod"/>
            </a:pPr>
            <a:r>
              <a:rPr lang="en-US" sz="3600" dirty="0">
                <a:solidFill>
                  <a:srgbClr val="C00000"/>
                </a:solidFill>
                <a:latin typeface="Pragmatica" panose="020B0403040502020204"/>
                <a:sym typeface="Consolas"/>
              </a:rPr>
              <a:t>Create a custom Copilot agent in Copilot Studio tailored for specific Excel-related use cases</a:t>
            </a:r>
          </a:p>
          <a:p>
            <a:pPr marL="685800" indent="-542925">
              <a:lnSpc>
                <a:spcPct val="115000"/>
              </a:lnSpc>
              <a:spcBef>
                <a:spcPts val="1125"/>
              </a:spcBef>
              <a:buClr>
                <a:srgbClr val="C00000"/>
              </a:buClr>
              <a:buSzPts val="2100"/>
              <a:buFont typeface="Arial"/>
              <a:buAutoNum type="arabicPeriod"/>
            </a:pPr>
            <a:r>
              <a:rPr lang="en-US" sz="3600" dirty="0">
                <a:solidFill>
                  <a:srgbClr val="C00000"/>
                </a:solidFill>
                <a:latin typeface="Pragmatica" panose="020B0403040502020204"/>
                <a:sym typeface="Consolas"/>
              </a:rPr>
              <a:t>Add and manage trusted knowledge sources (like MVP websites) to ensure high-quality, domain-specific responses</a:t>
            </a:r>
          </a:p>
          <a:p>
            <a:pPr marL="685800" indent="-542925">
              <a:lnSpc>
                <a:spcPct val="115000"/>
              </a:lnSpc>
              <a:spcBef>
                <a:spcPts val="1125"/>
              </a:spcBef>
              <a:buClr>
                <a:srgbClr val="C00000"/>
              </a:buClr>
              <a:buSzPts val="2100"/>
              <a:buFont typeface="Arial"/>
              <a:buAutoNum type="arabicPeriod"/>
            </a:pPr>
            <a:r>
              <a:rPr lang="en-US" sz="3600" dirty="0">
                <a:solidFill>
                  <a:srgbClr val="C00000"/>
                </a:solidFill>
                <a:latin typeface="Pragmatica" panose="020B0403040502020204"/>
                <a:sym typeface="Consolas"/>
              </a:rPr>
              <a:t>Test and publish the agent with simple topics added </a:t>
            </a:r>
          </a:p>
          <a:p>
            <a:pPr marL="142875">
              <a:lnSpc>
                <a:spcPct val="115000"/>
              </a:lnSpc>
              <a:spcBef>
                <a:spcPts val="1125"/>
              </a:spcBef>
              <a:buClr>
                <a:srgbClr val="C00000"/>
              </a:buClr>
              <a:buSzPts val="2100"/>
            </a:pPr>
            <a:r>
              <a:rPr lang="en-US" sz="3600" dirty="0">
                <a:solidFill>
                  <a:srgbClr val="C00000"/>
                </a:solidFill>
                <a:latin typeface="Pragmatica" panose="020B0403040502020204"/>
                <a:sym typeface="Consolas"/>
              </a:rPr>
              <a:t>File: </a:t>
            </a:r>
            <a:r>
              <a:rPr lang="en-US" sz="3600" dirty="0">
                <a:solidFill>
                  <a:srgbClr val="C00000"/>
                </a:solidFill>
                <a:latin typeface="Consolas" panose="020B0609020204030204" pitchFamily="49" charset="0"/>
                <a:sym typeface="Consolas"/>
              </a:rPr>
              <a:t>mvp-knowledge-base-instructions.docx</a:t>
            </a:r>
          </a:p>
        </p:txBody>
      </p:sp>
    </p:spTree>
    <p:extLst>
      <p:ext uri="{BB962C8B-B14F-4D97-AF65-F5344CB8AC3E}">
        <p14:creationId xmlns:p14="http://schemas.microsoft.com/office/powerpoint/2010/main" val="47161712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8C2A64-DE04-BD92-31A8-820C77D9746F}"/>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FEC22D6C-55B5-9EBB-6AEF-6E4DABFE9B0F}"/>
              </a:ext>
            </a:extLst>
          </p:cNvPr>
          <p:cNvPicPr>
            <a:picLocks noChangeAspect="1"/>
          </p:cNvPicPr>
          <p:nvPr/>
        </p:nvPicPr>
        <p:blipFill rotWithShape="1">
          <a:blip r:embed="rId2">
            <a:extLst>
              <a:ext uri="{28A0092B-C50C-407E-A947-70E740481C1C}">
                <a14:useLocalDpi xmlns:a14="http://schemas.microsoft.com/office/drawing/2010/main" val="0"/>
              </a:ext>
            </a:extLst>
          </a:blip>
          <a:srcRect l="50728" t="56371"/>
          <a:stretch/>
        </p:blipFill>
        <p:spPr>
          <a:xfrm>
            <a:off x="12204691" y="3316148"/>
            <a:ext cx="6083309" cy="6970854"/>
          </a:xfrm>
          <a:prstGeom prst="rect">
            <a:avLst/>
          </a:prstGeom>
        </p:spPr>
      </p:pic>
      <p:pic>
        <p:nvPicPr>
          <p:cNvPr id="4" name="Picture 3">
            <a:extLst>
              <a:ext uri="{FF2B5EF4-FFF2-40B4-BE49-F238E27FC236}">
                <a16:creationId xmlns:a16="http://schemas.microsoft.com/office/drawing/2014/main" id="{A5C23ED6-024D-6DB4-5772-2A38CA349FD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7744" y="-3724155"/>
            <a:ext cx="15257208" cy="11189825"/>
          </a:xfrm>
          <a:prstGeom prst="rect">
            <a:avLst/>
          </a:prstGeom>
        </p:spPr>
      </p:pic>
      <p:sp>
        <p:nvSpPr>
          <p:cNvPr id="11" name="TextBox 10">
            <a:extLst>
              <a:ext uri="{FF2B5EF4-FFF2-40B4-BE49-F238E27FC236}">
                <a16:creationId xmlns:a16="http://schemas.microsoft.com/office/drawing/2014/main" id="{8038220C-8358-352B-9440-F8C04CC09758}"/>
              </a:ext>
            </a:extLst>
          </p:cNvPr>
          <p:cNvSpPr txBox="1"/>
          <p:nvPr/>
        </p:nvSpPr>
        <p:spPr>
          <a:xfrm>
            <a:off x="486137" y="2531318"/>
            <a:ext cx="11979797" cy="923330"/>
          </a:xfrm>
          <a:prstGeom prst="rect">
            <a:avLst/>
          </a:prstGeom>
          <a:noFill/>
        </p:spPr>
        <p:txBody>
          <a:bodyPr wrap="square" rtlCol="0">
            <a:spAutoFit/>
          </a:bodyPr>
          <a:lstStyle/>
          <a:p>
            <a:r>
              <a:rPr lang="en-US" sz="5400" b="1" dirty="0">
                <a:solidFill>
                  <a:srgbClr val="CF3338"/>
                </a:solidFill>
                <a:latin typeface="Pragmatica" panose="020B0403040502020204" pitchFamily="34" charset="0"/>
              </a:rPr>
              <a:t>Questions?</a:t>
            </a:r>
          </a:p>
        </p:txBody>
      </p:sp>
      <p:pic>
        <p:nvPicPr>
          <p:cNvPr id="5" name="Picture 4">
            <a:extLst>
              <a:ext uri="{FF2B5EF4-FFF2-40B4-BE49-F238E27FC236}">
                <a16:creationId xmlns:a16="http://schemas.microsoft.com/office/drawing/2014/main" id="{B9C4B0BF-555F-0A08-E78F-4C9AB29B72CE}"/>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12204691" y="3317239"/>
            <a:ext cx="6083309" cy="6968672"/>
          </a:xfrm>
          <a:prstGeom prst="rect">
            <a:avLst/>
          </a:prstGeom>
        </p:spPr>
      </p:pic>
    </p:spTree>
    <p:extLst>
      <p:ext uri="{BB962C8B-B14F-4D97-AF65-F5344CB8AC3E}">
        <p14:creationId xmlns:p14="http://schemas.microsoft.com/office/powerpoint/2010/main" val="49955623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C98B75-B4E6-621C-E5FF-E91B93686488}"/>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44B16A43-7960-9C0B-5FEC-79C3B6725D25}"/>
              </a:ext>
            </a:extLst>
          </p:cNvPr>
          <p:cNvSpPr txBox="1"/>
          <p:nvPr/>
        </p:nvSpPr>
        <p:spPr>
          <a:xfrm>
            <a:off x="520861" y="170082"/>
            <a:ext cx="16395539" cy="1938992"/>
          </a:xfrm>
          <a:prstGeom prst="rect">
            <a:avLst/>
          </a:prstGeom>
          <a:noFill/>
        </p:spPr>
        <p:txBody>
          <a:bodyPr wrap="square" rtlCol="0">
            <a:spAutoFit/>
          </a:bodyPr>
          <a:lstStyle/>
          <a:p>
            <a:r>
              <a:rPr lang="en-US" sz="6000" dirty="0">
                <a:latin typeface="Aliens &amp; cows" panose="00000500000000000000" pitchFamily="2" charset="0"/>
              </a:rPr>
              <a:t>Automated AI workflows with Power Automate + Copilot </a:t>
            </a:r>
          </a:p>
        </p:txBody>
      </p:sp>
      <p:pic>
        <p:nvPicPr>
          <p:cNvPr id="15" name="Picture 14" descr="A close up of a sign&#10;&#10;Description automatically generated">
            <a:extLst>
              <a:ext uri="{FF2B5EF4-FFF2-40B4-BE49-F238E27FC236}">
                <a16:creationId xmlns:a16="http://schemas.microsoft.com/office/drawing/2014/main" id="{2D74052B-8ACF-437B-C4DC-8CBE14F0B36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
        <p:nvSpPr>
          <p:cNvPr id="4" name="TextBox 3">
            <a:extLst>
              <a:ext uri="{FF2B5EF4-FFF2-40B4-BE49-F238E27FC236}">
                <a16:creationId xmlns:a16="http://schemas.microsoft.com/office/drawing/2014/main" id="{B8C1EB5B-ED7A-D25D-8E41-6686DC70C2BA}"/>
              </a:ext>
            </a:extLst>
          </p:cNvPr>
          <p:cNvSpPr txBox="1"/>
          <p:nvPr/>
        </p:nvSpPr>
        <p:spPr>
          <a:xfrm>
            <a:off x="228600" y="9196959"/>
            <a:ext cx="15163800" cy="1200329"/>
          </a:xfrm>
          <a:prstGeom prst="rect">
            <a:avLst/>
          </a:prstGeom>
          <a:noFill/>
        </p:spPr>
        <p:txBody>
          <a:bodyPr wrap="square">
            <a:spAutoFit/>
          </a:bodyPr>
          <a:lstStyle/>
          <a:p>
            <a:r>
              <a:rPr lang="en-US" sz="3600" dirty="0"/>
              <a:t>Source: https://blog.tobiaszwingmann.com/p/ai-workflows-vs-ai-agents-vs-everything-in-between</a:t>
            </a:r>
          </a:p>
        </p:txBody>
      </p:sp>
      <p:pic>
        <p:nvPicPr>
          <p:cNvPr id="2052" name="Picture 4">
            <a:extLst>
              <a:ext uri="{FF2B5EF4-FFF2-40B4-BE49-F238E27FC236}">
                <a16:creationId xmlns:a16="http://schemas.microsoft.com/office/drawing/2014/main" id="{855DDFC5-5083-02A7-A2F7-7CE52A0B4B30}"/>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27848"/>
          <a:stretch>
            <a:fillRect/>
          </a:stretch>
        </p:blipFill>
        <p:spPr bwMode="auto">
          <a:xfrm>
            <a:off x="1828800" y="2514600"/>
            <a:ext cx="15341318" cy="52578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8415371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AFFBA3-97A6-DA63-F5D2-28FD4463F02B}"/>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89B7EACC-66F8-71B7-745D-30FF25DB8890}"/>
              </a:ext>
            </a:extLst>
          </p:cNvPr>
          <p:cNvSpPr txBox="1"/>
          <p:nvPr/>
        </p:nvSpPr>
        <p:spPr>
          <a:xfrm>
            <a:off x="520861" y="170082"/>
            <a:ext cx="16395539" cy="923330"/>
          </a:xfrm>
          <a:prstGeom prst="rect">
            <a:avLst/>
          </a:prstGeom>
          <a:noFill/>
        </p:spPr>
        <p:txBody>
          <a:bodyPr wrap="square" rtlCol="0">
            <a:spAutoFit/>
          </a:bodyPr>
          <a:lstStyle/>
          <a:p>
            <a:r>
              <a:rPr lang="en-US" sz="5400" dirty="0">
                <a:latin typeface="Aliens &amp; cows" panose="00000500000000000000" pitchFamily="2" charset="0"/>
              </a:rPr>
              <a:t>Agentic workflows with Copilot Studio  + Agent Flows</a:t>
            </a:r>
          </a:p>
        </p:txBody>
      </p:sp>
      <p:pic>
        <p:nvPicPr>
          <p:cNvPr id="15" name="Picture 14" descr="A close up of a sign&#10;&#10;Description automatically generated">
            <a:extLst>
              <a:ext uri="{FF2B5EF4-FFF2-40B4-BE49-F238E27FC236}">
                <a16:creationId xmlns:a16="http://schemas.microsoft.com/office/drawing/2014/main" id="{4E9CDCDF-A7D1-E32F-4EBC-174712D7038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
        <p:nvSpPr>
          <p:cNvPr id="4" name="TextBox 3">
            <a:extLst>
              <a:ext uri="{FF2B5EF4-FFF2-40B4-BE49-F238E27FC236}">
                <a16:creationId xmlns:a16="http://schemas.microsoft.com/office/drawing/2014/main" id="{93680795-F53D-257D-9454-224111B5D4EB}"/>
              </a:ext>
            </a:extLst>
          </p:cNvPr>
          <p:cNvSpPr txBox="1"/>
          <p:nvPr/>
        </p:nvSpPr>
        <p:spPr>
          <a:xfrm>
            <a:off x="228600" y="9196959"/>
            <a:ext cx="15087600" cy="1200329"/>
          </a:xfrm>
          <a:prstGeom prst="rect">
            <a:avLst/>
          </a:prstGeom>
          <a:noFill/>
        </p:spPr>
        <p:txBody>
          <a:bodyPr wrap="square">
            <a:spAutoFit/>
          </a:bodyPr>
          <a:lstStyle/>
          <a:p>
            <a:r>
              <a:rPr lang="en-US" sz="3600" dirty="0"/>
              <a:t>Source: https://blog.tobiaszwingmann.com/p/ai-workflows-vs-ai-agents-vs-everything-in-between</a:t>
            </a:r>
          </a:p>
        </p:txBody>
      </p:sp>
      <p:pic>
        <p:nvPicPr>
          <p:cNvPr id="3074" name="Picture 2">
            <a:extLst>
              <a:ext uri="{FF2B5EF4-FFF2-40B4-BE49-F238E27FC236}">
                <a16:creationId xmlns:a16="http://schemas.microsoft.com/office/drawing/2014/main" id="{F5BC2C18-45FC-A6BA-CD00-8C167E4AA5D3}"/>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16332"/>
          <a:stretch>
            <a:fillRect/>
          </a:stretch>
        </p:blipFill>
        <p:spPr bwMode="auto">
          <a:xfrm>
            <a:off x="723900" y="1481633"/>
            <a:ext cx="16840200" cy="732373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393305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B51C78-F10E-3F23-F9DF-9C818C8D56B6}"/>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B50F672D-6587-1754-62CF-3B756392B992}"/>
              </a:ext>
            </a:extLst>
          </p:cNvPr>
          <p:cNvSpPr txBox="1"/>
          <p:nvPr/>
        </p:nvSpPr>
        <p:spPr>
          <a:xfrm>
            <a:off x="520861" y="170082"/>
            <a:ext cx="11979797" cy="1477328"/>
          </a:xfrm>
          <a:prstGeom prst="rect">
            <a:avLst/>
          </a:prstGeom>
          <a:noFill/>
        </p:spPr>
        <p:txBody>
          <a:bodyPr wrap="square" rtlCol="0">
            <a:spAutoFit/>
          </a:bodyPr>
          <a:lstStyle/>
          <a:p>
            <a:r>
              <a:rPr lang="en-US" sz="9000" dirty="0">
                <a:latin typeface="Aliens &amp; cows" panose="00000500000000000000" pitchFamily="2" charset="0"/>
              </a:rPr>
              <a:t>Next steps</a:t>
            </a:r>
          </a:p>
        </p:txBody>
      </p:sp>
      <p:sp>
        <p:nvSpPr>
          <p:cNvPr id="3" name="TextBox 2">
            <a:extLst>
              <a:ext uri="{FF2B5EF4-FFF2-40B4-BE49-F238E27FC236}">
                <a16:creationId xmlns:a16="http://schemas.microsoft.com/office/drawing/2014/main" id="{49B7597B-A1CA-D128-EACB-A1FA4B6B8F56}"/>
              </a:ext>
            </a:extLst>
          </p:cNvPr>
          <p:cNvSpPr txBox="1"/>
          <p:nvPr/>
        </p:nvSpPr>
        <p:spPr>
          <a:xfrm>
            <a:off x="520860" y="1866900"/>
            <a:ext cx="16776539" cy="6001643"/>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4800" dirty="0">
                <a:solidFill>
                  <a:srgbClr val="707070"/>
                </a:solidFill>
                <a:latin typeface="Pragmatica" panose="020B0403040502020204" pitchFamily="34" charset="0"/>
              </a:rPr>
              <a:t>Audit your team’s data and automation skills</a:t>
            </a:r>
          </a:p>
          <a:p>
            <a:pPr marL="685800" indent="-685800">
              <a:buClr>
                <a:srgbClr val="CF3338"/>
              </a:buClr>
              <a:buFont typeface="Arial" panose="020B0604020202020204" pitchFamily="34" charset="0"/>
              <a:buChar char="•"/>
            </a:pPr>
            <a:r>
              <a:rPr lang="en-US" sz="4800" dirty="0">
                <a:solidFill>
                  <a:srgbClr val="707070"/>
                </a:solidFill>
                <a:latin typeface="Pragmatica" panose="020B0403040502020204" pitchFamily="34" charset="0"/>
              </a:rPr>
              <a:t>Start small with Office Scripts and Power Automate</a:t>
            </a:r>
          </a:p>
          <a:p>
            <a:pPr marL="685800" indent="-685800">
              <a:buClr>
                <a:srgbClr val="CF3338"/>
              </a:buClr>
              <a:buFont typeface="Arial" panose="020B0604020202020204" pitchFamily="34" charset="0"/>
              <a:buChar char="•"/>
            </a:pPr>
            <a:r>
              <a:rPr lang="en-US" sz="4800" dirty="0">
                <a:solidFill>
                  <a:srgbClr val="707070"/>
                </a:solidFill>
                <a:latin typeface="Pragmatica" panose="020B0403040502020204" pitchFamily="34" charset="0"/>
              </a:rPr>
              <a:t>Experiment safely with Copilot and Agent Mode</a:t>
            </a:r>
          </a:p>
          <a:p>
            <a:pPr marL="685800" indent="-685800">
              <a:buClr>
                <a:srgbClr val="CF3338"/>
              </a:buClr>
              <a:buFont typeface="Arial" panose="020B0604020202020204" pitchFamily="34" charset="0"/>
              <a:buChar char="•"/>
            </a:pPr>
            <a:r>
              <a:rPr lang="en-US" sz="4800" dirty="0">
                <a:solidFill>
                  <a:srgbClr val="707070"/>
                </a:solidFill>
                <a:latin typeface="Pragmatica" panose="020B0403040502020204" pitchFamily="34" charset="0"/>
              </a:rPr>
              <a:t>Build a roadmap for AI adoption and governance</a:t>
            </a:r>
          </a:p>
          <a:p>
            <a:pPr marL="685800" indent="-685800">
              <a:buClr>
                <a:srgbClr val="CF3338"/>
              </a:buClr>
              <a:buFont typeface="Arial" panose="020B0604020202020204" pitchFamily="34" charset="0"/>
              <a:buChar char="•"/>
            </a:pPr>
            <a:r>
              <a:rPr lang="en-US" sz="4800" dirty="0">
                <a:solidFill>
                  <a:srgbClr val="707070"/>
                </a:solidFill>
                <a:latin typeface="Pragmatica" panose="020B0403040502020204" pitchFamily="34" charset="0"/>
              </a:rPr>
              <a:t>Get in touch to plan your next moves</a:t>
            </a:r>
          </a:p>
          <a:p>
            <a:pPr marL="1143000" lvl="1" indent="-685800">
              <a:buClr>
                <a:srgbClr val="CF3338"/>
              </a:buClr>
              <a:buFont typeface="Arial" panose="020B0604020202020204" pitchFamily="34" charset="0"/>
              <a:buChar char="•"/>
            </a:pPr>
            <a:r>
              <a:rPr lang="en-US" sz="4800" dirty="0">
                <a:solidFill>
                  <a:srgbClr val="707070"/>
                </a:solidFill>
                <a:latin typeface="Pragmatica" panose="020B0403040502020204" pitchFamily="34" charset="0"/>
              </a:rPr>
              <a:t>Book your spot now: </a:t>
            </a:r>
            <a:r>
              <a:rPr lang="en-US" sz="4800" dirty="0">
                <a:solidFill>
                  <a:srgbClr val="CF3338"/>
                </a:solidFill>
                <a:latin typeface="Pragmatica" panose="020B0403040502020204" pitchFamily="34" charset="0"/>
                <a:hlinkClick r:id="rId3">
                  <a:extLst>
                    <a:ext uri="{A12FA001-AC4F-418D-AE19-62706E023703}">
                      <ahyp:hlinkClr xmlns:ahyp="http://schemas.microsoft.com/office/drawing/2018/hyperlinkcolor" val="tx"/>
                    </a:ext>
                  </a:extLst>
                </a:hlinkClick>
              </a:rPr>
              <a:t>https://globalexcelsummit.com/product/becoming-a-citizen-developer-with-power-platform</a:t>
            </a:r>
            <a:r>
              <a:rPr lang="en-US" sz="4800" dirty="0">
                <a:solidFill>
                  <a:srgbClr val="CF3338"/>
                </a:solidFill>
                <a:latin typeface="Pragmatica" panose="020B0403040502020204" pitchFamily="34" charset="0"/>
              </a:rPr>
              <a:t>  </a:t>
            </a:r>
          </a:p>
        </p:txBody>
      </p:sp>
      <p:pic>
        <p:nvPicPr>
          <p:cNvPr id="15" name="Picture 14" descr="A close up of a sign&#10;&#10;Description automatically generated">
            <a:extLst>
              <a:ext uri="{FF2B5EF4-FFF2-40B4-BE49-F238E27FC236}">
                <a16:creationId xmlns:a16="http://schemas.microsoft.com/office/drawing/2014/main" id="{EAEDEC2C-D927-44DA-1C74-B83FF1B785D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322134384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p:cNvPicPr>
            <a:picLocks noChangeAspect="1"/>
          </p:cNvPicPr>
          <p:nvPr/>
        </p:nvPicPr>
        <p:blipFill rotWithShape="1">
          <a:blip r:embed="rId2">
            <a:extLst>
              <a:ext uri="{28A0092B-C50C-407E-A947-70E740481C1C}">
                <a14:useLocalDpi xmlns:a14="http://schemas.microsoft.com/office/drawing/2010/main" val="0"/>
              </a:ext>
            </a:extLst>
          </a:blip>
          <a:srcRect l="50728" t="56371"/>
          <a:stretch/>
        </p:blipFill>
        <p:spPr>
          <a:xfrm>
            <a:off x="12204691" y="3316148"/>
            <a:ext cx="6083309" cy="6970854"/>
          </a:xfrm>
          <a:prstGeom prst="rect">
            <a:avLst/>
          </a:prstGeom>
        </p:spPr>
      </p:pic>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7744" y="-3724155"/>
            <a:ext cx="15257208" cy="11189825"/>
          </a:xfrm>
          <a:prstGeom prst="rect">
            <a:avLst/>
          </a:prstGeom>
        </p:spPr>
      </p:pic>
      <p:sp>
        <p:nvSpPr>
          <p:cNvPr id="11" name="TextBox 10"/>
          <p:cNvSpPr txBox="1"/>
          <p:nvPr/>
        </p:nvSpPr>
        <p:spPr>
          <a:xfrm>
            <a:off x="486137" y="2531318"/>
            <a:ext cx="11979797" cy="923330"/>
          </a:xfrm>
          <a:prstGeom prst="rect">
            <a:avLst/>
          </a:prstGeom>
          <a:noFill/>
        </p:spPr>
        <p:txBody>
          <a:bodyPr wrap="square" rtlCol="0">
            <a:spAutoFit/>
          </a:bodyPr>
          <a:lstStyle/>
          <a:p>
            <a:r>
              <a:rPr lang="en-US" sz="5400" b="1" dirty="0">
                <a:solidFill>
                  <a:srgbClr val="CF3338"/>
                </a:solidFill>
                <a:latin typeface="Pragmatica" panose="020B0403040502020204" pitchFamily="34" charset="0"/>
              </a:rPr>
              <a:t>Questions?</a:t>
            </a:r>
          </a:p>
        </p:txBody>
      </p:sp>
      <p:pic>
        <p:nvPicPr>
          <p:cNvPr id="5" name="Picture 4">
            <a:extLst>
              <a:ext uri="{FF2B5EF4-FFF2-40B4-BE49-F238E27FC236}">
                <a16:creationId xmlns:a16="http://schemas.microsoft.com/office/drawing/2014/main" id="{54A06221-5316-4BCF-9FDA-BDB95FF4A778}"/>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12204691" y="3317239"/>
            <a:ext cx="6083309" cy="6968672"/>
          </a:xfrm>
          <a:prstGeom prst="rect">
            <a:avLst/>
          </a:prstGeom>
        </p:spPr>
      </p:pic>
    </p:spTree>
    <p:extLst>
      <p:ext uri="{BB962C8B-B14F-4D97-AF65-F5344CB8AC3E}">
        <p14:creationId xmlns:p14="http://schemas.microsoft.com/office/powerpoint/2010/main" val="168986073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D0FEE0-1585-1CA1-B126-07BE6F8A4899}"/>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36881496-D23A-3D77-A320-5198134F7DF1}"/>
              </a:ext>
            </a:extLst>
          </p:cNvPr>
          <p:cNvPicPr>
            <a:picLocks noChangeAspect="1"/>
          </p:cNvPicPr>
          <p:nvPr/>
        </p:nvPicPr>
        <p:blipFill>
          <a:blip r:embed="rId2"/>
          <a:srcRect/>
          <a:stretch/>
        </p:blipFill>
        <p:spPr>
          <a:xfrm>
            <a:off x="0" y="0"/>
            <a:ext cx="18288000" cy="10287000"/>
          </a:xfrm>
          <a:prstGeom prst="rect">
            <a:avLst/>
          </a:prstGeom>
        </p:spPr>
      </p:pic>
      <p:sp>
        <p:nvSpPr>
          <p:cNvPr id="2" name="Title 1">
            <a:extLst>
              <a:ext uri="{FF2B5EF4-FFF2-40B4-BE49-F238E27FC236}">
                <a16:creationId xmlns:a16="http://schemas.microsoft.com/office/drawing/2014/main" id="{04A3749B-D6B8-CD96-C6ED-D83C8153B2F0}"/>
              </a:ext>
            </a:extLst>
          </p:cNvPr>
          <p:cNvSpPr>
            <a:spLocks noGrp="1"/>
          </p:cNvSpPr>
          <p:nvPr>
            <p:ph type="ctrTitle"/>
          </p:nvPr>
        </p:nvSpPr>
        <p:spPr>
          <a:xfrm>
            <a:off x="2286000" y="2598656"/>
            <a:ext cx="13716000" cy="3581400"/>
          </a:xfrm>
        </p:spPr>
        <p:txBody>
          <a:bodyPr>
            <a:normAutofit/>
          </a:bodyPr>
          <a:lstStyle/>
          <a:p>
            <a:r>
              <a:rPr lang="en-US" sz="9900" b="1" dirty="0">
                <a:solidFill>
                  <a:srgbClr val="241F62"/>
                </a:solidFill>
                <a:latin typeface="+mn-lt"/>
              </a:rPr>
              <a:t>THANK YOU</a:t>
            </a:r>
            <a:endParaRPr lang="en-BG" sz="9900" b="1" dirty="0">
              <a:solidFill>
                <a:srgbClr val="241F62"/>
              </a:solidFill>
              <a:latin typeface="+mn-lt"/>
            </a:endParaRPr>
          </a:p>
        </p:txBody>
      </p:sp>
      <p:pic>
        <p:nvPicPr>
          <p:cNvPr id="7" name="Picture 6">
            <a:extLst>
              <a:ext uri="{FF2B5EF4-FFF2-40B4-BE49-F238E27FC236}">
                <a16:creationId xmlns:a16="http://schemas.microsoft.com/office/drawing/2014/main" id="{3FD6AC7F-1054-5A62-472F-AB412916EB96}"/>
              </a:ext>
            </a:extLst>
          </p:cNvPr>
          <p:cNvPicPr>
            <a:picLocks noChangeAspect="1"/>
          </p:cNvPicPr>
          <p:nvPr/>
        </p:nvPicPr>
        <p:blipFill>
          <a:blip r:embed="rId3"/>
          <a:srcRect b="22069"/>
          <a:stretch/>
        </p:blipFill>
        <p:spPr>
          <a:xfrm>
            <a:off x="8153400" y="8430867"/>
            <a:ext cx="1981200" cy="979833"/>
          </a:xfrm>
          <a:prstGeom prst="rect">
            <a:avLst/>
          </a:prstGeom>
        </p:spPr>
      </p:pic>
      <p:sp>
        <p:nvSpPr>
          <p:cNvPr id="3" name="Title 1">
            <a:extLst>
              <a:ext uri="{FF2B5EF4-FFF2-40B4-BE49-F238E27FC236}">
                <a16:creationId xmlns:a16="http://schemas.microsoft.com/office/drawing/2014/main" id="{45B0E24A-7B4A-1422-EA99-6AEC7FAD05DA}"/>
              </a:ext>
            </a:extLst>
          </p:cNvPr>
          <p:cNvSpPr txBox="1">
            <a:spLocks/>
          </p:cNvSpPr>
          <p:nvPr/>
        </p:nvSpPr>
        <p:spPr>
          <a:xfrm>
            <a:off x="13454742" y="548858"/>
            <a:ext cx="4082145" cy="945771"/>
          </a:xfrm>
          <a:prstGeom prst="rect">
            <a:avLst/>
          </a:prstGeom>
        </p:spPr>
        <p:txBody>
          <a:bodyPr vert="horz" lIns="137160" tIns="68580" rIns="137160" bIns="68580" rtlCol="0" anchor="ctr">
            <a:normAutofit/>
          </a:bodyPr>
          <a:lstStyle>
            <a:lvl1pPr algn="l" defTabSz="914400" rtl="0" eaLnBrk="1" latinLnBrk="0" hangingPunct="1">
              <a:lnSpc>
                <a:spcPct val="90000"/>
              </a:lnSpc>
              <a:spcBef>
                <a:spcPct val="0"/>
              </a:spcBef>
              <a:buNone/>
              <a:defRPr sz="4800" b="1" kern="1200">
                <a:solidFill>
                  <a:schemeClr val="bg1"/>
                </a:solidFill>
                <a:latin typeface="+mn-lt"/>
                <a:ea typeface="+mj-ea"/>
                <a:cs typeface="+mj-cs"/>
              </a:defRPr>
            </a:lvl1pPr>
          </a:lstStyle>
          <a:p>
            <a:r>
              <a:rPr lang="en-GB" sz="4200" dirty="0">
                <a:solidFill>
                  <a:srgbClr val="241F62"/>
                </a:solidFill>
                <a:latin typeface="+mj-lt"/>
              </a:rPr>
              <a:t>George Mount</a:t>
            </a:r>
            <a:endParaRPr lang="en-BG" sz="4200" dirty="0">
              <a:solidFill>
                <a:srgbClr val="241F62"/>
              </a:solidFill>
              <a:latin typeface="+mj-lt"/>
            </a:endParaRPr>
          </a:p>
        </p:txBody>
      </p:sp>
    </p:spTree>
    <p:extLst>
      <p:ext uri="{BB962C8B-B14F-4D97-AF65-F5344CB8AC3E}">
        <p14:creationId xmlns:p14="http://schemas.microsoft.com/office/powerpoint/2010/main" val="88663357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2709</TotalTime>
  <Words>3045</Words>
  <Application>Microsoft Office PowerPoint</Application>
  <PresentationFormat>Custom</PresentationFormat>
  <Paragraphs>171</Paragraphs>
  <Slides>18</Slides>
  <Notes>12</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18</vt:i4>
      </vt:variant>
    </vt:vector>
  </HeadingPairs>
  <TitlesOfParts>
    <vt:vector size="25" baseType="lpstr">
      <vt:lpstr>Aliens &amp; cows</vt:lpstr>
      <vt:lpstr>Arial</vt:lpstr>
      <vt:lpstr>Calibri</vt:lpstr>
      <vt:lpstr>Normafixed Tryout</vt:lpstr>
      <vt:lpstr>Pragmatica</vt:lpstr>
      <vt:lpstr>Consolas</vt:lpstr>
      <vt:lpstr>Office Theme</vt:lpstr>
      <vt:lpstr>AI comes to Excel: Building your first Excel agent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excel-statistics-for-business-analytics</dc:title>
  <dc:creator>User</dc:creator>
  <cp:lastModifiedBy>George Mount</cp:lastModifiedBy>
  <cp:revision>232</cp:revision>
  <dcterms:created xsi:type="dcterms:W3CDTF">2006-08-16T00:00:00Z</dcterms:created>
  <dcterms:modified xsi:type="dcterms:W3CDTF">2025-11-20T00:22:08Z</dcterms:modified>
  <dc:identifier>DADurESpNu8</dc:identifier>
</cp:coreProperties>
</file>