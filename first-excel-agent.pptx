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sldIdLst>
    <p:sldId id="256" r:id="rId2"/>
    <p:sldId id="425" r:id="rId3"/>
    <p:sldId id="426" r:id="rId4"/>
    <p:sldId id="435" r:id="rId5"/>
    <p:sldId id="436" r:id="rId6"/>
    <p:sldId id="437" r:id="rId7"/>
    <p:sldId id="438" r:id="rId8"/>
    <p:sldId id="439" r:id="rId9"/>
    <p:sldId id="407" r:id="rId10"/>
    <p:sldId id="441" r:id="rId11"/>
    <p:sldId id="442" r:id="rId12"/>
    <p:sldId id="415" r:id="rId13"/>
    <p:sldId id="427" r:id="rId14"/>
  </p:sldIdLst>
  <p:sldSz cx="18288000" cy="10287000"/>
  <p:notesSz cx="6858000" cy="9144000"/>
  <p:embeddedFontLst>
    <p:embeddedFont>
      <p:font typeface="Consolas" panose="020B0609020204030204" pitchFamily="49" charset="0"/>
      <p:regular r:id="rId16"/>
      <p:bold r:id="rId17"/>
      <p:italic r:id="rId18"/>
      <p:boldItalic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EA6155-9679-457C-9482-8E13709CA374}" v="55" dt="2025-10-22T16:18:55.8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4298" autoAdjust="0"/>
  </p:normalViewPr>
  <p:slideViewPr>
    <p:cSldViewPr>
      <p:cViewPr varScale="1">
        <p:scale>
          <a:sx n="29" d="100"/>
          <a:sy n="29" d="100"/>
        </p:scale>
        <p:origin x="1019"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microsoft.com/office/2018/10/relationships/authors" Target="authors.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7893660-5BFC-4EEE-852D-A0B87874F466}">
      <dgm:prSet phldrT="[Text]" phldr="0"/>
      <dgm:spPr/>
      <dgm:t>
        <a:bodyPr/>
        <a:lstStyle/>
        <a:p>
          <a:r>
            <a:rPr lang="en-US"/>
            <a:t>Copilot</a:t>
          </a:r>
          <a:endParaRPr lang="en-US" dirty="0"/>
        </a:p>
      </dgm:t>
    </dgm:pt>
    <dgm:pt modelId="{6EEC88D9-076A-419A-9A6B-120C27DF31EB}" type="parTrans" cxnId="{562DE018-A951-4CE6-882D-10E86DD91AED}">
      <dgm:prSet/>
      <dgm:spPr/>
    </dgm:pt>
    <dgm:pt modelId="{DDFB99C5-58BB-421F-9CEC-742A00ABA300}" type="sibTrans" cxnId="{562DE018-A951-4CE6-882D-10E86DD91AED}">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D50067A-87B8-435B-B026-B5457AF02675}" type="pres">
      <dgm:prSet presAssocID="{ECDF3F5F-D616-4773-AD86-206CBB2C9A45}" presName="Triangle" presStyleLbl="alignNode1" presStyleIdx="5" presStyleCnt="7"/>
      <dgm:spPr/>
    </dgm:pt>
    <dgm:pt modelId="{BF4F7FD1-FA8A-4C56-A404-B0172E0306C7}" type="pres">
      <dgm:prSet presAssocID="{48E1857D-DABA-49C3-A05A-879561167E94}" presName="sibTrans" presStyleCnt="0"/>
      <dgm:spPr/>
    </dgm:pt>
    <dgm:pt modelId="{32644BF9-5AF3-4D29-BE08-74A83ECBD4A9}" type="pres">
      <dgm:prSet presAssocID="{48E1857D-DABA-49C3-A05A-879561167E94}" presName="space" presStyleCnt="0"/>
      <dgm:spPr/>
    </dgm:pt>
    <dgm:pt modelId="{34B2BED8-9D9E-4B33-A8A7-2CC4A0ED4095}" type="pres">
      <dgm:prSet presAssocID="{D7893660-5BFC-4EEE-852D-A0B87874F466}" presName="composite" presStyleCnt="0"/>
      <dgm:spPr/>
    </dgm:pt>
    <dgm:pt modelId="{45F51B91-CDE2-4150-ABC9-E07326939C02}" type="pres">
      <dgm:prSet presAssocID="{D7893660-5BFC-4EEE-852D-A0B87874F466}" presName="LShape" presStyleLbl="alignNode1" presStyleIdx="6" presStyleCnt="7"/>
      <dgm:spPr/>
    </dgm:pt>
    <dgm:pt modelId="{C1303DAA-A72B-4927-BF7B-07847C41FFDF}" type="pres">
      <dgm:prSet presAssocID="{D7893660-5BFC-4EEE-852D-A0B87874F466}" presName="ParentText" presStyleLbl="revTx" presStyleIdx="3" presStyleCnt="4">
        <dgm:presLayoutVars>
          <dgm:chMax val="0"/>
          <dgm:chPref val="0"/>
          <dgm:bulletEnabled val="1"/>
        </dgm:presLayoutVars>
      </dgm:prSet>
      <dgm:spPr/>
    </dgm:pt>
  </dgm:ptLst>
  <dgm:cxnLst>
    <dgm:cxn modelId="{562DE018-A951-4CE6-882D-10E86DD91AED}" srcId="{9596FC0A-FD31-4A13-A101-B34906B5FCA3}" destId="{D7893660-5BFC-4EEE-852D-A0B87874F466}" srcOrd="3" destOrd="0" parTransId="{6EEC88D9-076A-419A-9A6B-120C27DF31EB}" sibTransId="{DDFB99C5-58BB-421F-9CEC-742A00ABA300}"/>
    <dgm:cxn modelId="{E2BD9F22-0B50-46E3-BAED-8E33F3EF52A7}" type="presOf" srcId="{D7893660-5BFC-4EEE-852D-A0B87874F466}" destId="{C1303DAA-A72B-4927-BF7B-07847C41FFDF}" srcOrd="0" destOrd="0" presId="urn:microsoft.com/office/officeart/2009/3/layout/StepUpProcess"/>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B7F6B86D-D0D3-4DDE-9E7E-4D3A957DA948}" type="presParOf" srcId="{71194B23-C715-4BA4-A045-7005C525AF3E}" destId="{1D50067A-87B8-435B-B026-B5457AF02675}" srcOrd="2" destOrd="0" presId="urn:microsoft.com/office/officeart/2009/3/layout/StepUpProcess"/>
    <dgm:cxn modelId="{7F80C062-50FD-4282-A883-2E8CDE2FE1DB}" type="presParOf" srcId="{E1C5162A-7220-4DEC-A00E-88E41A0FBFB7}" destId="{BF4F7FD1-FA8A-4C56-A404-B0172E0306C7}" srcOrd="5" destOrd="0" presId="urn:microsoft.com/office/officeart/2009/3/layout/StepUpProcess"/>
    <dgm:cxn modelId="{1A6459C7-7EF6-4D30-92EC-F6F7A1D99C4B}" type="presParOf" srcId="{BF4F7FD1-FA8A-4C56-A404-B0172E0306C7}" destId="{32644BF9-5AF3-4D29-BE08-74A83ECBD4A9}" srcOrd="0" destOrd="0" presId="urn:microsoft.com/office/officeart/2009/3/layout/StepUpProcess"/>
    <dgm:cxn modelId="{39B6C53D-D583-4441-8258-2FE45FC1C7A2}" type="presParOf" srcId="{E1C5162A-7220-4DEC-A00E-88E41A0FBFB7}" destId="{34B2BED8-9D9E-4B33-A8A7-2CC4A0ED4095}" srcOrd="6" destOrd="0" presId="urn:microsoft.com/office/officeart/2009/3/layout/StepUpProcess"/>
    <dgm:cxn modelId="{42C918C6-35C2-4E58-BAE9-F0BB1C10867D}" type="presParOf" srcId="{34B2BED8-9D9E-4B33-A8A7-2CC4A0ED4095}" destId="{45F51B91-CDE2-4150-ABC9-E07326939C02}" srcOrd="0" destOrd="0" presId="urn:microsoft.com/office/officeart/2009/3/layout/StepUpProcess"/>
    <dgm:cxn modelId="{C351E5D4-D9D6-431A-83F1-287E1D3F23EB}" type="presParOf" srcId="{34B2BED8-9D9E-4B33-A8A7-2CC4A0ED4095}" destId="{C1303DAA-A72B-4927-BF7B-07847C41FFDF}"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D10328E-A6DD-41E3-B554-4474C789EE3B}">
      <dgm:prSet phldrT="[Text]" phldr="0"/>
      <dgm:spPr/>
      <dgm:t>
        <a:bodyPr/>
        <a:lstStyle/>
        <a:p>
          <a:r>
            <a:rPr lang="en-US"/>
            <a:t>Copilot</a:t>
          </a:r>
          <a:endParaRPr lang="en-US" dirty="0"/>
        </a:p>
      </dgm:t>
    </dgm:pt>
    <dgm:pt modelId="{4797E7E1-7520-4563-8E79-62450B631D4B}" type="parTrans" cxnId="{15541B4A-6034-416F-A9C3-A32F77ED3760}">
      <dgm:prSet/>
      <dgm:spPr/>
    </dgm:pt>
    <dgm:pt modelId="{89CB7E39-70B1-4EAE-ADEF-C2D7ECAB52C3}" type="sibTrans" cxnId="{15541B4A-6034-416F-A9C3-A32F77ED3760}">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4EFF778-3053-49EA-B8FF-91963C53C838}" type="pres">
      <dgm:prSet presAssocID="{ECDF3F5F-D616-4773-AD86-206CBB2C9A45}" presName="Triangle" presStyleLbl="alignNode1" presStyleIdx="5" presStyleCnt="7"/>
      <dgm:spPr/>
    </dgm:pt>
    <dgm:pt modelId="{48896D18-1FB6-4DEF-9EEA-AF6FB11D0F17}" type="pres">
      <dgm:prSet presAssocID="{48E1857D-DABA-49C3-A05A-879561167E94}" presName="sibTrans" presStyleCnt="0"/>
      <dgm:spPr/>
    </dgm:pt>
    <dgm:pt modelId="{449B5E31-9683-440C-8D54-C8DD516DD73A}" type="pres">
      <dgm:prSet presAssocID="{48E1857D-DABA-49C3-A05A-879561167E94}" presName="space" presStyleCnt="0"/>
      <dgm:spPr/>
    </dgm:pt>
    <dgm:pt modelId="{E96AF6BE-0A31-4A43-994F-7ACA89F404A5}" type="pres">
      <dgm:prSet presAssocID="{DD10328E-A6DD-41E3-B554-4474C789EE3B}" presName="composite" presStyleCnt="0"/>
      <dgm:spPr/>
    </dgm:pt>
    <dgm:pt modelId="{69FB57F2-30E0-447B-9CA3-6081CC2A6EF0}" type="pres">
      <dgm:prSet presAssocID="{DD10328E-A6DD-41E3-B554-4474C789EE3B}" presName="LShape" presStyleLbl="alignNode1" presStyleIdx="6" presStyleCnt="7"/>
      <dgm:spPr/>
    </dgm:pt>
    <dgm:pt modelId="{8831F2BD-16CB-4DFD-906B-F2ABDB3649AD}" type="pres">
      <dgm:prSet presAssocID="{DD10328E-A6DD-41E3-B554-4474C789EE3B}" presName="ParentText" presStyleLbl="revTx" presStyleIdx="3" presStyleCnt="4">
        <dgm:presLayoutVars>
          <dgm:chMax val="0"/>
          <dgm:chPref val="0"/>
          <dgm:bulletEnabled val="1"/>
        </dgm:presLayoutVars>
      </dgm:prSet>
      <dgm:spPr/>
    </dgm:pt>
  </dgm:ptLst>
  <dgm:cxnLst>
    <dgm:cxn modelId="{15541B4A-6034-416F-A9C3-A32F77ED3760}" srcId="{9596FC0A-FD31-4A13-A101-B34906B5FCA3}" destId="{DD10328E-A6DD-41E3-B554-4474C789EE3B}" srcOrd="3" destOrd="0" parTransId="{4797E7E1-7520-4563-8E79-62450B631D4B}" sibTransId="{89CB7E39-70B1-4EAE-ADEF-C2D7ECAB52C3}"/>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9B6313B1-6985-4CAA-8504-23046B34F1B1}" type="presOf" srcId="{DD10328E-A6DD-41E3-B554-4474C789EE3B}" destId="{8831F2BD-16CB-4DFD-906B-F2ABDB3649AD}"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80DF88C6-F94F-4789-A333-94594EB24137}" type="presParOf" srcId="{71194B23-C715-4BA4-A045-7005C525AF3E}" destId="{14EFF778-3053-49EA-B8FF-91963C53C838}" srcOrd="2" destOrd="0" presId="urn:microsoft.com/office/officeart/2009/3/layout/StepUpProcess"/>
    <dgm:cxn modelId="{14096607-09E7-47CD-A76A-B1A244F164FE}" type="presParOf" srcId="{E1C5162A-7220-4DEC-A00E-88E41A0FBFB7}" destId="{48896D18-1FB6-4DEF-9EEA-AF6FB11D0F17}" srcOrd="5" destOrd="0" presId="urn:microsoft.com/office/officeart/2009/3/layout/StepUpProcess"/>
    <dgm:cxn modelId="{F8FB3E92-BB56-406D-A301-35CF44B3756C}" type="presParOf" srcId="{48896D18-1FB6-4DEF-9EEA-AF6FB11D0F17}" destId="{449B5E31-9683-440C-8D54-C8DD516DD73A}" srcOrd="0" destOrd="0" presId="urn:microsoft.com/office/officeart/2009/3/layout/StepUpProcess"/>
    <dgm:cxn modelId="{1A9E898E-ECEF-478A-B9F3-99B08A1E61D1}" type="presParOf" srcId="{E1C5162A-7220-4DEC-A00E-88E41A0FBFB7}" destId="{E96AF6BE-0A31-4A43-994F-7ACA89F404A5}" srcOrd="6" destOrd="0" presId="urn:microsoft.com/office/officeart/2009/3/layout/StepUpProcess"/>
    <dgm:cxn modelId="{FFE93C43-1FDA-436A-9C91-8F53DEB7E6AF}" type="presParOf" srcId="{E96AF6BE-0A31-4A43-994F-7ACA89F404A5}" destId="{69FB57F2-30E0-447B-9CA3-6081CC2A6EF0}" srcOrd="0" destOrd="0" presId="urn:microsoft.com/office/officeart/2009/3/layout/StepUpProcess"/>
    <dgm:cxn modelId="{181F6695-C855-4873-9BD4-3B4B2604253D}" type="presParOf" srcId="{E96AF6BE-0A31-4A43-994F-7ACA89F404A5}" destId="{8831F2BD-16CB-4DFD-906B-F2ABDB3649AD}"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D50067A-87B8-435B-B026-B5457AF02675}">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F51B91-CDE2-4150-ABC9-E07326939C02}">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303DAA-A72B-4927-BF7B-07847C41FFDF}">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4EFF778-3053-49EA-B8FF-91963C53C838}">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FB57F2-30E0-447B-9CA3-6081CC2A6EF0}">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831F2BD-16CB-4DFD-906B-F2ABDB3649AD}">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10/22/2025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29861163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D0B85-98DF-63EC-7C7D-B4D63483A9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B8970-CF57-F212-C7B6-C3F26AC0E0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1BFCFF-4A1F-8955-470F-D45E7155B4B7}"/>
              </a:ext>
            </a:extLst>
          </p:cNvPr>
          <p:cNvSpPr>
            <a:spLocks noGrp="1"/>
          </p:cNvSpPr>
          <p:nvPr>
            <p:ph type="body" idx="1"/>
          </p:nvPr>
        </p:nvSpPr>
        <p:spPr/>
        <p:txBody>
          <a:bodyPr/>
          <a:lstStyle/>
          <a:p>
            <a:r>
              <a:rPr lang="en-US" sz="900" dirty="0"/>
              <a:t>This table shows how the tools in the Excel AI stack fit together and build on one another. It follows the natural flow of how data moves through a modern analytics process — from storage, to preparation, to analysis, to automation, and finally to customization and governance.</a:t>
            </a:r>
          </a:p>
          <a:p>
            <a:r>
              <a:rPr lang="en-US" sz="900" dirty="0"/>
              <a:t>At the foundation are </a:t>
            </a:r>
            <a:r>
              <a:rPr lang="en-US" sz="900" b="1" dirty="0"/>
              <a:t>Power BI and Dataverse</a:t>
            </a:r>
            <a:r>
              <a:rPr lang="en-US" sz="900" dirty="0"/>
              <a:t>, which serve as the data backbone. They provide the structured, secure, and governed data sources that every other layer depends on. This is where the organization’s single source of truth lives.</a:t>
            </a:r>
          </a:p>
          <a:p>
            <a:r>
              <a:rPr lang="en-US" sz="900" dirty="0"/>
              <a:t>Just above that are </a:t>
            </a:r>
            <a:r>
              <a:rPr lang="en-US" sz="900" b="1" dirty="0"/>
              <a:t>Power Query and Dataflows</a:t>
            </a:r>
            <a:r>
              <a:rPr lang="en-US" sz="900" dirty="0"/>
              <a:t>, which handle data preparation. Power Query is built into Excel and Power BI, allowing users to clean, reshape, and combine data within a workbook or report. </a:t>
            </a:r>
            <a:r>
              <a:rPr lang="en-US" sz="900" b="1" dirty="0"/>
              <a:t>Dataflows</a:t>
            </a:r>
            <a:r>
              <a:rPr lang="en-US" sz="900" dirty="0"/>
              <a:t> take those same transformation steps and run them in the cloud, making them reusable across different files and apps. Together, they form the data preparation layer that ensures agents and copilots are working from high-quality, consistent information.</a:t>
            </a:r>
          </a:p>
          <a:p>
            <a:r>
              <a:rPr lang="en-US" sz="900" dirty="0"/>
              <a:t>Then we reach the </a:t>
            </a:r>
            <a:r>
              <a:rPr lang="en-US" sz="900" b="1" dirty="0"/>
              <a:t>Excel layer</a:t>
            </a:r>
            <a:r>
              <a:rPr lang="en-US" sz="900" dirty="0"/>
              <a:t>, which is where most users spend their time. Inside Excel we now have three main AI tools: </a:t>
            </a:r>
            <a:r>
              <a:rPr lang="en-US" sz="900" b="1" dirty="0"/>
              <a:t>Copilot in Excel</a:t>
            </a:r>
            <a:r>
              <a:rPr lang="en-US" sz="900" dirty="0"/>
              <a:t>, </a:t>
            </a:r>
            <a:r>
              <a:rPr lang="en-US" sz="900" b="1" dirty="0"/>
              <a:t>Python in Excel</a:t>
            </a:r>
            <a:r>
              <a:rPr lang="en-US" sz="900" dirty="0"/>
              <a:t>, and </a:t>
            </a:r>
            <a:r>
              <a:rPr lang="en-US" sz="900" b="1" dirty="0"/>
              <a:t>Agent Mode</a:t>
            </a:r>
            <a:r>
              <a:rPr lang="en-US" sz="900" dirty="0"/>
              <a:t>.</a:t>
            </a:r>
            <a:br>
              <a:rPr lang="en-US" sz="900" dirty="0"/>
            </a:br>
            <a:r>
              <a:rPr lang="en-US" sz="900" dirty="0"/>
              <a:t>Copilot helps with quick insights and formula generation through natural language.</a:t>
            </a:r>
            <a:br>
              <a:rPr lang="en-US" sz="900" dirty="0"/>
            </a:br>
            <a:r>
              <a:rPr lang="en-US" sz="900" dirty="0"/>
              <a:t>Python in Excel brings advanced analytics, modeling, and visualization right inside the workbook.</a:t>
            </a:r>
            <a:br>
              <a:rPr lang="en-US" sz="900" dirty="0"/>
            </a:br>
            <a:r>
              <a:rPr lang="en-US" sz="900" dirty="0"/>
              <a:t>And Agent Mode takes it further by allowing AI to plan, act, and refine multi-step tasks on its own. These three tools make Excel both a familiar workspace and a full-fledged AI analysis platform.</a:t>
            </a:r>
          </a:p>
          <a:p>
            <a:r>
              <a:rPr lang="en-US" sz="900" dirty="0"/>
              <a:t>Above that come </a:t>
            </a:r>
            <a:r>
              <a:rPr lang="en-US" sz="900" b="1" dirty="0"/>
              <a:t>Office Scripts</a:t>
            </a:r>
            <a:r>
              <a:rPr lang="en-US" sz="900" dirty="0"/>
              <a:t> and </a:t>
            </a:r>
            <a:r>
              <a:rPr lang="en-US" sz="900" b="1" dirty="0"/>
              <a:t>Power Automate</a:t>
            </a:r>
            <a:r>
              <a:rPr lang="en-US" sz="900" dirty="0"/>
              <a:t>, which handle logic and automation. Office Scripts define repeatable workflows that can be triggered inside Excel, while Power Automate connects those workflows across Microsoft 365 and beyond. They turn your Excel agents into active participants in larger business processes.</a:t>
            </a:r>
          </a:p>
          <a:p>
            <a:r>
              <a:rPr lang="en-US" sz="900" dirty="0"/>
              <a:t>At the top is </a:t>
            </a:r>
            <a:r>
              <a:rPr lang="en-US" sz="900" b="1" dirty="0"/>
              <a:t>Copilot Studio</a:t>
            </a:r>
            <a:r>
              <a:rPr lang="en-US" sz="900" dirty="0"/>
              <a:t>, which provides customization and governance. This is where organizations build, deploy, and manage their own copilots and agents, deciding what they can do, how they behave, and what data they can access.</a:t>
            </a:r>
          </a:p>
          <a:p>
            <a:r>
              <a:rPr lang="en-US" sz="900" dirty="0"/>
              <a:t>Altogether, this stack shows how Excel has evolved from a standalone spreadsheet into a connected, intelligent platform. Power Query and Dataflows prepare the data, Excel tools like Copilot, Python, and Agent Mode turn that data into insight, and automation layers like Office Scripts and Power Automate put it into action — all governed and managed through Copilot Studio.</a:t>
            </a:r>
          </a:p>
        </p:txBody>
      </p:sp>
      <p:sp>
        <p:nvSpPr>
          <p:cNvPr id="4" name="Slide Number Placeholder 3">
            <a:extLst>
              <a:ext uri="{FF2B5EF4-FFF2-40B4-BE49-F238E27FC236}">
                <a16:creationId xmlns:a16="http://schemas.microsoft.com/office/drawing/2014/main" id="{800E4A3B-8591-F9E9-A8B1-4D9BB2A4BE03}"/>
              </a:ext>
            </a:extLst>
          </p:cNvPr>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2546824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p:cNvSpPr>
            <a:spLocks noGrp="1"/>
          </p:cNvSpPr>
          <p:nvPr>
            <p:ph type="sldNum" sz="quarter" idx="5"/>
          </p:nvPr>
        </p:nvSpPr>
        <p:spPr/>
        <p:txBody>
          <a:bodyPr/>
          <a:lstStyle/>
          <a:p>
            <a:fld id="{1300335D-9F13-4B80-ADC5-B0EA3E10FF6B}" type="slidenum">
              <a:rPr lang="en-US" smtClean="0"/>
              <a:t>9</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When I say audit your team’s data and automation skills, I mean really take stock of what you already have. Who knows Power Query? Who can write a bit of Python or create a simple flow in Power Automate? Before you chase shiny new AI tools, get a baseline of your current capabilities.</a:t>
            </a:r>
          </a:p>
          <a:p>
            <a:endParaRPr lang="en-US" b="0" dirty="0"/>
          </a:p>
          <a:p>
            <a:r>
              <a:rPr lang="en-US" b="0" dirty="0"/>
              <a:t>Next, start small with Office Scripts and Power Automate. These are great low-risk ways to build repeatable logic and connect Excel to other systems. Once you understand how those pieces work, Agent Mode and Copilot will make a lot more sense.</a:t>
            </a:r>
          </a:p>
          <a:p>
            <a:endParaRPr lang="en-US" b="0" dirty="0"/>
          </a:p>
          <a:p>
            <a:r>
              <a:rPr lang="en-US" b="0" dirty="0"/>
              <a:t>Then, experiment safely with Copilot and Agent Mode. Try them in sandboxed files or low-stakes tasks. Learn how they interpret prompts, where they struggle, and how they can support your workflows. The goal is to build trust with the tools before relying on them in production.</a:t>
            </a:r>
          </a:p>
          <a:p>
            <a:r>
              <a:rPr lang="en-US" b="0" dirty="0"/>
              <a:t>From there, build a roadmap for AI adoption and governance. This is where system thinking comes in. Decide which processes to automate, who owns the workflows, and how you will review and audit results. This ensures the technology actually scales.</a:t>
            </a:r>
          </a:p>
          <a:p>
            <a:endParaRPr lang="en-US" b="0" dirty="0"/>
          </a:p>
          <a:p>
            <a:r>
              <a:rPr lang="en-US" b="0" dirty="0"/>
              <a:t>Finally, book a discovery call to plan your next moves. Every organization is at a different stage with these tools, and having a plan makes all the difference. I can help you map the skills, systems, and priorities that will make this stack work for you.</a:t>
            </a:r>
          </a:p>
          <a:p>
            <a:endParaRPr lang="en-US" b="0" dirty="0"/>
          </a:p>
        </p:txBody>
      </p:sp>
      <p:sp>
        <p:nvSpPr>
          <p:cNvPr id="4" name="Slide Number Placeholder 3"/>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2455904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blog.tobiaszwingmann.com/p/integration-automation-ai-framework" TargetMode="External"/><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1754326"/>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comes to Excel: Building your first Excel agent</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730" y="1029387"/>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0" y="2080485"/>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47800" y="4762500"/>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Global Excel Summit (9-11 February 2022) - Microsoft Excel Conference">
            <a:extLst>
              <a:ext uri="{FF2B5EF4-FFF2-40B4-BE49-F238E27FC236}">
                <a16:creationId xmlns:a16="http://schemas.microsoft.com/office/drawing/2014/main" id="{EA545C86-0986-E2A5-4B62-E3E41804715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825966" y="6492068"/>
            <a:ext cx="2348390" cy="234839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nkedinlearninginstructor #linkedinlearning | Thais Cooke | 80 comments">
            <a:extLst>
              <a:ext uri="{FF2B5EF4-FFF2-40B4-BE49-F238E27FC236}">
                <a16:creationId xmlns:a16="http://schemas.microsoft.com/office/drawing/2014/main" id="{2E947460-3FEE-CFC7-623B-C27CBE0D9E1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840039" y="7385414"/>
            <a:ext cx="5018711" cy="2064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520861" y="3191948"/>
            <a:ext cx="14393120" cy="397031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Explore the difference between Copilot and Agent Mode in Excel</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Build your first Agent Mode tool in Excel using natural language prompts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Understand how Excel Agents fit into the Microsoft AI ecosystem (Copilot Studio, Power Platform, etc.)</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899E4-3D67-4F5C-9D65-EF5EF52CB1B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245D936-66D9-DF0F-F77B-2AE73828D767}"/>
              </a:ext>
            </a:extLst>
          </p:cNvPr>
          <p:cNvSpPr txBox="1"/>
          <p:nvPr/>
        </p:nvSpPr>
        <p:spPr>
          <a:xfrm>
            <a:off x="520861" y="170082"/>
            <a:ext cx="16395539" cy="1477328"/>
          </a:xfrm>
          <a:prstGeom prst="rect">
            <a:avLst/>
          </a:prstGeom>
          <a:noFill/>
        </p:spPr>
        <p:txBody>
          <a:bodyPr wrap="square" rtlCol="0">
            <a:spAutoFit/>
          </a:bodyPr>
          <a:lstStyle/>
          <a:p>
            <a:r>
              <a:rPr lang="en-US" sz="9000" dirty="0">
                <a:latin typeface="Aliens &amp; cows" panose="00000500000000000000" pitchFamily="2" charset="0"/>
              </a:rPr>
              <a:t>Remember when Excel got…</a:t>
            </a:r>
          </a:p>
        </p:txBody>
      </p:sp>
      <p:pic>
        <p:nvPicPr>
          <p:cNvPr id="15" name="Picture 14" descr="A close up of a sign&#10;&#10;Description automatically generated">
            <a:extLst>
              <a:ext uri="{FF2B5EF4-FFF2-40B4-BE49-F238E27FC236}">
                <a16:creationId xmlns:a16="http://schemas.microsoft.com/office/drawing/2014/main" id="{7FC47B52-F116-9B07-9F82-E4A341395C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F3762FA8-595D-366F-D814-2F4111A487F4}"/>
              </a:ext>
            </a:extLst>
          </p:cNvPr>
          <p:cNvGraphicFramePr/>
          <p:nvPr>
            <p:extLst>
              <p:ext uri="{D42A27DB-BD31-4B8C-83A1-F6EECF244321}">
                <p14:modId xmlns:p14="http://schemas.microsoft.com/office/powerpoint/2010/main" val="370380416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12084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68A8F-238B-F149-883B-EC39513349C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D7566E4-0615-C523-0C0B-1436446427E8}"/>
              </a:ext>
            </a:extLst>
          </p:cNvPr>
          <p:cNvSpPr txBox="1"/>
          <p:nvPr/>
        </p:nvSpPr>
        <p:spPr>
          <a:xfrm>
            <a:off x="520861" y="170082"/>
            <a:ext cx="16395539" cy="9787295"/>
          </a:xfrm>
          <a:prstGeom prst="rect">
            <a:avLst/>
          </a:prstGeom>
          <a:noFill/>
        </p:spPr>
        <p:txBody>
          <a:bodyPr wrap="square" rtlCol="0">
            <a:spAutoFit/>
          </a:bodyPr>
          <a:lstStyle/>
          <a:p>
            <a:r>
              <a:rPr lang="en-US" sz="9000" dirty="0">
                <a:latin typeface="Aliens &amp; cows" panose="00000500000000000000" pitchFamily="2" charset="0"/>
              </a:rPr>
              <a:t>Remember when Excel got…</a:t>
            </a: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r>
              <a:rPr lang="en-US" sz="7200" dirty="0">
                <a:latin typeface="Aliens &amp; cows" panose="00000500000000000000" pitchFamily="2" charset="0"/>
              </a:rPr>
              <a:t>Now it’s getting AI agents!</a:t>
            </a:r>
            <a:endParaRPr lang="en-US" sz="9000" dirty="0">
              <a:latin typeface="Aliens &amp; cows" panose="00000500000000000000" pitchFamily="2" charset="0"/>
            </a:endParaRPr>
          </a:p>
        </p:txBody>
      </p:sp>
      <p:pic>
        <p:nvPicPr>
          <p:cNvPr id="15" name="Picture 14" descr="A close up of a sign&#10;&#10;Description automatically generated">
            <a:extLst>
              <a:ext uri="{FF2B5EF4-FFF2-40B4-BE49-F238E27FC236}">
                <a16:creationId xmlns:a16="http://schemas.microsoft.com/office/drawing/2014/main" id="{46818568-EDBC-7BFE-3043-22CA89C97F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95373B1F-0E74-5415-E434-6EEC8C37F1D4}"/>
              </a:ext>
            </a:extLst>
          </p:cNvPr>
          <p:cNvGraphicFramePr/>
          <p:nvPr>
            <p:extLst>
              <p:ext uri="{D42A27DB-BD31-4B8C-83A1-F6EECF244321}">
                <p14:modId xmlns:p14="http://schemas.microsoft.com/office/powerpoint/2010/main" val="204964621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6587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3270-992F-73FB-7E73-4DA42D379BB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358931-C887-DF08-D582-E12AD136D695}"/>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integration-automation AI framework</a:t>
            </a:r>
          </a:p>
        </p:txBody>
      </p:sp>
      <p:pic>
        <p:nvPicPr>
          <p:cNvPr id="15" name="Picture 14" descr="A close up of a sign&#10;&#10;Description automatically generated">
            <a:extLst>
              <a:ext uri="{FF2B5EF4-FFF2-40B4-BE49-F238E27FC236}">
                <a16:creationId xmlns:a16="http://schemas.microsoft.com/office/drawing/2014/main" id="{88701840-B113-B321-9200-F6ADD5F263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057A3FD3-5C03-0966-77FB-885E6BFE811D}"/>
              </a:ext>
            </a:extLst>
          </p:cNvPr>
          <p:cNvSpPr txBox="1"/>
          <p:nvPr/>
        </p:nvSpPr>
        <p:spPr>
          <a:xfrm>
            <a:off x="152400" y="7254596"/>
            <a:ext cx="3446118" cy="2862322"/>
          </a:xfrm>
          <a:prstGeom prst="rect">
            <a:avLst/>
          </a:prstGeom>
          <a:noFill/>
        </p:spPr>
        <p:txBody>
          <a:bodyPr wrap="square">
            <a:spAutoFit/>
          </a:bodyPr>
          <a:lstStyle/>
          <a:p>
            <a:r>
              <a:rPr lang="en-US" sz="3600" dirty="0">
                <a:hlinkClick r:id="rId3">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3074" name="Picture 2">
            <a:extLst>
              <a:ext uri="{FF2B5EF4-FFF2-40B4-BE49-F238E27FC236}">
                <a16:creationId xmlns:a16="http://schemas.microsoft.com/office/drawing/2014/main" id="{BD67A6B6-57FE-1727-C346-ED9D61BE40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6200" y="1369361"/>
            <a:ext cx="10287000" cy="8734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9717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B2F53-9CBC-02CA-9A51-ED2E8A94463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A59A59-1845-383F-38E2-0337D6AE0BFB}"/>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Excel Copilot vs Excel Agent Mode</a:t>
            </a:r>
          </a:p>
        </p:txBody>
      </p:sp>
      <p:pic>
        <p:nvPicPr>
          <p:cNvPr id="15" name="Picture 14" descr="A close up of a sign&#10;&#10;Description automatically generated">
            <a:extLst>
              <a:ext uri="{FF2B5EF4-FFF2-40B4-BE49-F238E27FC236}">
                <a16:creationId xmlns:a16="http://schemas.microsoft.com/office/drawing/2014/main" id="{25B7AACD-032E-784C-D92C-BF6F5751F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3" name="Table 2">
            <a:extLst>
              <a:ext uri="{FF2B5EF4-FFF2-40B4-BE49-F238E27FC236}">
                <a16:creationId xmlns:a16="http://schemas.microsoft.com/office/drawing/2014/main" id="{A7829486-E1C2-6EFC-4E09-983F9108F30F}"/>
              </a:ext>
            </a:extLst>
          </p:cNvPr>
          <p:cNvGraphicFramePr>
            <a:graphicFrameLocks noGrp="1"/>
          </p:cNvGraphicFramePr>
          <p:nvPr>
            <p:extLst>
              <p:ext uri="{D42A27DB-BD31-4B8C-83A1-F6EECF244321}">
                <p14:modId xmlns:p14="http://schemas.microsoft.com/office/powerpoint/2010/main" val="3681093686"/>
              </p:ext>
            </p:extLst>
          </p:nvPr>
        </p:nvGraphicFramePr>
        <p:xfrm>
          <a:off x="457200" y="1714340"/>
          <a:ext cx="14401800" cy="7162962"/>
        </p:xfrm>
        <a:graphic>
          <a:graphicData uri="http://schemas.openxmlformats.org/drawingml/2006/table">
            <a:tbl>
              <a:tblPr/>
              <a:tblGrid>
                <a:gridCol w="4800600">
                  <a:extLst>
                    <a:ext uri="{9D8B030D-6E8A-4147-A177-3AD203B41FA5}">
                      <a16:colId xmlns:a16="http://schemas.microsoft.com/office/drawing/2014/main" val="4201771282"/>
                    </a:ext>
                  </a:extLst>
                </a:gridCol>
                <a:gridCol w="4800600">
                  <a:extLst>
                    <a:ext uri="{9D8B030D-6E8A-4147-A177-3AD203B41FA5}">
                      <a16:colId xmlns:a16="http://schemas.microsoft.com/office/drawing/2014/main" val="777237233"/>
                    </a:ext>
                  </a:extLst>
                </a:gridCol>
                <a:gridCol w="4800600">
                  <a:extLst>
                    <a:ext uri="{9D8B030D-6E8A-4147-A177-3AD203B41FA5}">
                      <a16:colId xmlns:a16="http://schemas.microsoft.com/office/drawing/2014/main" val="673316634"/>
                    </a:ext>
                  </a:extLst>
                </a:gridCol>
              </a:tblGrid>
              <a:tr h="609614">
                <a:tc>
                  <a:txBody>
                    <a:bodyPr/>
                    <a:lstStyle/>
                    <a:p>
                      <a:pPr>
                        <a:buNone/>
                      </a:pPr>
                      <a:r>
                        <a:rPr lang="en-US" sz="3200" b="1"/>
                        <a:t>Feature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Excel Copilot</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Agent Mode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6272724"/>
                  </a:ext>
                </a:extLst>
              </a:tr>
              <a:tr h="1066824">
                <a:tc>
                  <a:txBody>
                    <a:bodyPr/>
                    <a:lstStyle/>
                    <a:p>
                      <a:pPr>
                        <a:buNone/>
                      </a:pPr>
                      <a:r>
                        <a:rPr lang="en-US" sz="3200" b="1"/>
                        <a:t>Interaction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One-shot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Iterative, self-guided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3507712"/>
                  </a:ext>
                </a:extLst>
              </a:tr>
              <a:tr h="1066824">
                <a:tc>
                  <a:txBody>
                    <a:bodyPr/>
                    <a:lstStyle/>
                    <a:p>
                      <a:pPr>
                        <a:buNone/>
                      </a:pPr>
                      <a:r>
                        <a:rPr lang="en-US" sz="3200" b="1"/>
                        <a:t>Task Scope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Single actions (formulas, charts, summaries)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Multi-step processes across sheets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026323"/>
                  </a:ext>
                </a:extLst>
              </a:tr>
              <a:tr h="1066824">
                <a:tc>
                  <a:txBody>
                    <a:bodyPr/>
                    <a:lstStyle/>
                    <a:p>
                      <a:pPr>
                        <a:buNone/>
                      </a:pPr>
                      <a:r>
                        <a:rPr lang="en-US" sz="3200" b="1"/>
                        <a:t>Error Handling</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User re-prompts or fixes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Agent reviews, retries, self-corrects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923970"/>
                  </a:ext>
                </a:extLst>
              </a:tr>
              <a:tr h="1066824">
                <a:tc>
                  <a:txBody>
                    <a:bodyPr/>
                    <a:lstStyle/>
                    <a:p>
                      <a:pPr>
                        <a:buNone/>
                      </a:pPr>
                      <a:r>
                        <a:rPr lang="en-US" sz="3200" b="1"/>
                        <a:t>User Role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You do, Copilot helps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You manage, Agent executes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7454490"/>
                  </a:ext>
                </a:extLst>
              </a:tr>
              <a:tr h="609614">
                <a:tc>
                  <a:txBody>
                    <a:bodyPr/>
                    <a:lstStyle/>
                    <a:p>
                      <a:pPr>
                        <a:buNone/>
                      </a:pPr>
                      <a:r>
                        <a:rPr lang="en-US" sz="3200" b="1"/>
                        <a:t>Output Quality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Fast but shallow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Verified and repeatable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1303429"/>
                  </a:ext>
                </a:extLst>
              </a:tr>
              <a:tr h="1066824">
                <a:tc>
                  <a:txBody>
                    <a:bodyPr/>
                    <a:lstStyle/>
                    <a:p>
                      <a:pPr>
                        <a:buNone/>
                      </a:pPr>
                      <a:r>
                        <a:rPr lang="en-US" sz="3200" b="1"/>
                        <a:t>Best For</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Quick wins, ad-hoc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Structured, high-stakes workflows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52908"/>
                  </a:ext>
                </a:extLst>
              </a:tr>
              <a:tr h="609614">
                <a:tc>
                  <a:txBody>
                    <a:bodyPr/>
                    <a:lstStyle/>
                    <a:p>
                      <a:pPr>
                        <a:buNone/>
                      </a:pPr>
                      <a:r>
                        <a:rPr lang="en-US" sz="3200" b="1"/>
                        <a:t>Analogy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Smart assistant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Junior analyst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630930"/>
                  </a:ext>
                </a:extLst>
              </a:tr>
            </a:tbl>
          </a:graphicData>
        </a:graphic>
      </p:graphicFrame>
    </p:spTree>
    <p:extLst>
      <p:ext uri="{BB962C8B-B14F-4D97-AF65-F5344CB8AC3E}">
        <p14:creationId xmlns:p14="http://schemas.microsoft.com/office/powerpoint/2010/main" val="2460281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ED226-3DBA-DD93-9D88-2CA1C2D3352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332240B-0B1D-9B77-F127-B2E40BB848A9}"/>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emerging Excel AI stack</a:t>
            </a:r>
          </a:p>
        </p:txBody>
      </p:sp>
      <p:pic>
        <p:nvPicPr>
          <p:cNvPr id="15" name="Picture 14" descr="A close up of a sign&#10;&#10;Description automatically generated">
            <a:extLst>
              <a:ext uri="{FF2B5EF4-FFF2-40B4-BE49-F238E27FC236}">
                <a16:creationId xmlns:a16="http://schemas.microsoft.com/office/drawing/2014/main" id="{96AAE559-64C9-151C-D64A-C0AEFC85B0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5" name="Table 4">
            <a:extLst>
              <a:ext uri="{FF2B5EF4-FFF2-40B4-BE49-F238E27FC236}">
                <a16:creationId xmlns:a16="http://schemas.microsoft.com/office/drawing/2014/main" id="{8F07E63D-491A-A37D-4C16-7341759B6F62}"/>
              </a:ext>
            </a:extLst>
          </p:cNvPr>
          <p:cNvGraphicFramePr>
            <a:graphicFrameLocks noGrp="1"/>
          </p:cNvGraphicFramePr>
          <p:nvPr>
            <p:extLst>
              <p:ext uri="{D42A27DB-BD31-4B8C-83A1-F6EECF244321}">
                <p14:modId xmlns:p14="http://schemas.microsoft.com/office/powerpoint/2010/main" val="1898181012"/>
              </p:ext>
            </p:extLst>
          </p:nvPr>
        </p:nvGraphicFramePr>
        <p:xfrm>
          <a:off x="457200" y="2080100"/>
          <a:ext cx="15697200" cy="7178199"/>
        </p:xfrm>
        <a:graphic>
          <a:graphicData uri="http://schemas.openxmlformats.org/drawingml/2006/table">
            <a:tbl>
              <a:tblPr/>
              <a:tblGrid>
                <a:gridCol w="5232400">
                  <a:extLst>
                    <a:ext uri="{9D8B030D-6E8A-4147-A177-3AD203B41FA5}">
                      <a16:colId xmlns:a16="http://schemas.microsoft.com/office/drawing/2014/main" val="2728257828"/>
                    </a:ext>
                  </a:extLst>
                </a:gridCol>
                <a:gridCol w="5232400">
                  <a:extLst>
                    <a:ext uri="{9D8B030D-6E8A-4147-A177-3AD203B41FA5}">
                      <a16:colId xmlns:a16="http://schemas.microsoft.com/office/drawing/2014/main" val="2961374483"/>
                    </a:ext>
                  </a:extLst>
                </a:gridCol>
                <a:gridCol w="5232400">
                  <a:extLst>
                    <a:ext uri="{9D8B030D-6E8A-4147-A177-3AD203B41FA5}">
                      <a16:colId xmlns:a16="http://schemas.microsoft.com/office/drawing/2014/main" val="1198047383"/>
                    </a:ext>
                  </a:extLst>
                </a:gridCol>
              </a:tblGrid>
              <a:tr h="703019">
                <a:tc>
                  <a:txBody>
                    <a:bodyPr/>
                    <a:lstStyle/>
                    <a:p>
                      <a:pPr>
                        <a:buNone/>
                      </a:pPr>
                      <a:r>
                        <a:rPr lang="en-US" sz="3200" b="1"/>
                        <a:t>Stage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Purpose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Tools</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07581723"/>
                  </a:ext>
                </a:extLst>
              </a:tr>
              <a:tr h="1295036">
                <a:tc>
                  <a:txBody>
                    <a:bodyPr/>
                    <a:lstStyle/>
                    <a:p>
                      <a:pPr>
                        <a:buNone/>
                      </a:pPr>
                      <a:r>
                        <a:rPr lang="en-US" sz="3200" b="1"/>
                        <a:t>1. Data Foundation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Store, structure, and retrieve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Power BI, Dataverse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7406007"/>
                  </a:ext>
                </a:extLst>
              </a:tr>
              <a:tr h="1295036">
                <a:tc>
                  <a:txBody>
                    <a:bodyPr/>
                    <a:lstStyle/>
                    <a:p>
                      <a:pPr>
                        <a:buNone/>
                      </a:pPr>
                      <a:r>
                        <a:rPr lang="en-US" sz="3200" b="1"/>
                        <a:t>2. Data Preparation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Clean, shape, and combine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Power Query/Dataflows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6296996"/>
                  </a:ext>
                </a:extLst>
              </a:tr>
              <a:tr h="1295036">
                <a:tc>
                  <a:txBody>
                    <a:bodyPr/>
                    <a:lstStyle/>
                    <a:p>
                      <a:pPr>
                        <a:buNone/>
                      </a:pPr>
                      <a:r>
                        <a:rPr lang="en-US" sz="3200" b="1" dirty="0"/>
                        <a:t>3. Analysis &amp; Intelligence</a:t>
                      </a:r>
                      <a:endParaRPr lang="en-US" sz="3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Explore data and get insights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Excel (with Copilot, Python, Agent Mode)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52852401"/>
                  </a:ext>
                </a:extLst>
              </a:tr>
              <a:tr h="1295036">
                <a:tc>
                  <a:txBody>
                    <a:bodyPr/>
                    <a:lstStyle/>
                    <a:p>
                      <a:pPr>
                        <a:buNone/>
                      </a:pPr>
                      <a:r>
                        <a:rPr lang="en-US" sz="3200" b="1"/>
                        <a:t>4. Automation &amp; Extension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Repeat, scale, and connect processes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Office Scripts, Power Automate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2917109"/>
                  </a:ext>
                </a:extLst>
              </a:tr>
              <a:tr h="1295036">
                <a:tc>
                  <a:txBody>
                    <a:bodyPr/>
                    <a:lstStyle/>
                    <a:p>
                      <a:pPr>
                        <a:buNone/>
                      </a:pPr>
                      <a:r>
                        <a:rPr lang="en-US" sz="3200" b="1"/>
                        <a:t>5. Customization &amp; Governance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Control, deploy, and monitor AI agents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Copilot Studio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6899994"/>
                  </a:ext>
                </a:extLst>
              </a:tr>
            </a:tbl>
          </a:graphicData>
        </a:graphic>
      </p:graphicFrame>
    </p:spTree>
    <p:extLst>
      <p:ext uri="{BB962C8B-B14F-4D97-AF65-F5344CB8AC3E}">
        <p14:creationId xmlns:p14="http://schemas.microsoft.com/office/powerpoint/2010/main" val="2677091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49040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Agent Mode in action</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Loan calculator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Variance analysis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Monthly close pack</a:t>
            </a: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What does Agent Mode do well, poorly, or not at all?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How does this relate to other tools in the Excel AI stack?</a:t>
            </a:r>
            <a:endParaRPr lang="en-US" sz="3600" dirty="0">
              <a:solidFill>
                <a:srgbClr val="C00000"/>
              </a:solidFill>
              <a:latin typeface="Consolas" panose="020B0609020204030204" pitchFamily="49" charset="0"/>
              <a:sym typeface="Consolas"/>
            </a:endParaRPr>
          </a:p>
        </p:txBody>
      </p:sp>
    </p:spTree>
    <p:extLst>
      <p:ext uri="{BB962C8B-B14F-4D97-AF65-F5344CB8AC3E}">
        <p14:creationId xmlns:p14="http://schemas.microsoft.com/office/powerpoint/2010/main" val="3871531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3D58A7-5F6B-4F51-4398-479AFC18958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1CC141A-C0A3-41C3-0FC8-806BFEBA97E9}"/>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Takeaways</a:t>
            </a:r>
          </a:p>
        </p:txBody>
      </p:sp>
      <p:sp>
        <p:nvSpPr>
          <p:cNvPr id="3" name="TextBox 2">
            <a:extLst>
              <a:ext uri="{FF2B5EF4-FFF2-40B4-BE49-F238E27FC236}">
                <a16:creationId xmlns:a16="http://schemas.microsoft.com/office/drawing/2014/main" id="{C333A47B-7E72-DB76-4A8C-B9C0801D685B}"/>
              </a:ext>
            </a:extLst>
          </p:cNvPr>
          <p:cNvSpPr txBox="1"/>
          <p:nvPr/>
        </p:nvSpPr>
        <p:spPr>
          <a:xfrm>
            <a:off x="520860" y="1866900"/>
            <a:ext cx="16776539" cy="600164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Excel’s AI stack is expanding fast but still coming together</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Copilots assist; Agents act and reason across steps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Agent Mode shifts your role from doing work to managing AI</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Excel is becoming the front end for Microsoft’s data and automation stack</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Power Query, Dataflows, and Python are the glue that make AI useful</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Winning teams think in systems, not just features.</a:t>
            </a:r>
          </a:p>
        </p:txBody>
      </p:sp>
      <p:pic>
        <p:nvPicPr>
          <p:cNvPr id="15" name="Picture 14" descr="A close up of a sign&#10;&#10;Description automatically generated">
            <a:extLst>
              <a:ext uri="{FF2B5EF4-FFF2-40B4-BE49-F238E27FC236}">
                <a16:creationId xmlns:a16="http://schemas.microsoft.com/office/drawing/2014/main" id="{1A5E1433-4A47-1485-201C-C236A16D50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009987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1C78-F10E-3F23-F9DF-9C818C8D56B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50F672D-6587-1754-62CF-3B756392B992}"/>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49B7597B-A1CA-D128-EACB-A1FA4B6B8F56}"/>
              </a:ext>
            </a:extLst>
          </p:cNvPr>
          <p:cNvSpPr txBox="1"/>
          <p:nvPr/>
        </p:nvSpPr>
        <p:spPr>
          <a:xfrm>
            <a:off x="520860" y="1866900"/>
            <a:ext cx="16776539"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Audit your team’s data and automation skills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Start small with Office Scripts and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Experiment safely with Copilot and Agent Mode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a roadmap for AI adoption and governance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Book a discovery call to plan your next moves</a:t>
            </a:r>
          </a:p>
        </p:txBody>
      </p:sp>
      <p:pic>
        <p:nvPicPr>
          <p:cNvPr id="15" name="Picture 14" descr="A close up of a sign&#10;&#10;Description automatically generated">
            <a:extLst>
              <a:ext uri="{FF2B5EF4-FFF2-40B4-BE49-F238E27FC236}">
                <a16:creationId xmlns:a16="http://schemas.microsoft.com/office/drawing/2014/main" id="{EAEDEC2C-D927-44DA-1C74-B83FF1B785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21343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6578290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2617</TotalTime>
  <Words>1497</Words>
  <Application>Microsoft Office PowerPoint</Application>
  <PresentationFormat>Custom</PresentationFormat>
  <Paragraphs>124</Paragraphs>
  <Slides>13</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Pragmatica</vt:lpstr>
      <vt:lpstr>Calibri</vt:lpstr>
      <vt:lpstr>Aliens &amp; cows</vt:lpstr>
      <vt:lpstr>Arial</vt:lpstr>
      <vt:lpstr>Normafixed Tryout</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225</cp:revision>
  <dcterms:created xsi:type="dcterms:W3CDTF">2006-08-16T00:00:00Z</dcterms:created>
  <dcterms:modified xsi:type="dcterms:W3CDTF">2025-10-22T16:22:10Z</dcterms:modified>
  <dc:identifier>DADurESpNu8</dc:identifier>
</cp:coreProperties>
</file>