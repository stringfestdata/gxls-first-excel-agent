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6"/>
  </p:notesMasterIdLst>
  <p:sldIdLst>
    <p:sldId id="256" r:id="rId2"/>
    <p:sldId id="425" r:id="rId3"/>
    <p:sldId id="426" r:id="rId4"/>
    <p:sldId id="435" r:id="rId5"/>
    <p:sldId id="436" r:id="rId6"/>
    <p:sldId id="437" r:id="rId7"/>
    <p:sldId id="438" r:id="rId8"/>
    <p:sldId id="443" r:id="rId9"/>
    <p:sldId id="407" r:id="rId10"/>
    <p:sldId id="439" r:id="rId11"/>
    <p:sldId id="441" r:id="rId12"/>
    <p:sldId id="442" r:id="rId13"/>
    <p:sldId id="415" r:id="rId14"/>
    <p:sldId id="427" r:id="rId15"/>
  </p:sldIdLst>
  <p:sldSz cx="18288000" cy="10287000"/>
  <p:notesSz cx="6858000" cy="9144000"/>
  <p:embeddedFontLst>
    <p:embeddedFont>
      <p:font typeface="Consolas" panose="020B0609020204030204" pitchFamily="49" charset="0"/>
      <p:regular r:id="rId17"/>
      <p:bold r:id="rId18"/>
      <p:italic r:id="rId19"/>
      <p:boldItalic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7684158-E8C8-9BE0-21EB-718D906F94A5}" name="George Mount" initials="GM" userId="S::george@stringfestanalytics.com::22d0b802-afc6-4b8f-ba57-7a855d96927f"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George Mount" initials="GM" lastIdx="9" clrIdx="0">
    <p:extLst>
      <p:ext uri="{19B8F6BF-5375-455C-9EA6-DF929625EA0E}">
        <p15:presenceInfo xmlns:p15="http://schemas.microsoft.com/office/powerpoint/2012/main" userId="57d2ab2a84d54c81"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CF3338"/>
    <a:srgbClr val="3D393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9EA6155-9679-457C-9482-8E13709CA374}" v="55" dt="2025-10-22T16:18:55.83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992" autoAdjust="0"/>
    <p:restoredTop sz="74298" autoAdjust="0"/>
  </p:normalViewPr>
  <p:slideViewPr>
    <p:cSldViewPr>
      <p:cViewPr varScale="1">
        <p:scale>
          <a:sx n="31" d="100"/>
          <a:sy n="31" d="100"/>
        </p:scale>
        <p:origin x="912" y="251"/>
      </p:cViewPr>
      <p:guideLst>
        <p:guide orient="horz" pos="2160"/>
        <p:guide pos="2880"/>
      </p:guideLst>
    </p:cSldViewPr>
  </p:slideViewPr>
  <p:outlineViewPr>
    <p:cViewPr>
      <p:scale>
        <a:sx n="33" d="100"/>
        <a:sy n="33" d="100"/>
      </p:scale>
      <p:origin x="0" y="0"/>
    </p:cViewPr>
  </p:outlineViewPr>
  <p:notesTextViewPr>
    <p:cViewPr>
      <p:scale>
        <a:sx n="140" d="100"/>
        <a:sy n="14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8/10/relationships/authors" Target="authors.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596FC0A-FD31-4A13-A101-B34906B5FCA3}" type="doc">
      <dgm:prSet loTypeId="urn:microsoft.com/office/officeart/2009/3/layout/StepUpProcess" loCatId="process" qsTypeId="urn:microsoft.com/office/officeart/2005/8/quickstyle/simple1" qsCatId="simple" csTypeId="urn:microsoft.com/office/officeart/2005/8/colors/accent2_2" csCatId="accent2" phldr="1"/>
      <dgm:spPr/>
      <dgm:t>
        <a:bodyPr/>
        <a:lstStyle/>
        <a:p>
          <a:endParaRPr lang="en-US"/>
        </a:p>
      </dgm:t>
    </dgm:pt>
    <dgm:pt modelId="{7E095769-9D9B-40C6-A448-32B20215D868}">
      <dgm:prSet phldrT="[Text]" phldr="0"/>
      <dgm:spPr/>
      <dgm:t>
        <a:bodyPr/>
        <a:lstStyle/>
        <a:p>
          <a:r>
            <a:rPr lang="en-US" dirty="0"/>
            <a:t>Formulas</a:t>
          </a:r>
        </a:p>
      </dgm:t>
    </dgm:pt>
    <dgm:pt modelId="{F4600BDA-8F82-442F-A2E5-6E673A39A7ED}" type="parTrans" cxnId="{2EE4C9C5-18F6-4208-BFC2-DDFBC96794DA}">
      <dgm:prSet/>
      <dgm:spPr/>
      <dgm:t>
        <a:bodyPr/>
        <a:lstStyle/>
        <a:p>
          <a:endParaRPr lang="en-US"/>
        </a:p>
      </dgm:t>
    </dgm:pt>
    <dgm:pt modelId="{2FD94EF4-6AF8-4026-9D1C-BB8474CF7C4C}" type="sibTrans" cxnId="{2EE4C9C5-18F6-4208-BFC2-DDFBC96794DA}">
      <dgm:prSet/>
      <dgm:spPr/>
      <dgm:t>
        <a:bodyPr/>
        <a:lstStyle/>
        <a:p>
          <a:endParaRPr lang="en-US"/>
        </a:p>
      </dgm:t>
    </dgm:pt>
    <dgm:pt modelId="{9755B054-2A0A-4243-A5C5-182AC48ED55B}">
      <dgm:prSet phldrT="[Text]" phldr="0"/>
      <dgm:spPr/>
      <dgm:t>
        <a:bodyPr/>
        <a:lstStyle/>
        <a:p>
          <a:r>
            <a:rPr lang="en-US" dirty="0"/>
            <a:t>PivotTables</a:t>
          </a:r>
        </a:p>
      </dgm:t>
    </dgm:pt>
    <dgm:pt modelId="{8A628A53-949A-440A-AA57-8A743CA87032}" type="parTrans" cxnId="{EE26EA72-087D-4F8D-9070-C1852D70C64A}">
      <dgm:prSet/>
      <dgm:spPr/>
      <dgm:t>
        <a:bodyPr/>
        <a:lstStyle/>
        <a:p>
          <a:endParaRPr lang="en-US"/>
        </a:p>
      </dgm:t>
    </dgm:pt>
    <dgm:pt modelId="{16C0DDF2-CBDB-4619-ADAC-B681C71B6F89}" type="sibTrans" cxnId="{EE26EA72-087D-4F8D-9070-C1852D70C64A}">
      <dgm:prSet/>
      <dgm:spPr/>
      <dgm:t>
        <a:bodyPr/>
        <a:lstStyle/>
        <a:p>
          <a:endParaRPr lang="en-US"/>
        </a:p>
      </dgm:t>
    </dgm:pt>
    <dgm:pt modelId="{ECDF3F5F-D616-4773-AD86-206CBB2C9A45}">
      <dgm:prSet phldrT="[Text]" phldr="0"/>
      <dgm:spPr/>
      <dgm:t>
        <a:bodyPr/>
        <a:lstStyle/>
        <a:p>
          <a:r>
            <a:rPr lang="en-US" dirty="0"/>
            <a:t>Power Query</a:t>
          </a:r>
        </a:p>
      </dgm:t>
    </dgm:pt>
    <dgm:pt modelId="{2B13BBD9-23B6-4A64-8160-2979AC683130}" type="parTrans" cxnId="{98F83CF4-04E0-4019-ADAD-02149DA9E92B}">
      <dgm:prSet/>
      <dgm:spPr/>
      <dgm:t>
        <a:bodyPr/>
        <a:lstStyle/>
        <a:p>
          <a:endParaRPr lang="en-US"/>
        </a:p>
      </dgm:t>
    </dgm:pt>
    <dgm:pt modelId="{48E1857D-DABA-49C3-A05A-879561167E94}" type="sibTrans" cxnId="{98F83CF4-04E0-4019-ADAD-02149DA9E92B}">
      <dgm:prSet/>
      <dgm:spPr/>
      <dgm:t>
        <a:bodyPr/>
        <a:lstStyle/>
        <a:p>
          <a:endParaRPr lang="en-US"/>
        </a:p>
      </dgm:t>
    </dgm:pt>
    <dgm:pt modelId="{D7893660-5BFC-4EEE-852D-A0B87874F466}">
      <dgm:prSet phldrT="[Text]" phldr="0"/>
      <dgm:spPr/>
      <dgm:t>
        <a:bodyPr/>
        <a:lstStyle/>
        <a:p>
          <a:r>
            <a:rPr lang="en-US"/>
            <a:t>Copilot</a:t>
          </a:r>
          <a:endParaRPr lang="en-US" dirty="0"/>
        </a:p>
      </dgm:t>
    </dgm:pt>
    <dgm:pt modelId="{6EEC88D9-076A-419A-9A6B-120C27DF31EB}" type="parTrans" cxnId="{562DE018-A951-4CE6-882D-10E86DD91AED}">
      <dgm:prSet/>
      <dgm:spPr/>
    </dgm:pt>
    <dgm:pt modelId="{DDFB99C5-58BB-421F-9CEC-742A00ABA300}" type="sibTrans" cxnId="{562DE018-A951-4CE6-882D-10E86DD91AED}">
      <dgm:prSet/>
      <dgm:spPr/>
    </dgm:pt>
    <dgm:pt modelId="{E1C5162A-7220-4DEC-A00E-88E41A0FBFB7}" type="pres">
      <dgm:prSet presAssocID="{9596FC0A-FD31-4A13-A101-B34906B5FCA3}" presName="rootnode" presStyleCnt="0">
        <dgm:presLayoutVars>
          <dgm:chMax/>
          <dgm:chPref/>
          <dgm:dir/>
          <dgm:animLvl val="lvl"/>
        </dgm:presLayoutVars>
      </dgm:prSet>
      <dgm:spPr/>
    </dgm:pt>
    <dgm:pt modelId="{87829CA9-EEC9-440A-95A0-711332578C97}" type="pres">
      <dgm:prSet presAssocID="{7E095769-9D9B-40C6-A448-32B20215D868}" presName="composite" presStyleCnt="0"/>
      <dgm:spPr/>
    </dgm:pt>
    <dgm:pt modelId="{9270B02A-591F-4475-8B46-CA257B56BD42}" type="pres">
      <dgm:prSet presAssocID="{7E095769-9D9B-40C6-A448-32B20215D868}" presName="LShape" presStyleLbl="alignNode1" presStyleIdx="0" presStyleCnt="7"/>
      <dgm:spPr/>
    </dgm:pt>
    <dgm:pt modelId="{70D0D292-7A19-4BB9-92FE-398428920B5A}" type="pres">
      <dgm:prSet presAssocID="{7E095769-9D9B-40C6-A448-32B20215D868}" presName="ParentText" presStyleLbl="revTx" presStyleIdx="0" presStyleCnt="4">
        <dgm:presLayoutVars>
          <dgm:chMax val="0"/>
          <dgm:chPref val="0"/>
          <dgm:bulletEnabled val="1"/>
        </dgm:presLayoutVars>
      </dgm:prSet>
      <dgm:spPr/>
    </dgm:pt>
    <dgm:pt modelId="{6E1B76BE-C8A3-4EFE-B029-79471988039A}" type="pres">
      <dgm:prSet presAssocID="{7E095769-9D9B-40C6-A448-32B20215D868}" presName="Triangle" presStyleLbl="alignNode1" presStyleIdx="1" presStyleCnt="7"/>
      <dgm:spPr/>
    </dgm:pt>
    <dgm:pt modelId="{65CCD5B0-6FA3-4512-870D-0688E6DC15BB}" type="pres">
      <dgm:prSet presAssocID="{2FD94EF4-6AF8-4026-9D1C-BB8474CF7C4C}" presName="sibTrans" presStyleCnt="0"/>
      <dgm:spPr/>
    </dgm:pt>
    <dgm:pt modelId="{06A88AE1-611E-4204-A7B3-0D769D20F3DC}" type="pres">
      <dgm:prSet presAssocID="{2FD94EF4-6AF8-4026-9D1C-BB8474CF7C4C}" presName="space" presStyleCnt="0"/>
      <dgm:spPr/>
    </dgm:pt>
    <dgm:pt modelId="{BC9F4771-E159-4033-81EB-9DFA4894F0DB}" type="pres">
      <dgm:prSet presAssocID="{9755B054-2A0A-4243-A5C5-182AC48ED55B}" presName="composite" presStyleCnt="0"/>
      <dgm:spPr/>
    </dgm:pt>
    <dgm:pt modelId="{31A2965E-BA52-4DAE-B25D-0B8DF9759693}" type="pres">
      <dgm:prSet presAssocID="{9755B054-2A0A-4243-A5C5-182AC48ED55B}" presName="LShape" presStyleLbl="alignNode1" presStyleIdx="2" presStyleCnt="7"/>
      <dgm:spPr/>
    </dgm:pt>
    <dgm:pt modelId="{7D89103A-A049-459F-BE27-3F7CDAB3116F}" type="pres">
      <dgm:prSet presAssocID="{9755B054-2A0A-4243-A5C5-182AC48ED55B}" presName="ParentText" presStyleLbl="revTx" presStyleIdx="1" presStyleCnt="4">
        <dgm:presLayoutVars>
          <dgm:chMax val="0"/>
          <dgm:chPref val="0"/>
          <dgm:bulletEnabled val="1"/>
        </dgm:presLayoutVars>
      </dgm:prSet>
      <dgm:spPr/>
    </dgm:pt>
    <dgm:pt modelId="{3C5452DC-DF54-41F6-A2E7-B2C3D5FFDF04}" type="pres">
      <dgm:prSet presAssocID="{9755B054-2A0A-4243-A5C5-182AC48ED55B}" presName="Triangle" presStyleLbl="alignNode1" presStyleIdx="3" presStyleCnt="7"/>
      <dgm:spPr/>
    </dgm:pt>
    <dgm:pt modelId="{C5E6AA56-FF3F-4B0C-BB85-D5CE068DE08E}" type="pres">
      <dgm:prSet presAssocID="{16C0DDF2-CBDB-4619-ADAC-B681C71B6F89}" presName="sibTrans" presStyleCnt="0"/>
      <dgm:spPr/>
    </dgm:pt>
    <dgm:pt modelId="{9332C6F2-99EA-46F3-8A63-326A0AAEC36C}" type="pres">
      <dgm:prSet presAssocID="{16C0DDF2-CBDB-4619-ADAC-B681C71B6F89}" presName="space" presStyleCnt="0"/>
      <dgm:spPr/>
    </dgm:pt>
    <dgm:pt modelId="{71194B23-C715-4BA4-A045-7005C525AF3E}" type="pres">
      <dgm:prSet presAssocID="{ECDF3F5F-D616-4773-AD86-206CBB2C9A45}" presName="composite" presStyleCnt="0"/>
      <dgm:spPr/>
    </dgm:pt>
    <dgm:pt modelId="{72EB81E9-684C-485A-8117-9D259B875780}" type="pres">
      <dgm:prSet presAssocID="{ECDF3F5F-D616-4773-AD86-206CBB2C9A45}" presName="LShape" presStyleLbl="alignNode1" presStyleIdx="4" presStyleCnt="7"/>
      <dgm:spPr/>
    </dgm:pt>
    <dgm:pt modelId="{D789AC9C-80C2-4DAF-A9CF-4E79F9DAA1AC}" type="pres">
      <dgm:prSet presAssocID="{ECDF3F5F-D616-4773-AD86-206CBB2C9A45}" presName="ParentText" presStyleLbl="revTx" presStyleIdx="2" presStyleCnt="4">
        <dgm:presLayoutVars>
          <dgm:chMax val="0"/>
          <dgm:chPref val="0"/>
          <dgm:bulletEnabled val="1"/>
        </dgm:presLayoutVars>
      </dgm:prSet>
      <dgm:spPr/>
    </dgm:pt>
    <dgm:pt modelId="{1D50067A-87B8-435B-B026-B5457AF02675}" type="pres">
      <dgm:prSet presAssocID="{ECDF3F5F-D616-4773-AD86-206CBB2C9A45}" presName="Triangle" presStyleLbl="alignNode1" presStyleIdx="5" presStyleCnt="7"/>
      <dgm:spPr/>
    </dgm:pt>
    <dgm:pt modelId="{BF4F7FD1-FA8A-4C56-A404-B0172E0306C7}" type="pres">
      <dgm:prSet presAssocID="{48E1857D-DABA-49C3-A05A-879561167E94}" presName="sibTrans" presStyleCnt="0"/>
      <dgm:spPr/>
    </dgm:pt>
    <dgm:pt modelId="{32644BF9-5AF3-4D29-BE08-74A83ECBD4A9}" type="pres">
      <dgm:prSet presAssocID="{48E1857D-DABA-49C3-A05A-879561167E94}" presName="space" presStyleCnt="0"/>
      <dgm:spPr/>
    </dgm:pt>
    <dgm:pt modelId="{34B2BED8-9D9E-4B33-A8A7-2CC4A0ED4095}" type="pres">
      <dgm:prSet presAssocID="{D7893660-5BFC-4EEE-852D-A0B87874F466}" presName="composite" presStyleCnt="0"/>
      <dgm:spPr/>
    </dgm:pt>
    <dgm:pt modelId="{45F51B91-CDE2-4150-ABC9-E07326939C02}" type="pres">
      <dgm:prSet presAssocID="{D7893660-5BFC-4EEE-852D-A0B87874F466}" presName="LShape" presStyleLbl="alignNode1" presStyleIdx="6" presStyleCnt="7"/>
      <dgm:spPr/>
    </dgm:pt>
    <dgm:pt modelId="{C1303DAA-A72B-4927-BF7B-07847C41FFDF}" type="pres">
      <dgm:prSet presAssocID="{D7893660-5BFC-4EEE-852D-A0B87874F466}" presName="ParentText" presStyleLbl="revTx" presStyleIdx="3" presStyleCnt="4">
        <dgm:presLayoutVars>
          <dgm:chMax val="0"/>
          <dgm:chPref val="0"/>
          <dgm:bulletEnabled val="1"/>
        </dgm:presLayoutVars>
      </dgm:prSet>
      <dgm:spPr/>
    </dgm:pt>
  </dgm:ptLst>
  <dgm:cxnLst>
    <dgm:cxn modelId="{562DE018-A951-4CE6-882D-10E86DD91AED}" srcId="{9596FC0A-FD31-4A13-A101-B34906B5FCA3}" destId="{D7893660-5BFC-4EEE-852D-A0B87874F466}" srcOrd="3" destOrd="0" parTransId="{6EEC88D9-076A-419A-9A6B-120C27DF31EB}" sibTransId="{DDFB99C5-58BB-421F-9CEC-742A00ABA300}"/>
    <dgm:cxn modelId="{E2BD9F22-0B50-46E3-BAED-8E33F3EF52A7}" type="presOf" srcId="{D7893660-5BFC-4EEE-852D-A0B87874F466}" destId="{C1303DAA-A72B-4927-BF7B-07847C41FFDF}" srcOrd="0" destOrd="0" presId="urn:microsoft.com/office/officeart/2009/3/layout/StepUpProcess"/>
    <dgm:cxn modelId="{1BAAE84C-B4C5-4E73-B9B1-02C29868C3E6}" type="presOf" srcId="{ECDF3F5F-D616-4773-AD86-206CBB2C9A45}" destId="{D789AC9C-80C2-4DAF-A9CF-4E79F9DAA1AC}" srcOrd="0" destOrd="0" presId="urn:microsoft.com/office/officeart/2009/3/layout/StepUpProcess"/>
    <dgm:cxn modelId="{EE26EA72-087D-4F8D-9070-C1852D70C64A}" srcId="{9596FC0A-FD31-4A13-A101-B34906B5FCA3}" destId="{9755B054-2A0A-4243-A5C5-182AC48ED55B}" srcOrd="1" destOrd="0" parTransId="{8A628A53-949A-440A-AA57-8A743CA87032}" sibTransId="{16C0DDF2-CBDB-4619-ADAC-B681C71B6F89}"/>
    <dgm:cxn modelId="{70223BA7-3977-4363-B8B1-9018CF9464B6}" type="presOf" srcId="{9755B054-2A0A-4243-A5C5-182AC48ED55B}" destId="{7D89103A-A049-459F-BE27-3F7CDAB3116F}" srcOrd="0" destOrd="0" presId="urn:microsoft.com/office/officeart/2009/3/layout/StepUpProcess"/>
    <dgm:cxn modelId="{7AA0C1BB-5351-49F2-A43B-1BDC920190A8}" type="presOf" srcId="{9596FC0A-FD31-4A13-A101-B34906B5FCA3}" destId="{E1C5162A-7220-4DEC-A00E-88E41A0FBFB7}" srcOrd="0" destOrd="0" presId="urn:microsoft.com/office/officeart/2009/3/layout/StepUpProcess"/>
    <dgm:cxn modelId="{2EE4C9C5-18F6-4208-BFC2-DDFBC96794DA}" srcId="{9596FC0A-FD31-4A13-A101-B34906B5FCA3}" destId="{7E095769-9D9B-40C6-A448-32B20215D868}" srcOrd="0" destOrd="0" parTransId="{F4600BDA-8F82-442F-A2E5-6E673A39A7ED}" sibTransId="{2FD94EF4-6AF8-4026-9D1C-BB8474CF7C4C}"/>
    <dgm:cxn modelId="{98F83CF4-04E0-4019-ADAD-02149DA9E92B}" srcId="{9596FC0A-FD31-4A13-A101-B34906B5FCA3}" destId="{ECDF3F5F-D616-4773-AD86-206CBB2C9A45}" srcOrd="2" destOrd="0" parTransId="{2B13BBD9-23B6-4A64-8160-2979AC683130}" sibTransId="{48E1857D-DABA-49C3-A05A-879561167E94}"/>
    <dgm:cxn modelId="{19CA1EFA-6E30-48AB-9169-FBD3733306D8}" type="presOf" srcId="{7E095769-9D9B-40C6-A448-32B20215D868}" destId="{70D0D292-7A19-4BB9-92FE-398428920B5A}" srcOrd="0" destOrd="0" presId="urn:microsoft.com/office/officeart/2009/3/layout/StepUpProcess"/>
    <dgm:cxn modelId="{4A92DC72-1C29-4066-9066-2B3F109B73A6}" type="presParOf" srcId="{E1C5162A-7220-4DEC-A00E-88E41A0FBFB7}" destId="{87829CA9-EEC9-440A-95A0-711332578C97}" srcOrd="0" destOrd="0" presId="urn:microsoft.com/office/officeart/2009/3/layout/StepUpProcess"/>
    <dgm:cxn modelId="{65A324FE-3A72-46CB-AB0F-48288DB4D980}" type="presParOf" srcId="{87829CA9-EEC9-440A-95A0-711332578C97}" destId="{9270B02A-591F-4475-8B46-CA257B56BD42}" srcOrd="0" destOrd="0" presId="urn:microsoft.com/office/officeart/2009/3/layout/StepUpProcess"/>
    <dgm:cxn modelId="{B7641341-7687-4E96-9A67-BCCA1DC079CE}" type="presParOf" srcId="{87829CA9-EEC9-440A-95A0-711332578C97}" destId="{70D0D292-7A19-4BB9-92FE-398428920B5A}" srcOrd="1" destOrd="0" presId="urn:microsoft.com/office/officeart/2009/3/layout/StepUpProcess"/>
    <dgm:cxn modelId="{2D982769-D530-451D-B0B9-79FC2E1086BE}" type="presParOf" srcId="{87829CA9-EEC9-440A-95A0-711332578C97}" destId="{6E1B76BE-C8A3-4EFE-B029-79471988039A}" srcOrd="2" destOrd="0" presId="urn:microsoft.com/office/officeart/2009/3/layout/StepUpProcess"/>
    <dgm:cxn modelId="{825DD771-FA76-47CF-9FA0-8C0710127C54}" type="presParOf" srcId="{E1C5162A-7220-4DEC-A00E-88E41A0FBFB7}" destId="{65CCD5B0-6FA3-4512-870D-0688E6DC15BB}" srcOrd="1" destOrd="0" presId="urn:microsoft.com/office/officeart/2009/3/layout/StepUpProcess"/>
    <dgm:cxn modelId="{1AC141DA-AB94-490B-9CB1-6A40AE07004F}" type="presParOf" srcId="{65CCD5B0-6FA3-4512-870D-0688E6DC15BB}" destId="{06A88AE1-611E-4204-A7B3-0D769D20F3DC}" srcOrd="0" destOrd="0" presId="urn:microsoft.com/office/officeart/2009/3/layout/StepUpProcess"/>
    <dgm:cxn modelId="{1F9697A3-B262-48A5-AA76-D0E663A655A2}" type="presParOf" srcId="{E1C5162A-7220-4DEC-A00E-88E41A0FBFB7}" destId="{BC9F4771-E159-4033-81EB-9DFA4894F0DB}" srcOrd="2" destOrd="0" presId="urn:microsoft.com/office/officeart/2009/3/layout/StepUpProcess"/>
    <dgm:cxn modelId="{0C5C56B4-294A-47A8-A8AA-92229D56634C}" type="presParOf" srcId="{BC9F4771-E159-4033-81EB-9DFA4894F0DB}" destId="{31A2965E-BA52-4DAE-B25D-0B8DF9759693}" srcOrd="0" destOrd="0" presId="urn:microsoft.com/office/officeart/2009/3/layout/StepUpProcess"/>
    <dgm:cxn modelId="{CA54501C-B50A-4574-9EC3-1902549C6CD8}" type="presParOf" srcId="{BC9F4771-E159-4033-81EB-9DFA4894F0DB}" destId="{7D89103A-A049-459F-BE27-3F7CDAB3116F}" srcOrd="1" destOrd="0" presId="urn:microsoft.com/office/officeart/2009/3/layout/StepUpProcess"/>
    <dgm:cxn modelId="{56A920E3-8786-475D-A46D-A6C98B5F37C5}" type="presParOf" srcId="{BC9F4771-E159-4033-81EB-9DFA4894F0DB}" destId="{3C5452DC-DF54-41F6-A2E7-B2C3D5FFDF04}" srcOrd="2" destOrd="0" presId="urn:microsoft.com/office/officeart/2009/3/layout/StepUpProcess"/>
    <dgm:cxn modelId="{2DBDB027-666C-4653-BE66-6F50B636101A}" type="presParOf" srcId="{E1C5162A-7220-4DEC-A00E-88E41A0FBFB7}" destId="{C5E6AA56-FF3F-4B0C-BB85-D5CE068DE08E}" srcOrd="3" destOrd="0" presId="urn:microsoft.com/office/officeart/2009/3/layout/StepUpProcess"/>
    <dgm:cxn modelId="{72B37DF4-520E-42C4-A095-064BF56AC332}" type="presParOf" srcId="{C5E6AA56-FF3F-4B0C-BB85-D5CE068DE08E}" destId="{9332C6F2-99EA-46F3-8A63-326A0AAEC36C}" srcOrd="0" destOrd="0" presId="urn:microsoft.com/office/officeart/2009/3/layout/StepUpProcess"/>
    <dgm:cxn modelId="{1A6E2490-2732-496A-A74B-89557380CDBF}" type="presParOf" srcId="{E1C5162A-7220-4DEC-A00E-88E41A0FBFB7}" destId="{71194B23-C715-4BA4-A045-7005C525AF3E}" srcOrd="4" destOrd="0" presId="urn:microsoft.com/office/officeart/2009/3/layout/StepUpProcess"/>
    <dgm:cxn modelId="{2F085E8E-74C5-4BB7-9E6F-82681753A748}" type="presParOf" srcId="{71194B23-C715-4BA4-A045-7005C525AF3E}" destId="{72EB81E9-684C-485A-8117-9D259B875780}" srcOrd="0" destOrd="0" presId="urn:microsoft.com/office/officeart/2009/3/layout/StepUpProcess"/>
    <dgm:cxn modelId="{18667A45-0FE2-4073-AA4C-64849B4AE10D}" type="presParOf" srcId="{71194B23-C715-4BA4-A045-7005C525AF3E}" destId="{D789AC9C-80C2-4DAF-A9CF-4E79F9DAA1AC}" srcOrd="1" destOrd="0" presId="urn:microsoft.com/office/officeart/2009/3/layout/StepUpProcess"/>
    <dgm:cxn modelId="{B7F6B86D-D0D3-4DDE-9E7E-4D3A957DA948}" type="presParOf" srcId="{71194B23-C715-4BA4-A045-7005C525AF3E}" destId="{1D50067A-87B8-435B-B026-B5457AF02675}" srcOrd="2" destOrd="0" presId="urn:microsoft.com/office/officeart/2009/3/layout/StepUpProcess"/>
    <dgm:cxn modelId="{7F80C062-50FD-4282-A883-2E8CDE2FE1DB}" type="presParOf" srcId="{E1C5162A-7220-4DEC-A00E-88E41A0FBFB7}" destId="{BF4F7FD1-FA8A-4C56-A404-B0172E0306C7}" srcOrd="5" destOrd="0" presId="urn:microsoft.com/office/officeart/2009/3/layout/StepUpProcess"/>
    <dgm:cxn modelId="{1A6459C7-7EF6-4D30-92EC-F6F7A1D99C4B}" type="presParOf" srcId="{BF4F7FD1-FA8A-4C56-A404-B0172E0306C7}" destId="{32644BF9-5AF3-4D29-BE08-74A83ECBD4A9}" srcOrd="0" destOrd="0" presId="urn:microsoft.com/office/officeart/2009/3/layout/StepUpProcess"/>
    <dgm:cxn modelId="{39B6C53D-D583-4441-8258-2FE45FC1C7A2}" type="presParOf" srcId="{E1C5162A-7220-4DEC-A00E-88E41A0FBFB7}" destId="{34B2BED8-9D9E-4B33-A8A7-2CC4A0ED4095}" srcOrd="6" destOrd="0" presId="urn:microsoft.com/office/officeart/2009/3/layout/StepUpProcess"/>
    <dgm:cxn modelId="{42C918C6-35C2-4E58-BAE9-F0BB1C10867D}" type="presParOf" srcId="{34B2BED8-9D9E-4B33-A8A7-2CC4A0ED4095}" destId="{45F51B91-CDE2-4150-ABC9-E07326939C02}" srcOrd="0" destOrd="0" presId="urn:microsoft.com/office/officeart/2009/3/layout/StepUpProcess"/>
    <dgm:cxn modelId="{C351E5D4-D9D6-431A-83F1-287E1D3F23EB}" type="presParOf" srcId="{34B2BED8-9D9E-4B33-A8A7-2CC4A0ED4095}" destId="{C1303DAA-A72B-4927-BF7B-07847C41FFDF}" srcOrd="1" destOrd="0" presId="urn:microsoft.com/office/officeart/2009/3/layout/StepUp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596FC0A-FD31-4A13-A101-B34906B5FCA3}" type="doc">
      <dgm:prSet loTypeId="urn:microsoft.com/office/officeart/2009/3/layout/StepUpProcess" loCatId="process" qsTypeId="urn:microsoft.com/office/officeart/2005/8/quickstyle/simple1" qsCatId="simple" csTypeId="urn:microsoft.com/office/officeart/2005/8/colors/accent2_2" csCatId="accent2" phldr="1"/>
      <dgm:spPr/>
      <dgm:t>
        <a:bodyPr/>
        <a:lstStyle/>
        <a:p>
          <a:endParaRPr lang="en-US"/>
        </a:p>
      </dgm:t>
    </dgm:pt>
    <dgm:pt modelId="{7E095769-9D9B-40C6-A448-32B20215D868}">
      <dgm:prSet phldrT="[Text]" phldr="0"/>
      <dgm:spPr/>
      <dgm:t>
        <a:bodyPr/>
        <a:lstStyle/>
        <a:p>
          <a:r>
            <a:rPr lang="en-US" dirty="0"/>
            <a:t>Formulas</a:t>
          </a:r>
        </a:p>
      </dgm:t>
    </dgm:pt>
    <dgm:pt modelId="{F4600BDA-8F82-442F-A2E5-6E673A39A7ED}" type="parTrans" cxnId="{2EE4C9C5-18F6-4208-BFC2-DDFBC96794DA}">
      <dgm:prSet/>
      <dgm:spPr/>
      <dgm:t>
        <a:bodyPr/>
        <a:lstStyle/>
        <a:p>
          <a:endParaRPr lang="en-US"/>
        </a:p>
      </dgm:t>
    </dgm:pt>
    <dgm:pt modelId="{2FD94EF4-6AF8-4026-9D1C-BB8474CF7C4C}" type="sibTrans" cxnId="{2EE4C9C5-18F6-4208-BFC2-DDFBC96794DA}">
      <dgm:prSet/>
      <dgm:spPr/>
      <dgm:t>
        <a:bodyPr/>
        <a:lstStyle/>
        <a:p>
          <a:endParaRPr lang="en-US"/>
        </a:p>
      </dgm:t>
    </dgm:pt>
    <dgm:pt modelId="{9755B054-2A0A-4243-A5C5-182AC48ED55B}">
      <dgm:prSet phldrT="[Text]" phldr="0"/>
      <dgm:spPr/>
      <dgm:t>
        <a:bodyPr/>
        <a:lstStyle/>
        <a:p>
          <a:r>
            <a:rPr lang="en-US" dirty="0"/>
            <a:t>PivotTables</a:t>
          </a:r>
        </a:p>
      </dgm:t>
    </dgm:pt>
    <dgm:pt modelId="{8A628A53-949A-440A-AA57-8A743CA87032}" type="parTrans" cxnId="{EE26EA72-087D-4F8D-9070-C1852D70C64A}">
      <dgm:prSet/>
      <dgm:spPr/>
      <dgm:t>
        <a:bodyPr/>
        <a:lstStyle/>
        <a:p>
          <a:endParaRPr lang="en-US"/>
        </a:p>
      </dgm:t>
    </dgm:pt>
    <dgm:pt modelId="{16C0DDF2-CBDB-4619-ADAC-B681C71B6F89}" type="sibTrans" cxnId="{EE26EA72-087D-4F8D-9070-C1852D70C64A}">
      <dgm:prSet/>
      <dgm:spPr/>
      <dgm:t>
        <a:bodyPr/>
        <a:lstStyle/>
        <a:p>
          <a:endParaRPr lang="en-US"/>
        </a:p>
      </dgm:t>
    </dgm:pt>
    <dgm:pt modelId="{ECDF3F5F-D616-4773-AD86-206CBB2C9A45}">
      <dgm:prSet phldrT="[Text]" phldr="0"/>
      <dgm:spPr/>
      <dgm:t>
        <a:bodyPr/>
        <a:lstStyle/>
        <a:p>
          <a:r>
            <a:rPr lang="en-US" dirty="0"/>
            <a:t>Power Query</a:t>
          </a:r>
        </a:p>
      </dgm:t>
    </dgm:pt>
    <dgm:pt modelId="{2B13BBD9-23B6-4A64-8160-2979AC683130}" type="parTrans" cxnId="{98F83CF4-04E0-4019-ADAD-02149DA9E92B}">
      <dgm:prSet/>
      <dgm:spPr/>
      <dgm:t>
        <a:bodyPr/>
        <a:lstStyle/>
        <a:p>
          <a:endParaRPr lang="en-US"/>
        </a:p>
      </dgm:t>
    </dgm:pt>
    <dgm:pt modelId="{48E1857D-DABA-49C3-A05A-879561167E94}" type="sibTrans" cxnId="{98F83CF4-04E0-4019-ADAD-02149DA9E92B}">
      <dgm:prSet/>
      <dgm:spPr/>
      <dgm:t>
        <a:bodyPr/>
        <a:lstStyle/>
        <a:p>
          <a:endParaRPr lang="en-US"/>
        </a:p>
      </dgm:t>
    </dgm:pt>
    <dgm:pt modelId="{DD10328E-A6DD-41E3-B554-4474C789EE3B}">
      <dgm:prSet phldrT="[Text]" phldr="0"/>
      <dgm:spPr/>
      <dgm:t>
        <a:bodyPr/>
        <a:lstStyle/>
        <a:p>
          <a:r>
            <a:rPr lang="en-US"/>
            <a:t>Copilot</a:t>
          </a:r>
          <a:endParaRPr lang="en-US" dirty="0"/>
        </a:p>
      </dgm:t>
    </dgm:pt>
    <dgm:pt modelId="{4797E7E1-7520-4563-8E79-62450B631D4B}" type="parTrans" cxnId="{15541B4A-6034-416F-A9C3-A32F77ED3760}">
      <dgm:prSet/>
      <dgm:spPr/>
    </dgm:pt>
    <dgm:pt modelId="{89CB7E39-70B1-4EAE-ADEF-C2D7ECAB52C3}" type="sibTrans" cxnId="{15541B4A-6034-416F-A9C3-A32F77ED3760}">
      <dgm:prSet/>
      <dgm:spPr/>
    </dgm:pt>
    <dgm:pt modelId="{E1C5162A-7220-4DEC-A00E-88E41A0FBFB7}" type="pres">
      <dgm:prSet presAssocID="{9596FC0A-FD31-4A13-A101-B34906B5FCA3}" presName="rootnode" presStyleCnt="0">
        <dgm:presLayoutVars>
          <dgm:chMax/>
          <dgm:chPref/>
          <dgm:dir/>
          <dgm:animLvl val="lvl"/>
        </dgm:presLayoutVars>
      </dgm:prSet>
      <dgm:spPr/>
    </dgm:pt>
    <dgm:pt modelId="{87829CA9-EEC9-440A-95A0-711332578C97}" type="pres">
      <dgm:prSet presAssocID="{7E095769-9D9B-40C6-A448-32B20215D868}" presName="composite" presStyleCnt="0"/>
      <dgm:spPr/>
    </dgm:pt>
    <dgm:pt modelId="{9270B02A-591F-4475-8B46-CA257B56BD42}" type="pres">
      <dgm:prSet presAssocID="{7E095769-9D9B-40C6-A448-32B20215D868}" presName="LShape" presStyleLbl="alignNode1" presStyleIdx="0" presStyleCnt="7"/>
      <dgm:spPr/>
    </dgm:pt>
    <dgm:pt modelId="{70D0D292-7A19-4BB9-92FE-398428920B5A}" type="pres">
      <dgm:prSet presAssocID="{7E095769-9D9B-40C6-A448-32B20215D868}" presName="ParentText" presStyleLbl="revTx" presStyleIdx="0" presStyleCnt="4">
        <dgm:presLayoutVars>
          <dgm:chMax val="0"/>
          <dgm:chPref val="0"/>
          <dgm:bulletEnabled val="1"/>
        </dgm:presLayoutVars>
      </dgm:prSet>
      <dgm:spPr/>
    </dgm:pt>
    <dgm:pt modelId="{6E1B76BE-C8A3-4EFE-B029-79471988039A}" type="pres">
      <dgm:prSet presAssocID="{7E095769-9D9B-40C6-A448-32B20215D868}" presName="Triangle" presStyleLbl="alignNode1" presStyleIdx="1" presStyleCnt="7"/>
      <dgm:spPr/>
    </dgm:pt>
    <dgm:pt modelId="{65CCD5B0-6FA3-4512-870D-0688E6DC15BB}" type="pres">
      <dgm:prSet presAssocID="{2FD94EF4-6AF8-4026-9D1C-BB8474CF7C4C}" presName="sibTrans" presStyleCnt="0"/>
      <dgm:spPr/>
    </dgm:pt>
    <dgm:pt modelId="{06A88AE1-611E-4204-A7B3-0D769D20F3DC}" type="pres">
      <dgm:prSet presAssocID="{2FD94EF4-6AF8-4026-9D1C-BB8474CF7C4C}" presName="space" presStyleCnt="0"/>
      <dgm:spPr/>
    </dgm:pt>
    <dgm:pt modelId="{BC9F4771-E159-4033-81EB-9DFA4894F0DB}" type="pres">
      <dgm:prSet presAssocID="{9755B054-2A0A-4243-A5C5-182AC48ED55B}" presName="composite" presStyleCnt="0"/>
      <dgm:spPr/>
    </dgm:pt>
    <dgm:pt modelId="{31A2965E-BA52-4DAE-B25D-0B8DF9759693}" type="pres">
      <dgm:prSet presAssocID="{9755B054-2A0A-4243-A5C5-182AC48ED55B}" presName="LShape" presStyleLbl="alignNode1" presStyleIdx="2" presStyleCnt="7"/>
      <dgm:spPr/>
    </dgm:pt>
    <dgm:pt modelId="{7D89103A-A049-459F-BE27-3F7CDAB3116F}" type="pres">
      <dgm:prSet presAssocID="{9755B054-2A0A-4243-A5C5-182AC48ED55B}" presName="ParentText" presStyleLbl="revTx" presStyleIdx="1" presStyleCnt="4">
        <dgm:presLayoutVars>
          <dgm:chMax val="0"/>
          <dgm:chPref val="0"/>
          <dgm:bulletEnabled val="1"/>
        </dgm:presLayoutVars>
      </dgm:prSet>
      <dgm:spPr/>
    </dgm:pt>
    <dgm:pt modelId="{3C5452DC-DF54-41F6-A2E7-B2C3D5FFDF04}" type="pres">
      <dgm:prSet presAssocID="{9755B054-2A0A-4243-A5C5-182AC48ED55B}" presName="Triangle" presStyleLbl="alignNode1" presStyleIdx="3" presStyleCnt="7"/>
      <dgm:spPr/>
    </dgm:pt>
    <dgm:pt modelId="{C5E6AA56-FF3F-4B0C-BB85-D5CE068DE08E}" type="pres">
      <dgm:prSet presAssocID="{16C0DDF2-CBDB-4619-ADAC-B681C71B6F89}" presName="sibTrans" presStyleCnt="0"/>
      <dgm:spPr/>
    </dgm:pt>
    <dgm:pt modelId="{9332C6F2-99EA-46F3-8A63-326A0AAEC36C}" type="pres">
      <dgm:prSet presAssocID="{16C0DDF2-CBDB-4619-ADAC-B681C71B6F89}" presName="space" presStyleCnt="0"/>
      <dgm:spPr/>
    </dgm:pt>
    <dgm:pt modelId="{71194B23-C715-4BA4-A045-7005C525AF3E}" type="pres">
      <dgm:prSet presAssocID="{ECDF3F5F-D616-4773-AD86-206CBB2C9A45}" presName="composite" presStyleCnt="0"/>
      <dgm:spPr/>
    </dgm:pt>
    <dgm:pt modelId="{72EB81E9-684C-485A-8117-9D259B875780}" type="pres">
      <dgm:prSet presAssocID="{ECDF3F5F-D616-4773-AD86-206CBB2C9A45}" presName="LShape" presStyleLbl="alignNode1" presStyleIdx="4" presStyleCnt="7"/>
      <dgm:spPr/>
    </dgm:pt>
    <dgm:pt modelId="{D789AC9C-80C2-4DAF-A9CF-4E79F9DAA1AC}" type="pres">
      <dgm:prSet presAssocID="{ECDF3F5F-D616-4773-AD86-206CBB2C9A45}" presName="ParentText" presStyleLbl="revTx" presStyleIdx="2" presStyleCnt="4">
        <dgm:presLayoutVars>
          <dgm:chMax val="0"/>
          <dgm:chPref val="0"/>
          <dgm:bulletEnabled val="1"/>
        </dgm:presLayoutVars>
      </dgm:prSet>
      <dgm:spPr/>
    </dgm:pt>
    <dgm:pt modelId="{14EFF778-3053-49EA-B8FF-91963C53C838}" type="pres">
      <dgm:prSet presAssocID="{ECDF3F5F-D616-4773-AD86-206CBB2C9A45}" presName="Triangle" presStyleLbl="alignNode1" presStyleIdx="5" presStyleCnt="7"/>
      <dgm:spPr/>
    </dgm:pt>
    <dgm:pt modelId="{48896D18-1FB6-4DEF-9EEA-AF6FB11D0F17}" type="pres">
      <dgm:prSet presAssocID="{48E1857D-DABA-49C3-A05A-879561167E94}" presName="sibTrans" presStyleCnt="0"/>
      <dgm:spPr/>
    </dgm:pt>
    <dgm:pt modelId="{449B5E31-9683-440C-8D54-C8DD516DD73A}" type="pres">
      <dgm:prSet presAssocID="{48E1857D-DABA-49C3-A05A-879561167E94}" presName="space" presStyleCnt="0"/>
      <dgm:spPr/>
    </dgm:pt>
    <dgm:pt modelId="{E96AF6BE-0A31-4A43-994F-7ACA89F404A5}" type="pres">
      <dgm:prSet presAssocID="{DD10328E-A6DD-41E3-B554-4474C789EE3B}" presName="composite" presStyleCnt="0"/>
      <dgm:spPr/>
    </dgm:pt>
    <dgm:pt modelId="{69FB57F2-30E0-447B-9CA3-6081CC2A6EF0}" type="pres">
      <dgm:prSet presAssocID="{DD10328E-A6DD-41E3-B554-4474C789EE3B}" presName="LShape" presStyleLbl="alignNode1" presStyleIdx="6" presStyleCnt="7"/>
      <dgm:spPr/>
    </dgm:pt>
    <dgm:pt modelId="{8831F2BD-16CB-4DFD-906B-F2ABDB3649AD}" type="pres">
      <dgm:prSet presAssocID="{DD10328E-A6DD-41E3-B554-4474C789EE3B}" presName="ParentText" presStyleLbl="revTx" presStyleIdx="3" presStyleCnt="4">
        <dgm:presLayoutVars>
          <dgm:chMax val="0"/>
          <dgm:chPref val="0"/>
          <dgm:bulletEnabled val="1"/>
        </dgm:presLayoutVars>
      </dgm:prSet>
      <dgm:spPr/>
    </dgm:pt>
  </dgm:ptLst>
  <dgm:cxnLst>
    <dgm:cxn modelId="{15541B4A-6034-416F-A9C3-A32F77ED3760}" srcId="{9596FC0A-FD31-4A13-A101-B34906B5FCA3}" destId="{DD10328E-A6DD-41E3-B554-4474C789EE3B}" srcOrd="3" destOrd="0" parTransId="{4797E7E1-7520-4563-8E79-62450B631D4B}" sibTransId="{89CB7E39-70B1-4EAE-ADEF-C2D7ECAB52C3}"/>
    <dgm:cxn modelId="{1BAAE84C-B4C5-4E73-B9B1-02C29868C3E6}" type="presOf" srcId="{ECDF3F5F-D616-4773-AD86-206CBB2C9A45}" destId="{D789AC9C-80C2-4DAF-A9CF-4E79F9DAA1AC}" srcOrd="0" destOrd="0" presId="urn:microsoft.com/office/officeart/2009/3/layout/StepUpProcess"/>
    <dgm:cxn modelId="{EE26EA72-087D-4F8D-9070-C1852D70C64A}" srcId="{9596FC0A-FD31-4A13-A101-B34906B5FCA3}" destId="{9755B054-2A0A-4243-A5C5-182AC48ED55B}" srcOrd="1" destOrd="0" parTransId="{8A628A53-949A-440A-AA57-8A743CA87032}" sibTransId="{16C0DDF2-CBDB-4619-ADAC-B681C71B6F89}"/>
    <dgm:cxn modelId="{70223BA7-3977-4363-B8B1-9018CF9464B6}" type="presOf" srcId="{9755B054-2A0A-4243-A5C5-182AC48ED55B}" destId="{7D89103A-A049-459F-BE27-3F7CDAB3116F}" srcOrd="0" destOrd="0" presId="urn:microsoft.com/office/officeart/2009/3/layout/StepUpProcess"/>
    <dgm:cxn modelId="{9B6313B1-6985-4CAA-8504-23046B34F1B1}" type="presOf" srcId="{DD10328E-A6DD-41E3-B554-4474C789EE3B}" destId="{8831F2BD-16CB-4DFD-906B-F2ABDB3649AD}" srcOrd="0" destOrd="0" presId="urn:microsoft.com/office/officeart/2009/3/layout/StepUpProcess"/>
    <dgm:cxn modelId="{7AA0C1BB-5351-49F2-A43B-1BDC920190A8}" type="presOf" srcId="{9596FC0A-FD31-4A13-A101-B34906B5FCA3}" destId="{E1C5162A-7220-4DEC-A00E-88E41A0FBFB7}" srcOrd="0" destOrd="0" presId="urn:microsoft.com/office/officeart/2009/3/layout/StepUpProcess"/>
    <dgm:cxn modelId="{2EE4C9C5-18F6-4208-BFC2-DDFBC96794DA}" srcId="{9596FC0A-FD31-4A13-A101-B34906B5FCA3}" destId="{7E095769-9D9B-40C6-A448-32B20215D868}" srcOrd="0" destOrd="0" parTransId="{F4600BDA-8F82-442F-A2E5-6E673A39A7ED}" sibTransId="{2FD94EF4-6AF8-4026-9D1C-BB8474CF7C4C}"/>
    <dgm:cxn modelId="{98F83CF4-04E0-4019-ADAD-02149DA9E92B}" srcId="{9596FC0A-FD31-4A13-A101-B34906B5FCA3}" destId="{ECDF3F5F-D616-4773-AD86-206CBB2C9A45}" srcOrd="2" destOrd="0" parTransId="{2B13BBD9-23B6-4A64-8160-2979AC683130}" sibTransId="{48E1857D-DABA-49C3-A05A-879561167E94}"/>
    <dgm:cxn modelId="{19CA1EFA-6E30-48AB-9169-FBD3733306D8}" type="presOf" srcId="{7E095769-9D9B-40C6-A448-32B20215D868}" destId="{70D0D292-7A19-4BB9-92FE-398428920B5A}" srcOrd="0" destOrd="0" presId="urn:microsoft.com/office/officeart/2009/3/layout/StepUpProcess"/>
    <dgm:cxn modelId="{4A92DC72-1C29-4066-9066-2B3F109B73A6}" type="presParOf" srcId="{E1C5162A-7220-4DEC-A00E-88E41A0FBFB7}" destId="{87829CA9-EEC9-440A-95A0-711332578C97}" srcOrd="0" destOrd="0" presId="urn:microsoft.com/office/officeart/2009/3/layout/StepUpProcess"/>
    <dgm:cxn modelId="{65A324FE-3A72-46CB-AB0F-48288DB4D980}" type="presParOf" srcId="{87829CA9-EEC9-440A-95A0-711332578C97}" destId="{9270B02A-591F-4475-8B46-CA257B56BD42}" srcOrd="0" destOrd="0" presId="urn:microsoft.com/office/officeart/2009/3/layout/StepUpProcess"/>
    <dgm:cxn modelId="{B7641341-7687-4E96-9A67-BCCA1DC079CE}" type="presParOf" srcId="{87829CA9-EEC9-440A-95A0-711332578C97}" destId="{70D0D292-7A19-4BB9-92FE-398428920B5A}" srcOrd="1" destOrd="0" presId="urn:microsoft.com/office/officeart/2009/3/layout/StepUpProcess"/>
    <dgm:cxn modelId="{2D982769-D530-451D-B0B9-79FC2E1086BE}" type="presParOf" srcId="{87829CA9-EEC9-440A-95A0-711332578C97}" destId="{6E1B76BE-C8A3-4EFE-B029-79471988039A}" srcOrd="2" destOrd="0" presId="urn:microsoft.com/office/officeart/2009/3/layout/StepUpProcess"/>
    <dgm:cxn modelId="{825DD771-FA76-47CF-9FA0-8C0710127C54}" type="presParOf" srcId="{E1C5162A-7220-4DEC-A00E-88E41A0FBFB7}" destId="{65CCD5B0-6FA3-4512-870D-0688E6DC15BB}" srcOrd="1" destOrd="0" presId="urn:microsoft.com/office/officeart/2009/3/layout/StepUpProcess"/>
    <dgm:cxn modelId="{1AC141DA-AB94-490B-9CB1-6A40AE07004F}" type="presParOf" srcId="{65CCD5B0-6FA3-4512-870D-0688E6DC15BB}" destId="{06A88AE1-611E-4204-A7B3-0D769D20F3DC}" srcOrd="0" destOrd="0" presId="urn:microsoft.com/office/officeart/2009/3/layout/StepUpProcess"/>
    <dgm:cxn modelId="{1F9697A3-B262-48A5-AA76-D0E663A655A2}" type="presParOf" srcId="{E1C5162A-7220-4DEC-A00E-88E41A0FBFB7}" destId="{BC9F4771-E159-4033-81EB-9DFA4894F0DB}" srcOrd="2" destOrd="0" presId="urn:microsoft.com/office/officeart/2009/3/layout/StepUpProcess"/>
    <dgm:cxn modelId="{0C5C56B4-294A-47A8-A8AA-92229D56634C}" type="presParOf" srcId="{BC9F4771-E159-4033-81EB-9DFA4894F0DB}" destId="{31A2965E-BA52-4DAE-B25D-0B8DF9759693}" srcOrd="0" destOrd="0" presId="urn:microsoft.com/office/officeart/2009/3/layout/StepUpProcess"/>
    <dgm:cxn modelId="{CA54501C-B50A-4574-9EC3-1902549C6CD8}" type="presParOf" srcId="{BC9F4771-E159-4033-81EB-9DFA4894F0DB}" destId="{7D89103A-A049-459F-BE27-3F7CDAB3116F}" srcOrd="1" destOrd="0" presId="urn:microsoft.com/office/officeart/2009/3/layout/StepUpProcess"/>
    <dgm:cxn modelId="{56A920E3-8786-475D-A46D-A6C98B5F37C5}" type="presParOf" srcId="{BC9F4771-E159-4033-81EB-9DFA4894F0DB}" destId="{3C5452DC-DF54-41F6-A2E7-B2C3D5FFDF04}" srcOrd="2" destOrd="0" presId="urn:microsoft.com/office/officeart/2009/3/layout/StepUpProcess"/>
    <dgm:cxn modelId="{2DBDB027-666C-4653-BE66-6F50B636101A}" type="presParOf" srcId="{E1C5162A-7220-4DEC-A00E-88E41A0FBFB7}" destId="{C5E6AA56-FF3F-4B0C-BB85-D5CE068DE08E}" srcOrd="3" destOrd="0" presId="urn:microsoft.com/office/officeart/2009/3/layout/StepUpProcess"/>
    <dgm:cxn modelId="{72B37DF4-520E-42C4-A095-064BF56AC332}" type="presParOf" srcId="{C5E6AA56-FF3F-4B0C-BB85-D5CE068DE08E}" destId="{9332C6F2-99EA-46F3-8A63-326A0AAEC36C}" srcOrd="0" destOrd="0" presId="urn:microsoft.com/office/officeart/2009/3/layout/StepUpProcess"/>
    <dgm:cxn modelId="{1A6E2490-2732-496A-A74B-89557380CDBF}" type="presParOf" srcId="{E1C5162A-7220-4DEC-A00E-88E41A0FBFB7}" destId="{71194B23-C715-4BA4-A045-7005C525AF3E}" srcOrd="4" destOrd="0" presId="urn:microsoft.com/office/officeart/2009/3/layout/StepUpProcess"/>
    <dgm:cxn modelId="{2F085E8E-74C5-4BB7-9E6F-82681753A748}" type="presParOf" srcId="{71194B23-C715-4BA4-A045-7005C525AF3E}" destId="{72EB81E9-684C-485A-8117-9D259B875780}" srcOrd="0" destOrd="0" presId="urn:microsoft.com/office/officeart/2009/3/layout/StepUpProcess"/>
    <dgm:cxn modelId="{18667A45-0FE2-4073-AA4C-64849B4AE10D}" type="presParOf" srcId="{71194B23-C715-4BA4-A045-7005C525AF3E}" destId="{D789AC9C-80C2-4DAF-A9CF-4E79F9DAA1AC}" srcOrd="1" destOrd="0" presId="urn:microsoft.com/office/officeart/2009/3/layout/StepUpProcess"/>
    <dgm:cxn modelId="{80DF88C6-F94F-4789-A333-94594EB24137}" type="presParOf" srcId="{71194B23-C715-4BA4-A045-7005C525AF3E}" destId="{14EFF778-3053-49EA-B8FF-91963C53C838}" srcOrd="2" destOrd="0" presId="urn:microsoft.com/office/officeart/2009/3/layout/StepUpProcess"/>
    <dgm:cxn modelId="{14096607-09E7-47CD-A76A-B1A244F164FE}" type="presParOf" srcId="{E1C5162A-7220-4DEC-A00E-88E41A0FBFB7}" destId="{48896D18-1FB6-4DEF-9EEA-AF6FB11D0F17}" srcOrd="5" destOrd="0" presId="urn:microsoft.com/office/officeart/2009/3/layout/StepUpProcess"/>
    <dgm:cxn modelId="{F8FB3E92-BB56-406D-A301-35CF44B3756C}" type="presParOf" srcId="{48896D18-1FB6-4DEF-9EEA-AF6FB11D0F17}" destId="{449B5E31-9683-440C-8D54-C8DD516DD73A}" srcOrd="0" destOrd="0" presId="urn:microsoft.com/office/officeart/2009/3/layout/StepUpProcess"/>
    <dgm:cxn modelId="{1A9E898E-ECEF-478A-B9F3-99B08A1E61D1}" type="presParOf" srcId="{E1C5162A-7220-4DEC-A00E-88E41A0FBFB7}" destId="{E96AF6BE-0A31-4A43-994F-7ACA89F404A5}" srcOrd="6" destOrd="0" presId="urn:microsoft.com/office/officeart/2009/3/layout/StepUpProcess"/>
    <dgm:cxn modelId="{FFE93C43-1FDA-436A-9C91-8F53DEB7E6AF}" type="presParOf" srcId="{E96AF6BE-0A31-4A43-994F-7ACA89F404A5}" destId="{69FB57F2-30E0-447B-9CA3-6081CC2A6EF0}" srcOrd="0" destOrd="0" presId="urn:microsoft.com/office/officeart/2009/3/layout/StepUpProcess"/>
    <dgm:cxn modelId="{181F6695-C855-4873-9BD4-3B4B2604253D}" type="presParOf" srcId="{E96AF6BE-0A31-4A43-994F-7ACA89F404A5}" destId="{8831F2BD-16CB-4DFD-906B-F2ABDB3649AD}" srcOrd="1" destOrd="0" presId="urn:microsoft.com/office/officeart/2009/3/layout/StepUp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70B02A-591F-4475-8B46-CA257B56BD42}">
      <dsp:nvSpPr>
        <dsp:cNvPr id="0" name=""/>
        <dsp:cNvSpPr/>
      </dsp:nvSpPr>
      <dsp:spPr>
        <a:xfrm rot="5400000">
          <a:off x="563527" y="3401553"/>
          <a:ext cx="1696954" cy="2823694"/>
        </a:xfrm>
        <a:prstGeom prst="corner">
          <a:avLst>
            <a:gd name="adj1" fmla="val 16120"/>
            <a:gd name="adj2" fmla="val 16110"/>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0D0D292-7A19-4BB9-92FE-398428920B5A}">
      <dsp:nvSpPr>
        <dsp:cNvPr id="0" name=""/>
        <dsp:cNvSpPr/>
      </dsp:nvSpPr>
      <dsp:spPr>
        <a:xfrm>
          <a:off x="280263" y="4245229"/>
          <a:ext cx="2549247" cy="22345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kern="1200" dirty="0"/>
            <a:t>Formulas</a:t>
          </a:r>
        </a:p>
      </dsp:txBody>
      <dsp:txXfrm>
        <a:off x="280263" y="4245229"/>
        <a:ext cx="2549247" cy="2234565"/>
      </dsp:txXfrm>
    </dsp:sp>
    <dsp:sp modelId="{6E1B76BE-C8A3-4EFE-B029-79471988039A}">
      <dsp:nvSpPr>
        <dsp:cNvPr id="0" name=""/>
        <dsp:cNvSpPr/>
      </dsp:nvSpPr>
      <dsp:spPr>
        <a:xfrm>
          <a:off x="2348521" y="3193669"/>
          <a:ext cx="480990" cy="480990"/>
        </a:xfrm>
        <a:prstGeom prst="triangle">
          <a:avLst>
            <a:gd name="adj" fmla="val 100000"/>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1A2965E-BA52-4DAE-B25D-0B8DF9759693}">
      <dsp:nvSpPr>
        <dsp:cNvPr id="0" name=""/>
        <dsp:cNvSpPr/>
      </dsp:nvSpPr>
      <dsp:spPr>
        <a:xfrm rot="5400000">
          <a:off x="3684304" y="2629313"/>
          <a:ext cx="1696954" cy="2823694"/>
        </a:xfrm>
        <a:prstGeom prst="corner">
          <a:avLst>
            <a:gd name="adj1" fmla="val 16120"/>
            <a:gd name="adj2" fmla="val 16110"/>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D89103A-A049-459F-BE27-3F7CDAB3116F}">
      <dsp:nvSpPr>
        <dsp:cNvPr id="0" name=""/>
        <dsp:cNvSpPr/>
      </dsp:nvSpPr>
      <dsp:spPr>
        <a:xfrm>
          <a:off x="3401040" y="3472990"/>
          <a:ext cx="2549247" cy="22345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kern="1200" dirty="0"/>
            <a:t>PivotTables</a:t>
          </a:r>
        </a:p>
      </dsp:txBody>
      <dsp:txXfrm>
        <a:off x="3401040" y="3472990"/>
        <a:ext cx="2549247" cy="2234565"/>
      </dsp:txXfrm>
    </dsp:sp>
    <dsp:sp modelId="{3C5452DC-DF54-41F6-A2E7-B2C3D5FFDF04}">
      <dsp:nvSpPr>
        <dsp:cNvPr id="0" name=""/>
        <dsp:cNvSpPr/>
      </dsp:nvSpPr>
      <dsp:spPr>
        <a:xfrm>
          <a:off x="5469298" y="2421430"/>
          <a:ext cx="480990" cy="480990"/>
        </a:xfrm>
        <a:prstGeom prst="triangle">
          <a:avLst>
            <a:gd name="adj" fmla="val 100000"/>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2EB81E9-684C-485A-8117-9D259B875780}">
      <dsp:nvSpPr>
        <dsp:cNvPr id="0" name=""/>
        <dsp:cNvSpPr/>
      </dsp:nvSpPr>
      <dsp:spPr>
        <a:xfrm rot="5400000">
          <a:off x="6805081" y="1857074"/>
          <a:ext cx="1696954" cy="2823694"/>
        </a:xfrm>
        <a:prstGeom prst="corner">
          <a:avLst>
            <a:gd name="adj1" fmla="val 16120"/>
            <a:gd name="adj2" fmla="val 16110"/>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789AC9C-80C2-4DAF-A9CF-4E79F9DAA1AC}">
      <dsp:nvSpPr>
        <dsp:cNvPr id="0" name=""/>
        <dsp:cNvSpPr/>
      </dsp:nvSpPr>
      <dsp:spPr>
        <a:xfrm>
          <a:off x="6521817" y="2700751"/>
          <a:ext cx="2549247" cy="22345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kern="1200" dirty="0"/>
            <a:t>Power Query</a:t>
          </a:r>
        </a:p>
      </dsp:txBody>
      <dsp:txXfrm>
        <a:off x="6521817" y="2700751"/>
        <a:ext cx="2549247" cy="2234565"/>
      </dsp:txXfrm>
    </dsp:sp>
    <dsp:sp modelId="{1D50067A-87B8-435B-B026-B5457AF02675}">
      <dsp:nvSpPr>
        <dsp:cNvPr id="0" name=""/>
        <dsp:cNvSpPr/>
      </dsp:nvSpPr>
      <dsp:spPr>
        <a:xfrm>
          <a:off x="8590075" y="1649191"/>
          <a:ext cx="480990" cy="480990"/>
        </a:xfrm>
        <a:prstGeom prst="triangle">
          <a:avLst>
            <a:gd name="adj" fmla="val 100000"/>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5F51B91-CDE2-4150-ABC9-E07326939C02}">
      <dsp:nvSpPr>
        <dsp:cNvPr id="0" name=""/>
        <dsp:cNvSpPr/>
      </dsp:nvSpPr>
      <dsp:spPr>
        <a:xfrm rot="5400000">
          <a:off x="9925858" y="1084835"/>
          <a:ext cx="1696954" cy="2823694"/>
        </a:xfrm>
        <a:prstGeom prst="corner">
          <a:avLst>
            <a:gd name="adj1" fmla="val 16120"/>
            <a:gd name="adj2" fmla="val 16110"/>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1303DAA-A72B-4927-BF7B-07847C41FFDF}">
      <dsp:nvSpPr>
        <dsp:cNvPr id="0" name=""/>
        <dsp:cNvSpPr/>
      </dsp:nvSpPr>
      <dsp:spPr>
        <a:xfrm>
          <a:off x="9642594" y="1928511"/>
          <a:ext cx="2549247" cy="22345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kern="1200"/>
            <a:t>Copilot</a:t>
          </a:r>
          <a:endParaRPr lang="en-US" sz="3800" kern="1200" dirty="0"/>
        </a:p>
      </dsp:txBody>
      <dsp:txXfrm>
        <a:off x="9642594" y="1928511"/>
        <a:ext cx="2549247" cy="223456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70B02A-591F-4475-8B46-CA257B56BD42}">
      <dsp:nvSpPr>
        <dsp:cNvPr id="0" name=""/>
        <dsp:cNvSpPr/>
      </dsp:nvSpPr>
      <dsp:spPr>
        <a:xfrm rot="5400000">
          <a:off x="563527" y="3401553"/>
          <a:ext cx="1696954" cy="2823694"/>
        </a:xfrm>
        <a:prstGeom prst="corner">
          <a:avLst>
            <a:gd name="adj1" fmla="val 16120"/>
            <a:gd name="adj2" fmla="val 16110"/>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0D0D292-7A19-4BB9-92FE-398428920B5A}">
      <dsp:nvSpPr>
        <dsp:cNvPr id="0" name=""/>
        <dsp:cNvSpPr/>
      </dsp:nvSpPr>
      <dsp:spPr>
        <a:xfrm>
          <a:off x="280263" y="4245229"/>
          <a:ext cx="2549247" cy="22345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kern="1200" dirty="0"/>
            <a:t>Formulas</a:t>
          </a:r>
        </a:p>
      </dsp:txBody>
      <dsp:txXfrm>
        <a:off x="280263" y="4245229"/>
        <a:ext cx="2549247" cy="2234565"/>
      </dsp:txXfrm>
    </dsp:sp>
    <dsp:sp modelId="{6E1B76BE-C8A3-4EFE-B029-79471988039A}">
      <dsp:nvSpPr>
        <dsp:cNvPr id="0" name=""/>
        <dsp:cNvSpPr/>
      </dsp:nvSpPr>
      <dsp:spPr>
        <a:xfrm>
          <a:off x="2348521" y="3193669"/>
          <a:ext cx="480990" cy="480990"/>
        </a:xfrm>
        <a:prstGeom prst="triangle">
          <a:avLst>
            <a:gd name="adj" fmla="val 100000"/>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1A2965E-BA52-4DAE-B25D-0B8DF9759693}">
      <dsp:nvSpPr>
        <dsp:cNvPr id="0" name=""/>
        <dsp:cNvSpPr/>
      </dsp:nvSpPr>
      <dsp:spPr>
        <a:xfrm rot="5400000">
          <a:off x="3684304" y="2629313"/>
          <a:ext cx="1696954" cy="2823694"/>
        </a:xfrm>
        <a:prstGeom prst="corner">
          <a:avLst>
            <a:gd name="adj1" fmla="val 16120"/>
            <a:gd name="adj2" fmla="val 16110"/>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D89103A-A049-459F-BE27-3F7CDAB3116F}">
      <dsp:nvSpPr>
        <dsp:cNvPr id="0" name=""/>
        <dsp:cNvSpPr/>
      </dsp:nvSpPr>
      <dsp:spPr>
        <a:xfrm>
          <a:off x="3401040" y="3472990"/>
          <a:ext cx="2549247" cy="22345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kern="1200" dirty="0"/>
            <a:t>PivotTables</a:t>
          </a:r>
        </a:p>
      </dsp:txBody>
      <dsp:txXfrm>
        <a:off x="3401040" y="3472990"/>
        <a:ext cx="2549247" cy="2234565"/>
      </dsp:txXfrm>
    </dsp:sp>
    <dsp:sp modelId="{3C5452DC-DF54-41F6-A2E7-B2C3D5FFDF04}">
      <dsp:nvSpPr>
        <dsp:cNvPr id="0" name=""/>
        <dsp:cNvSpPr/>
      </dsp:nvSpPr>
      <dsp:spPr>
        <a:xfrm>
          <a:off x="5469298" y="2421430"/>
          <a:ext cx="480990" cy="480990"/>
        </a:xfrm>
        <a:prstGeom prst="triangle">
          <a:avLst>
            <a:gd name="adj" fmla="val 100000"/>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2EB81E9-684C-485A-8117-9D259B875780}">
      <dsp:nvSpPr>
        <dsp:cNvPr id="0" name=""/>
        <dsp:cNvSpPr/>
      </dsp:nvSpPr>
      <dsp:spPr>
        <a:xfrm rot="5400000">
          <a:off x="6805081" y="1857074"/>
          <a:ext cx="1696954" cy="2823694"/>
        </a:xfrm>
        <a:prstGeom prst="corner">
          <a:avLst>
            <a:gd name="adj1" fmla="val 16120"/>
            <a:gd name="adj2" fmla="val 16110"/>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789AC9C-80C2-4DAF-A9CF-4E79F9DAA1AC}">
      <dsp:nvSpPr>
        <dsp:cNvPr id="0" name=""/>
        <dsp:cNvSpPr/>
      </dsp:nvSpPr>
      <dsp:spPr>
        <a:xfrm>
          <a:off x="6521817" y="2700751"/>
          <a:ext cx="2549247" cy="22345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kern="1200" dirty="0"/>
            <a:t>Power Query</a:t>
          </a:r>
        </a:p>
      </dsp:txBody>
      <dsp:txXfrm>
        <a:off x="6521817" y="2700751"/>
        <a:ext cx="2549247" cy="2234565"/>
      </dsp:txXfrm>
    </dsp:sp>
    <dsp:sp modelId="{14EFF778-3053-49EA-B8FF-91963C53C838}">
      <dsp:nvSpPr>
        <dsp:cNvPr id="0" name=""/>
        <dsp:cNvSpPr/>
      </dsp:nvSpPr>
      <dsp:spPr>
        <a:xfrm>
          <a:off x="8590075" y="1649191"/>
          <a:ext cx="480990" cy="480990"/>
        </a:xfrm>
        <a:prstGeom prst="triangle">
          <a:avLst>
            <a:gd name="adj" fmla="val 100000"/>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9FB57F2-30E0-447B-9CA3-6081CC2A6EF0}">
      <dsp:nvSpPr>
        <dsp:cNvPr id="0" name=""/>
        <dsp:cNvSpPr/>
      </dsp:nvSpPr>
      <dsp:spPr>
        <a:xfrm rot="5400000">
          <a:off x="9925858" y="1084835"/>
          <a:ext cx="1696954" cy="2823694"/>
        </a:xfrm>
        <a:prstGeom prst="corner">
          <a:avLst>
            <a:gd name="adj1" fmla="val 16120"/>
            <a:gd name="adj2" fmla="val 16110"/>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831F2BD-16CB-4DFD-906B-F2ABDB3649AD}">
      <dsp:nvSpPr>
        <dsp:cNvPr id="0" name=""/>
        <dsp:cNvSpPr/>
      </dsp:nvSpPr>
      <dsp:spPr>
        <a:xfrm>
          <a:off x="9642594" y="1928511"/>
          <a:ext cx="2549247" cy="22345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kern="1200"/>
            <a:t>Copilot</a:t>
          </a:r>
          <a:endParaRPr lang="en-US" sz="3800" kern="1200" dirty="0"/>
        </a:p>
      </dsp:txBody>
      <dsp:txXfrm>
        <a:off x="9642594" y="1928511"/>
        <a:ext cx="2549247" cy="2234565"/>
      </dsp:txXfrm>
    </dsp:sp>
  </dsp:spTree>
</dsp:drawing>
</file>

<file path=ppt/diagrams/layout1.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A98A70-FA8C-4354-959C-C70678AC9BCF}" type="datetimeFigureOut">
              <a:rPr lang="en-US" smtClean="0"/>
              <a:t>11/9/2025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B500C5-13F7-48FC-8160-C29AECF6C602}" type="slidenum">
              <a:rPr lang="en-US" smtClean="0"/>
              <a:t>‹#›</a:t>
            </a:fld>
            <a:endParaRPr lang="en-US"/>
          </a:p>
        </p:txBody>
      </p:sp>
    </p:spTree>
    <p:extLst>
      <p:ext uri="{BB962C8B-B14F-4D97-AF65-F5344CB8AC3E}">
        <p14:creationId xmlns:p14="http://schemas.microsoft.com/office/powerpoint/2010/main" val="30183505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900" dirty="0"/>
              <a:t>When people hear Copilot and Agent Mode, they often assume they are the same thing, but they represent very different stages in how AI works inside Excel.</a:t>
            </a:r>
          </a:p>
          <a:p>
            <a:endParaRPr lang="en-US" sz="900" dirty="0"/>
          </a:p>
          <a:p>
            <a:r>
              <a:rPr lang="en-US" sz="900" dirty="0"/>
              <a:t>Copilot is what most of us have used so far. It is a great assistant when you need to generate a formula, summarize some data, or clean up a quick report. You ask it a question, it gives an answer, and then it is up to you to decide what to do next. It is reactive. It waits for your prompt each time.</a:t>
            </a:r>
          </a:p>
          <a:p>
            <a:endParaRPr lang="en-US" sz="900" dirty="0"/>
          </a:p>
          <a:p>
            <a:r>
              <a:rPr lang="en-US" sz="900" dirty="0"/>
              <a:t>Agent Mode takes this a step further. Instead of a single prompt and response, the agent can plan, execute, and evaluate multiple steps on its own. It does not just answer you, it actually works with you, refining its approach until it gets the result right. Think of it as the difference between giving someone an instruction versus giving them a project.</a:t>
            </a:r>
          </a:p>
          <a:p>
            <a:endParaRPr lang="en-US" sz="900" dirty="0"/>
          </a:p>
          <a:p>
            <a:r>
              <a:rPr lang="en-US" sz="900" dirty="0"/>
              <a:t>That also changes your role as the analyst. With Copilot, you are still the one doing the work, just faster. With Agent Mode, you become more of a manager or reviewer, someone who guides, oversees, and checks the agent’s work. The focus shifts from “Can I get this formula right?” to “Can I structure and verify the workflow my agent is running?”</a:t>
            </a:r>
          </a:p>
          <a:p>
            <a:endParaRPr lang="en-US" sz="900" dirty="0"/>
          </a:p>
          <a:p>
            <a:r>
              <a:rPr lang="en-US" sz="900" dirty="0"/>
              <a:t>In terms of output, Copilot is great for speed. You will get something usable right away. Agent Mode is built for reliability. It double checks itself, validates formulas, and produces outputs that are more auditable and refreshable. That is what makes it better suited for more complex or higher stakes workflows like financial models, reconciliations, or recurring dashboards.</a:t>
            </a:r>
          </a:p>
          <a:p>
            <a:endParaRPr lang="en-US" sz="900" dirty="0"/>
          </a:p>
          <a:p>
            <a:r>
              <a:rPr lang="en-US" sz="900" dirty="0"/>
              <a:t>So the short version is: Copilot accelerates your work. Agent Mode begins to do the work. The real opportunity for Excel professionals is learning how to manage and guide these new digital teammates effectively.</a:t>
            </a:r>
          </a:p>
        </p:txBody>
      </p:sp>
      <p:sp>
        <p:nvSpPr>
          <p:cNvPr id="4" name="Slide Number Placeholder 3"/>
          <p:cNvSpPr>
            <a:spLocks noGrp="1"/>
          </p:cNvSpPr>
          <p:nvPr>
            <p:ph type="sldNum" sz="quarter" idx="5"/>
          </p:nvPr>
        </p:nvSpPr>
        <p:spPr/>
        <p:txBody>
          <a:bodyPr/>
          <a:lstStyle/>
          <a:p>
            <a:fld id="{FFB500C5-13F7-48FC-8160-C29AECF6C602}" type="slidenum">
              <a:rPr lang="en-US" smtClean="0"/>
              <a:t>7</a:t>
            </a:fld>
            <a:endParaRPr lang="en-US"/>
          </a:p>
        </p:txBody>
      </p:sp>
    </p:spTree>
    <p:extLst>
      <p:ext uri="{BB962C8B-B14F-4D97-AF65-F5344CB8AC3E}">
        <p14:creationId xmlns:p14="http://schemas.microsoft.com/office/powerpoint/2010/main" val="29861163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550340-90B9-3E9E-2C44-E53E1F5BC8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416F7D-80C0-0BF0-5DAE-28EECF9522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923542-0F7D-E832-E549-540653D47B72}"/>
              </a:ext>
            </a:extLst>
          </p:cNvPr>
          <p:cNvSpPr>
            <a:spLocks noGrp="1"/>
          </p:cNvSpPr>
          <p:nvPr>
            <p:ph type="body" idx="1"/>
          </p:nvPr>
        </p:nvSpPr>
        <p:spPr/>
        <p:txBody>
          <a:bodyPr/>
          <a:lstStyle/>
          <a:p>
            <a:r>
              <a:rPr lang="en-US" sz="900" dirty="0"/>
              <a:t>When people hear Copilot and Agent Mode, they often assume they are the same thing, but they represent very different stages in how AI works inside Excel.</a:t>
            </a:r>
          </a:p>
          <a:p>
            <a:endParaRPr lang="en-US" sz="900" dirty="0"/>
          </a:p>
          <a:p>
            <a:r>
              <a:rPr lang="en-US" sz="900" dirty="0"/>
              <a:t>Copilot is what most of us have used so far. It is a great assistant when you need to generate a formula, summarize some data, or clean up a quick report. You ask it a question, it gives an answer, and then it is up to you to decide what to do next. It is reactive. It waits for your prompt each time.</a:t>
            </a:r>
          </a:p>
          <a:p>
            <a:endParaRPr lang="en-US" sz="900" dirty="0"/>
          </a:p>
          <a:p>
            <a:r>
              <a:rPr lang="en-US" sz="900" dirty="0"/>
              <a:t>Agent Mode takes this a step further. Instead of a single prompt and response, the agent can plan, execute, and evaluate multiple steps on its own. It does not just answer you, it actually works with you, refining its approach until it gets the result right. Think of it as the difference between giving someone an instruction versus giving them a project.</a:t>
            </a:r>
          </a:p>
          <a:p>
            <a:endParaRPr lang="en-US" sz="900" dirty="0"/>
          </a:p>
          <a:p>
            <a:r>
              <a:rPr lang="en-US" sz="900" dirty="0"/>
              <a:t>That also changes your role as the analyst. With Copilot, you are still the one doing the work, just faster. With Agent Mode, you become more of a manager or reviewer, someone who guides, oversees, and checks the agent’s work. The focus shifts from “Can I get this formula right?” to “Can I structure and verify the workflow my agent is running?”</a:t>
            </a:r>
          </a:p>
          <a:p>
            <a:endParaRPr lang="en-US" sz="900" dirty="0"/>
          </a:p>
          <a:p>
            <a:r>
              <a:rPr lang="en-US" sz="900" dirty="0"/>
              <a:t>In terms of output, Copilot is great for speed. You will get something usable right away. Agent Mode is built for reliability. It double checks itself, validates formulas, and produces outputs that are more auditable and refreshable. That is what makes it better suited for more complex or higher stakes workflows like financial models, reconciliations, or recurring dashboards.</a:t>
            </a:r>
          </a:p>
          <a:p>
            <a:endParaRPr lang="en-US" sz="900" dirty="0"/>
          </a:p>
          <a:p>
            <a:r>
              <a:rPr lang="en-US" sz="900" dirty="0"/>
              <a:t>So the short version is: Copilot accelerates your work. Agent Mode begins to do the work. The real opportunity for Excel professionals is learning how to manage and guide these new digital teammates effectively.</a:t>
            </a:r>
          </a:p>
        </p:txBody>
      </p:sp>
      <p:sp>
        <p:nvSpPr>
          <p:cNvPr id="4" name="Slide Number Placeholder 3">
            <a:extLst>
              <a:ext uri="{FF2B5EF4-FFF2-40B4-BE49-F238E27FC236}">
                <a16:creationId xmlns:a16="http://schemas.microsoft.com/office/drawing/2014/main" id="{AD1320A6-67F7-AA40-1113-E4509F24AEFD}"/>
              </a:ext>
            </a:extLst>
          </p:cNvPr>
          <p:cNvSpPr>
            <a:spLocks noGrp="1"/>
          </p:cNvSpPr>
          <p:nvPr>
            <p:ph type="sldNum" sz="quarter" idx="5"/>
          </p:nvPr>
        </p:nvSpPr>
        <p:spPr/>
        <p:txBody>
          <a:bodyPr/>
          <a:lstStyle/>
          <a:p>
            <a:fld id="{FFB500C5-13F7-48FC-8160-C29AECF6C602}" type="slidenum">
              <a:rPr lang="en-US" smtClean="0"/>
              <a:t>8</a:t>
            </a:fld>
            <a:endParaRPr lang="en-US"/>
          </a:p>
        </p:txBody>
      </p:sp>
    </p:spTree>
    <p:extLst>
      <p:ext uri="{BB962C8B-B14F-4D97-AF65-F5344CB8AC3E}">
        <p14:creationId xmlns:p14="http://schemas.microsoft.com/office/powerpoint/2010/main" val="6491708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False!</a:t>
            </a:r>
          </a:p>
          <a:p>
            <a:pPr marL="228600" indent="-228600">
              <a:buAutoNum type="arabicPeriod"/>
            </a:pPr>
            <a:r>
              <a:rPr lang="en-US" dirty="0"/>
              <a:t>Function, Formula, Function</a:t>
            </a:r>
          </a:p>
          <a:p>
            <a:pPr marL="228600" indent="-228600">
              <a:buAutoNum type="arabicPeriod"/>
            </a:pPr>
            <a:r>
              <a:rPr lang="en-US" dirty="0"/>
              <a:t>Argument</a:t>
            </a:r>
          </a:p>
        </p:txBody>
      </p:sp>
      <p:sp>
        <p:nvSpPr>
          <p:cNvPr id="4" name="Slide Number Placeholder 3"/>
          <p:cNvSpPr>
            <a:spLocks noGrp="1"/>
          </p:cNvSpPr>
          <p:nvPr>
            <p:ph type="sldNum" sz="quarter" idx="5"/>
          </p:nvPr>
        </p:nvSpPr>
        <p:spPr/>
        <p:txBody>
          <a:bodyPr/>
          <a:lstStyle/>
          <a:p>
            <a:fld id="{1300335D-9F13-4B80-ADC5-B0EA3E10FF6B}" type="slidenum">
              <a:rPr lang="en-US" smtClean="0"/>
              <a:t>9</a:t>
            </a:fld>
            <a:endParaRPr lang="en-US"/>
          </a:p>
        </p:txBody>
      </p:sp>
    </p:spTree>
    <p:extLst>
      <p:ext uri="{BB962C8B-B14F-4D97-AF65-F5344CB8AC3E}">
        <p14:creationId xmlns:p14="http://schemas.microsoft.com/office/powerpoint/2010/main" val="6245492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D0B85-98DF-63EC-7C7D-B4D63483A9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8B8970-CF57-F212-C7B6-C3F26AC0E0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1BFCFF-4A1F-8955-470F-D45E7155B4B7}"/>
              </a:ext>
            </a:extLst>
          </p:cNvPr>
          <p:cNvSpPr>
            <a:spLocks noGrp="1"/>
          </p:cNvSpPr>
          <p:nvPr>
            <p:ph type="body" idx="1"/>
          </p:nvPr>
        </p:nvSpPr>
        <p:spPr/>
        <p:txBody>
          <a:bodyPr/>
          <a:lstStyle/>
          <a:p>
            <a:r>
              <a:rPr lang="en-US" sz="900" dirty="0"/>
              <a:t>This table shows how the tools in the Excel AI stack fit together and build on one another. It follows the natural flow of how data moves through a modern analytics process — from storage, to preparation, to analysis, to automation, and finally to customization and governance.</a:t>
            </a:r>
          </a:p>
          <a:p>
            <a:r>
              <a:rPr lang="en-US" sz="900" dirty="0"/>
              <a:t>At the foundation are </a:t>
            </a:r>
            <a:r>
              <a:rPr lang="en-US" sz="900" b="1" dirty="0"/>
              <a:t>Power BI and Dataverse</a:t>
            </a:r>
            <a:r>
              <a:rPr lang="en-US" sz="900" dirty="0"/>
              <a:t>, which serve as the data backbone. They provide the structured, secure, and governed data sources that every other layer depends on. This is where the organization’s single source of truth lives.</a:t>
            </a:r>
          </a:p>
          <a:p>
            <a:r>
              <a:rPr lang="en-US" sz="900" dirty="0"/>
              <a:t>Just above that are </a:t>
            </a:r>
            <a:r>
              <a:rPr lang="en-US" sz="900" b="1" dirty="0"/>
              <a:t>Power Query and Dataflows</a:t>
            </a:r>
            <a:r>
              <a:rPr lang="en-US" sz="900" dirty="0"/>
              <a:t>, which handle data preparation. Power Query is built into Excel and Power BI, allowing users to clean, reshape, and combine data within a workbook or report. </a:t>
            </a:r>
            <a:r>
              <a:rPr lang="en-US" sz="900" b="1" dirty="0"/>
              <a:t>Dataflows</a:t>
            </a:r>
            <a:r>
              <a:rPr lang="en-US" sz="900" dirty="0"/>
              <a:t> take those same transformation steps and run them in the cloud, making them reusable across different files and apps. Together, they form the data preparation layer that ensures agents and copilots are working from high-quality, consistent information.</a:t>
            </a:r>
          </a:p>
          <a:p>
            <a:r>
              <a:rPr lang="en-US" sz="900" dirty="0"/>
              <a:t>Then we reach the </a:t>
            </a:r>
            <a:r>
              <a:rPr lang="en-US" sz="900" b="1" dirty="0"/>
              <a:t>Excel layer</a:t>
            </a:r>
            <a:r>
              <a:rPr lang="en-US" sz="900" dirty="0"/>
              <a:t>, which is where most users spend their time. Inside Excel we now have three main AI tools: </a:t>
            </a:r>
            <a:r>
              <a:rPr lang="en-US" sz="900" b="1" dirty="0"/>
              <a:t>Copilot in Excel</a:t>
            </a:r>
            <a:r>
              <a:rPr lang="en-US" sz="900" dirty="0"/>
              <a:t>, </a:t>
            </a:r>
            <a:r>
              <a:rPr lang="en-US" sz="900" b="1" dirty="0"/>
              <a:t>Python in Excel</a:t>
            </a:r>
            <a:r>
              <a:rPr lang="en-US" sz="900" dirty="0"/>
              <a:t>, and </a:t>
            </a:r>
            <a:r>
              <a:rPr lang="en-US" sz="900" b="1" dirty="0"/>
              <a:t>Agent Mode</a:t>
            </a:r>
            <a:r>
              <a:rPr lang="en-US" sz="900" dirty="0"/>
              <a:t>.</a:t>
            </a:r>
            <a:br>
              <a:rPr lang="en-US" sz="900" dirty="0"/>
            </a:br>
            <a:r>
              <a:rPr lang="en-US" sz="900" dirty="0"/>
              <a:t>Copilot helps with quick insights and formula generation through natural language.</a:t>
            </a:r>
            <a:br>
              <a:rPr lang="en-US" sz="900" dirty="0"/>
            </a:br>
            <a:r>
              <a:rPr lang="en-US" sz="900" dirty="0"/>
              <a:t>Python in Excel brings advanced analytics, modeling, and visualization right inside the workbook.</a:t>
            </a:r>
            <a:br>
              <a:rPr lang="en-US" sz="900" dirty="0"/>
            </a:br>
            <a:r>
              <a:rPr lang="en-US" sz="900" dirty="0"/>
              <a:t>And Agent Mode takes it further by allowing AI to plan, act, and refine multi-step tasks on its own. These three tools make Excel both a familiar workspace and a full-fledged AI analysis platform.</a:t>
            </a:r>
          </a:p>
          <a:p>
            <a:r>
              <a:rPr lang="en-US" sz="900" dirty="0"/>
              <a:t>Above that come </a:t>
            </a:r>
            <a:r>
              <a:rPr lang="en-US" sz="900" b="1" dirty="0"/>
              <a:t>Office Scripts</a:t>
            </a:r>
            <a:r>
              <a:rPr lang="en-US" sz="900" dirty="0"/>
              <a:t> and </a:t>
            </a:r>
            <a:r>
              <a:rPr lang="en-US" sz="900" b="1" dirty="0"/>
              <a:t>Power Automate</a:t>
            </a:r>
            <a:r>
              <a:rPr lang="en-US" sz="900" dirty="0"/>
              <a:t>, which handle logic and automation. Office Scripts define repeatable workflows that can be triggered inside Excel, while Power Automate connects those workflows across Microsoft 365 and beyond. They turn your Excel agents into active participants in larger business processes.</a:t>
            </a:r>
          </a:p>
          <a:p>
            <a:r>
              <a:rPr lang="en-US" sz="900" dirty="0"/>
              <a:t>At the top is </a:t>
            </a:r>
            <a:r>
              <a:rPr lang="en-US" sz="900" b="1" dirty="0"/>
              <a:t>Copilot Studio</a:t>
            </a:r>
            <a:r>
              <a:rPr lang="en-US" sz="900" dirty="0"/>
              <a:t>, which provides customization and governance. This is where organizations build, deploy, and manage their own copilots and agents, deciding what they can do, how they behave, and what data they can access.</a:t>
            </a:r>
          </a:p>
          <a:p>
            <a:r>
              <a:rPr lang="en-US" sz="900" dirty="0"/>
              <a:t>Altogether, this stack shows how Excel has evolved from a standalone spreadsheet into a connected, intelligent platform. Power Query and Dataflows prepare the data, Excel tools like Copilot, Python, and Agent Mode turn that data into insight, and automation layers like Office Scripts and Power Automate put it into action — all governed and managed through Copilot Studio.</a:t>
            </a:r>
          </a:p>
        </p:txBody>
      </p:sp>
      <p:sp>
        <p:nvSpPr>
          <p:cNvPr id="4" name="Slide Number Placeholder 3">
            <a:extLst>
              <a:ext uri="{FF2B5EF4-FFF2-40B4-BE49-F238E27FC236}">
                <a16:creationId xmlns:a16="http://schemas.microsoft.com/office/drawing/2014/main" id="{800E4A3B-8591-F9E9-A8B1-4D9BB2A4BE03}"/>
              </a:ext>
            </a:extLst>
          </p:cNvPr>
          <p:cNvSpPr>
            <a:spLocks noGrp="1"/>
          </p:cNvSpPr>
          <p:nvPr>
            <p:ph type="sldNum" sz="quarter" idx="5"/>
          </p:nvPr>
        </p:nvSpPr>
        <p:spPr/>
        <p:txBody>
          <a:bodyPr/>
          <a:lstStyle/>
          <a:p>
            <a:fld id="{FFB500C5-13F7-48FC-8160-C29AECF6C602}" type="slidenum">
              <a:rPr lang="en-US" smtClean="0"/>
              <a:t>10</a:t>
            </a:fld>
            <a:endParaRPr lang="en-US"/>
          </a:p>
        </p:txBody>
      </p:sp>
    </p:spTree>
    <p:extLst>
      <p:ext uri="{BB962C8B-B14F-4D97-AF65-F5344CB8AC3E}">
        <p14:creationId xmlns:p14="http://schemas.microsoft.com/office/powerpoint/2010/main" val="2546824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When I say audit your team’s data and automation skills, I mean really take stock of what you already have. Who knows Power Query? Who can write a bit of Python or create a simple flow in Power Automate? Before you chase shiny new AI tools, get a baseline of your current capabilities.</a:t>
            </a:r>
          </a:p>
          <a:p>
            <a:endParaRPr lang="en-US" b="0" dirty="0"/>
          </a:p>
          <a:p>
            <a:r>
              <a:rPr lang="en-US" b="0" dirty="0"/>
              <a:t>Next, start small with Office Scripts and Power Automate. These are great low-risk ways to build repeatable logic and connect Excel to other systems. Once you understand how those pieces work, Agent Mode and Copilot will make a lot more sense.</a:t>
            </a:r>
          </a:p>
          <a:p>
            <a:endParaRPr lang="en-US" b="0" dirty="0"/>
          </a:p>
          <a:p>
            <a:r>
              <a:rPr lang="en-US" b="0" dirty="0"/>
              <a:t>Then, experiment safely with Copilot and Agent Mode. Try them in sandboxed files or low-stakes tasks. Learn how they interpret prompts, where they struggle, and how they can support your workflows. The goal is to build trust with the tools before relying on them in production.</a:t>
            </a:r>
          </a:p>
          <a:p>
            <a:r>
              <a:rPr lang="en-US" b="0" dirty="0"/>
              <a:t>From there, build a roadmap for AI adoption and governance. This is where system thinking comes in. Decide which processes to automate, who owns the workflows, and how you will review and audit results. This ensures the technology actually scales.</a:t>
            </a:r>
          </a:p>
          <a:p>
            <a:endParaRPr lang="en-US" b="0" dirty="0"/>
          </a:p>
          <a:p>
            <a:r>
              <a:rPr lang="en-US" b="0" dirty="0"/>
              <a:t>Finally, book a discovery call to plan your next moves. Every organization is at a different stage with these tools, and having a plan makes all the difference. I can help you map the skills, systems, and priorities that will make this stack work for you.</a:t>
            </a:r>
          </a:p>
          <a:p>
            <a:endParaRPr lang="en-US" b="0" dirty="0"/>
          </a:p>
        </p:txBody>
      </p:sp>
      <p:sp>
        <p:nvSpPr>
          <p:cNvPr id="4" name="Slide Number Placeholder 3"/>
          <p:cNvSpPr>
            <a:spLocks noGrp="1"/>
          </p:cNvSpPr>
          <p:nvPr>
            <p:ph type="sldNum" sz="quarter" idx="5"/>
          </p:nvPr>
        </p:nvSpPr>
        <p:spPr/>
        <p:txBody>
          <a:bodyPr/>
          <a:lstStyle/>
          <a:p>
            <a:fld id="{FFB500C5-13F7-48FC-8160-C29AECF6C602}" type="slidenum">
              <a:rPr lang="en-US" smtClean="0"/>
              <a:t>12</a:t>
            </a:fld>
            <a:endParaRPr lang="en-US"/>
          </a:p>
        </p:txBody>
      </p:sp>
    </p:spTree>
    <p:extLst>
      <p:ext uri="{BB962C8B-B14F-4D97-AF65-F5344CB8AC3E}">
        <p14:creationId xmlns:p14="http://schemas.microsoft.com/office/powerpoint/2010/main" val="24559043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jpe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jpeg"/></Relationships>
</file>

<file path=ppt/slides/_rels/slide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9.png"/><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9.png"/><Relationship Id="rId1" Type="http://schemas.openxmlformats.org/officeDocument/2006/relationships/slideLayout" Target="../slideLayouts/slideLayout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blog.tobiaszwingmann.com/p/integration-automation-ai-framework" TargetMode="External"/><Relationship Id="rId2" Type="http://schemas.openxmlformats.org/officeDocument/2006/relationships/image" Target="../media/image9.pn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png"/><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a:blip r:embed="rId2">
            <a:extLst>
              <a:ext uri="{28A0092B-C50C-407E-A947-70E740481C1C}">
                <a14:useLocalDpi xmlns:a14="http://schemas.microsoft.com/office/drawing/2010/main" val="0"/>
              </a:ext>
            </a:extLst>
          </a:blip>
          <a:srcRect/>
          <a:stretch/>
        </p:blipFill>
        <p:spPr>
          <a:xfrm>
            <a:off x="13542796" y="4850092"/>
            <a:ext cx="4745204" cy="5435819"/>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4400" y="-3440159"/>
            <a:ext cx="15257208" cy="11189825"/>
          </a:xfrm>
          <a:prstGeom prst="rect">
            <a:avLst/>
          </a:prstGeom>
        </p:spPr>
      </p:pic>
      <p:sp>
        <p:nvSpPr>
          <p:cNvPr id="11" name="TextBox 10"/>
          <p:cNvSpPr txBox="1"/>
          <p:nvPr/>
        </p:nvSpPr>
        <p:spPr>
          <a:xfrm>
            <a:off x="486137" y="2531318"/>
            <a:ext cx="11979797" cy="1754326"/>
          </a:xfrm>
          <a:prstGeom prst="rect">
            <a:avLst/>
          </a:prstGeom>
          <a:noFill/>
        </p:spPr>
        <p:txBody>
          <a:bodyPr wrap="square" rtlCol="0">
            <a:spAutoFit/>
          </a:bodyPr>
          <a:lstStyle/>
          <a:p>
            <a:r>
              <a:rPr lang="en-US" sz="5400" b="1" dirty="0">
                <a:solidFill>
                  <a:srgbClr val="CF3338"/>
                </a:solidFill>
                <a:latin typeface="Pragmatica" panose="020B0403040502020204" pitchFamily="34" charset="0"/>
              </a:rPr>
              <a:t>AI comes to Excel: Building your first Excel agent</a:t>
            </a:r>
          </a:p>
        </p:txBody>
      </p:sp>
      <p:sp>
        <p:nvSpPr>
          <p:cNvPr id="2" name="AutoShape 2" descr="Home | Full Stack Modeller">
            <a:extLst>
              <a:ext uri="{FF2B5EF4-FFF2-40B4-BE49-F238E27FC236}">
                <a16:creationId xmlns:a16="http://schemas.microsoft.com/office/drawing/2014/main" id="{6CCAA77C-4E76-640C-066C-F3E39EE1AC92}"/>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556591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8288000" cy="10287000"/>
          </a:xfrm>
          <a:prstGeom prst="rect">
            <a:avLst/>
          </a:prstGeom>
          <a:solidFill>
            <a:srgbClr val="CF33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5" name="TextBox 4"/>
          <p:cNvSpPr txBox="1"/>
          <p:nvPr/>
        </p:nvSpPr>
        <p:spPr>
          <a:xfrm>
            <a:off x="781292" y="590309"/>
            <a:ext cx="15486926" cy="1615827"/>
          </a:xfrm>
          <a:prstGeom prst="rect">
            <a:avLst/>
          </a:prstGeom>
          <a:noFill/>
        </p:spPr>
        <p:txBody>
          <a:bodyPr wrap="square" rtlCol="0">
            <a:spAutoFit/>
          </a:bodyPr>
          <a:lstStyle/>
          <a:p>
            <a:r>
              <a:rPr lang="en-US" sz="9900" b="1" dirty="0">
                <a:solidFill>
                  <a:schemeClr val="bg1"/>
                </a:solidFill>
                <a:latin typeface="Normafixed Tryout" panose="00000409000000000000" pitchFamily="49" charset="0"/>
              </a:rPr>
              <a:t>About me</a:t>
            </a:r>
          </a:p>
        </p:txBody>
      </p:sp>
      <p:pic>
        <p:nvPicPr>
          <p:cNvPr id="3" name="Picture 4" descr="Advancing into Analytics Cover Image">
            <a:extLst>
              <a:ext uri="{FF2B5EF4-FFF2-40B4-BE49-F238E27FC236}">
                <a16:creationId xmlns:a16="http://schemas.microsoft.com/office/drawing/2014/main" id="{588F684B-18EF-D76C-5F7B-15E4BAD6064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077075" y="195640"/>
            <a:ext cx="3130385" cy="408866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Logo&#10;&#10;Description automatically generated">
            <a:extLst>
              <a:ext uri="{FF2B5EF4-FFF2-40B4-BE49-F238E27FC236}">
                <a16:creationId xmlns:a16="http://schemas.microsoft.com/office/drawing/2014/main" id="{97E0F267-87DF-961E-1FAA-47FD4F27A5C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91730" y="1029387"/>
            <a:ext cx="7448309" cy="5462681"/>
          </a:xfrm>
          <a:prstGeom prst="rect">
            <a:avLst/>
          </a:prstGeom>
        </p:spPr>
      </p:pic>
      <p:pic>
        <p:nvPicPr>
          <p:cNvPr id="1026" name="Picture 2" descr="Modern data analytics in Excel book cover">
            <a:extLst>
              <a:ext uri="{FF2B5EF4-FFF2-40B4-BE49-F238E27FC236}">
                <a16:creationId xmlns:a16="http://schemas.microsoft.com/office/drawing/2014/main" id="{874ADA5E-A7A7-1D02-C728-513187DE1EF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0" y="2080485"/>
            <a:ext cx="3437261" cy="4507995"/>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Microsoft Most Valuable Professional - Wikipedia">
            <a:extLst>
              <a:ext uri="{FF2B5EF4-FFF2-40B4-BE49-F238E27FC236}">
                <a16:creationId xmlns:a16="http://schemas.microsoft.com/office/drawing/2014/main" id="{36C71929-5967-B93D-05FE-E330D621C59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47800" y="4762500"/>
            <a:ext cx="5057775" cy="2028825"/>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Global Excel Summit (9-11 February 2022) - Microsoft Excel Conference">
            <a:extLst>
              <a:ext uri="{FF2B5EF4-FFF2-40B4-BE49-F238E27FC236}">
                <a16:creationId xmlns:a16="http://schemas.microsoft.com/office/drawing/2014/main" id="{EA545C86-0986-E2A5-4B62-E3E41804715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825966" y="6492068"/>
            <a:ext cx="2348390" cy="234839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linkedinlearninginstructor #linkedinlearning | Thais Cooke | 80 comments">
            <a:extLst>
              <a:ext uri="{FF2B5EF4-FFF2-40B4-BE49-F238E27FC236}">
                <a16:creationId xmlns:a16="http://schemas.microsoft.com/office/drawing/2014/main" id="{2E947460-3FEE-CFC7-623B-C27CBE0D9E1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840039" y="7385414"/>
            <a:ext cx="5018711" cy="20648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29011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520861" y="170082"/>
            <a:ext cx="11979797" cy="2862322"/>
          </a:xfrm>
          <a:prstGeom prst="rect">
            <a:avLst/>
          </a:prstGeom>
          <a:noFill/>
        </p:spPr>
        <p:txBody>
          <a:bodyPr wrap="square" rtlCol="0">
            <a:spAutoFit/>
          </a:bodyPr>
          <a:lstStyle/>
          <a:p>
            <a:r>
              <a:rPr lang="en-US" sz="9000" dirty="0">
                <a:latin typeface="Aliens &amp; cows" panose="00000500000000000000" pitchFamily="2" charset="0"/>
              </a:rPr>
              <a:t>Objectives for this session</a:t>
            </a:r>
          </a:p>
        </p:txBody>
      </p:sp>
      <p:sp>
        <p:nvSpPr>
          <p:cNvPr id="3" name="TextBox 2"/>
          <p:cNvSpPr txBox="1"/>
          <p:nvPr/>
        </p:nvSpPr>
        <p:spPr>
          <a:xfrm>
            <a:off x="520861" y="3191948"/>
            <a:ext cx="14393120" cy="3970318"/>
          </a:xfrm>
          <a:prstGeom prst="rect">
            <a:avLst/>
          </a:prstGeom>
          <a:noFill/>
        </p:spPr>
        <p:txBody>
          <a:bodyPr wrap="square" rtlCol="0">
            <a:spAutoFit/>
          </a:bodyPr>
          <a:lstStyle/>
          <a:p>
            <a:pPr marL="685800" indent="-685800">
              <a:buClr>
                <a:srgbClr val="CF3338"/>
              </a:buClr>
              <a:buFont typeface="Arial" panose="020B0604020202020204" pitchFamily="34" charset="0"/>
              <a:buChar char="•"/>
            </a:pPr>
            <a:r>
              <a:rPr lang="en-US" sz="4200" dirty="0">
                <a:solidFill>
                  <a:srgbClr val="707070"/>
                </a:solidFill>
                <a:latin typeface="Pragmatica" panose="020B0403040502020204" pitchFamily="34" charset="0"/>
              </a:rPr>
              <a:t>Explore the difference between Copilot and Agent Mode in Excel</a:t>
            </a:r>
          </a:p>
          <a:p>
            <a:pPr marL="685800" indent="-685800">
              <a:buClr>
                <a:srgbClr val="CF3338"/>
              </a:buClr>
              <a:buFont typeface="Arial" panose="020B0604020202020204" pitchFamily="34" charset="0"/>
              <a:buChar char="•"/>
            </a:pPr>
            <a:r>
              <a:rPr lang="en-US" sz="4200" dirty="0">
                <a:solidFill>
                  <a:srgbClr val="707070"/>
                </a:solidFill>
                <a:latin typeface="Pragmatica" panose="020B0403040502020204" pitchFamily="34" charset="0"/>
              </a:rPr>
              <a:t>Build your first Agent Mode tool in Excel using natural language prompts</a:t>
            </a:r>
          </a:p>
          <a:p>
            <a:pPr marL="685800" indent="-685800">
              <a:buClr>
                <a:srgbClr val="CF3338"/>
              </a:buClr>
              <a:buFont typeface="Arial" panose="020B0604020202020204" pitchFamily="34" charset="0"/>
              <a:buChar char="•"/>
            </a:pPr>
            <a:r>
              <a:rPr lang="en-US" sz="4200" dirty="0">
                <a:solidFill>
                  <a:srgbClr val="707070"/>
                </a:solidFill>
                <a:latin typeface="Pragmatica" panose="020B0403040502020204" pitchFamily="34" charset="0"/>
              </a:rPr>
              <a:t>Understand how Excel Agents fit into the Microsoft AI ecosystem (Copilot Studio, Power Platform, etc.)</a:t>
            </a:r>
          </a:p>
        </p:txBody>
      </p:sp>
      <p:pic>
        <p:nvPicPr>
          <p:cNvPr id="15" name="Picture 14" descr="A close up of a sign&#10;&#10;Description automatically generated">
            <a:extLst>
              <a:ext uri="{FF2B5EF4-FFF2-40B4-BE49-F238E27FC236}">
                <a16:creationId xmlns:a16="http://schemas.microsoft.com/office/drawing/2014/main" id="{29761B90-A7DE-4A60-A915-F085BD87CA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Tree>
    <p:extLst>
      <p:ext uri="{BB962C8B-B14F-4D97-AF65-F5344CB8AC3E}">
        <p14:creationId xmlns:p14="http://schemas.microsoft.com/office/powerpoint/2010/main" val="7870763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C899E4-3D67-4F5C-9D65-EF5EF52CB1B4}"/>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2245D936-66D9-DF0F-F77B-2AE73828D767}"/>
              </a:ext>
            </a:extLst>
          </p:cNvPr>
          <p:cNvSpPr txBox="1"/>
          <p:nvPr/>
        </p:nvSpPr>
        <p:spPr>
          <a:xfrm>
            <a:off x="520861" y="170082"/>
            <a:ext cx="16395539" cy="1477328"/>
          </a:xfrm>
          <a:prstGeom prst="rect">
            <a:avLst/>
          </a:prstGeom>
          <a:noFill/>
        </p:spPr>
        <p:txBody>
          <a:bodyPr wrap="square" rtlCol="0">
            <a:spAutoFit/>
          </a:bodyPr>
          <a:lstStyle/>
          <a:p>
            <a:r>
              <a:rPr lang="en-US" sz="9000" dirty="0">
                <a:latin typeface="Aliens &amp; cows" panose="00000500000000000000" pitchFamily="2" charset="0"/>
              </a:rPr>
              <a:t>Remember when Excel got…</a:t>
            </a:r>
          </a:p>
        </p:txBody>
      </p:sp>
      <p:pic>
        <p:nvPicPr>
          <p:cNvPr id="15" name="Picture 14" descr="A close up of a sign&#10;&#10;Description automatically generated">
            <a:extLst>
              <a:ext uri="{FF2B5EF4-FFF2-40B4-BE49-F238E27FC236}">
                <a16:creationId xmlns:a16="http://schemas.microsoft.com/office/drawing/2014/main" id="{7FC47B52-F116-9B07-9F82-E4A341395C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graphicFrame>
        <p:nvGraphicFramePr>
          <p:cNvPr id="2" name="Diagram 1">
            <a:extLst>
              <a:ext uri="{FF2B5EF4-FFF2-40B4-BE49-F238E27FC236}">
                <a16:creationId xmlns:a16="http://schemas.microsoft.com/office/drawing/2014/main" id="{F3762FA8-595D-366F-D814-2F4111A487F4}"/>
              </a:ext>
            </a:extLst>
          </p:cNvPr>
          <p:cNvGraphicFramePr/>
          <p:nvPr>
            <p:extLst>
              <p:ext uri="{D42A27DB-BD31-4B8C-83A1-F6EECF244321}">
                <p14:modId xmlns:p14="http://schemas.microsoft.com/office/powerpoint/2010/main" val="3703804162"/>
              </p:ext>
            </p:extLst>
          </p:nvPr>
        </p:nvGraphicFramePr>
        <p:xfrm>
          <a:off x="1371600" y="1333500"/>
          <a:ext cx="12192000" cy="8128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120844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C68A8F-238B-F149-883B-EC39513349C8}"/>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DD7566E4-0615-C523-0C0B-1436446427E8}"/>
              </a:ext>
            </a:extLst>
          </p:cNvPr>
          <p:cNvSpPr txBox="1"/>
          <p:nvPr/>
        </p:nvSpPr>
        <p:spPr>
          <a:xfrm>
            <a:off x="520861" y="170082"/>
            <a:ext cx="16395539" cy="9787295"/>
          </a:xfrm>
          <a:prstGeom prst="rect">
            <a:avLst/>
          </a:prstGeom>
          <a:noFill/>
        </p:spPr>
        <p:txBody>
          <a:bodyPr wrap="square" rtlCol="0">
            <a:spAutoFit/>
          </a:bodyPr>
          <a:lstStyle/>
          <a:p>
            <a:r>
              <a:rPr lang="en-US" sz="9000" dirty="0">
                <a:latin typeface="Aliens &amp; cows" panose="00000500000000000000" pitchFamily="2" charset="0"/>
              </a:rPr>
              <a:t>Remember when Excel got…</a:t>
            </a:r>
          </a:p>
          <a:p>
            <a:endParaRPr lang="en-US" sz="9000" dirty="0">
              <a:latin typeface="Aliens &amp; cows" panose="00000500000000000000" pitchFamily="2" charset="0"/>
            </a:endParaRPr>
          </a:p>
          <a:p>
            <a:endParaRPr lang="en-US" sz="9000" dirty="0">
              <a:latin typeface="Aliens &amp; cows" panose="00000500000000000000" pitchFamily="2" charset="0"/>
            </a:endParaRPr>
          </a:p>
          <a:p>
            <a:endParaRPr lang="en-US" sz="9000" dirty="0">
              <a:latin typeface="Aliens &amp; cows" panose="00000500000000000000" pitchFamily="2" charset="0"/>
            </a:endParaRPr>
          </a:p>
          <a:p>
            <a:endParaRPr lang="en-US" sz="9000" dirty="0">
              <a:latin typeface="Aliens &amp; cows" panose="00000500000000000000" pitchFamily="2" charset="0"/>
            </a:endParaRPr>
          </a:p>
          <a:p>
            <a:endParaRPr lang="en-US" sz="9000" dirty="0">
              <a:latin typeface="Aliens &amp; cows" panose="00000500000000000000" pitchFamily="2" charset="0"/>
            </a:endParaRPr>
          </a:p>
          <a:p>
            <a:r>
              <a:rPr lang="en-US" sz="7200" dirty="0">
                <a:latin typeface="Aliens &amp; cows" panose="00000500000000000000" pitchFamily="2" charset="0"/>
              </a:rPr>
              <a:t>Now it’s getting AI agents!</a:t>
            </a:r>
            <a:endParaRPr lang="en-US" sz="9000" dirty="0">
              <a:latin typeface="Aliens &amp; cows" panose="00000500000000000000" pitchFamily="2" charset="0"/>
            </a:endParaRPr>
          </a:p>
        </p:txBody>
      </p:sp>
      <p:pic>
        <p:nvPicPr>
          <p:cNvPr id="15" name="Picture 14" descr="A close up of a sign&#10;&#10;Description automatically generated">
            <a:extLst>
              <a:ext uri="{FF2B5EF4-FFF2-40B4-BE49-F238E27FC236}">
                <a16:creationId xmlns:a16="http://schemas.microsoft.com/office/drawing/2014/main" id="{46818568-EDBC-7BFE-3043-22CA89C97F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graphicFrame>
        <p:nvGraphicFramePr>
          <p:cNvPr id="2" name="Diagram 1">
            <a:extLst>
              <a:ext uri="{FF2B5EF4-FFF2-40B4-BE49-F238E27FC236}">
                <a16:creationId xmlns:a16="http://schemas.microsoft.com/office/drawing/2014/main" id="{95373B1F-0E74-5415-E434-6EEC8C37F1D4}"/>
              </a:ext>
            </a:extLst>
          </p:cNvPr>
          <p:cNvGraphicFramePr/>
          <p:nvPr>
            <p:extLst>
              <p:ext uri="{D42A27DB-BD31-4B8C-83A1-F6EECF244321}">
                <p14:modId xmlns:p14="http://schemas.microsoft.com/office/powerpoint/2010/main" val="2049646212"/>
              </p:ext>
            </p:extLst>
          </p:nvPr>
        </p:nvGraphicFramePr>
        <p:xfrm>
          <a:off x="1371600" y="1333500"/>
          <a:ext cx="12192000" cy="8128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065878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C3270-992F-73FB-7E73-4DA42D379BBE}"/>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85358931-C887-DF08-D582-E12AD136D695}"/>
              </a:ext>
            </a:extLst>
          </p:cNvPr>
          <p:cNvSpPr txBox="1"/>
          <p:nvPr/>
        </p:nvSpPr>
        <p:spPr>
          <a:xfrm>
            <a:off x="520861" y="170082"/>
            <a:ext cx="16395539" cy="1200329"/>
          </a:xfrm>
          <a:prstGeom prst="rect">
            <a:avLst/>
          </a:prstGeom>
          <a:noFill/>
        </p:spPr>
        <p:txBody>
          <a:bodyPr wrap="square" rtlCol="0">
            <a:spAutoFit/>
          </a:bodyPr>
          <a:lstStyle/>
          <a:p>
            <a:r>
              <a:rPr lang="en-US" sz="7200" dirty="0">
                <a:latin typeface="Aliens &amp; cows" panose="00000500000000000000" pitchFamily="2" charset="0"/>
              </a:rPr>
              <a:t>The integration-automation AI framework</a:t>
            </a:r>
          </a:p>
        </p:txBody>
      </p:sp>
      <p:pic>
        <p:nvPicPr>
          <p:cNvPr id="15" name="Picture 14" descr="A close up of a sign&#10;&#10;Description automatically generated">
            <a:extLst>
              <a:ext uri="{FF2B5EF4-FFF2-40B4-BE49-F238E27FC236}">
                <a16:creationId xmlns:a16="http://schemas.microsoft.com/office/drawing/2014/main" id="{88701840-B113-B321-9200-F6ADD5F263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
        <p:nvSpPr>
          <p:cNvPr id="4" name="TextBox 3">
            <a:extLst>
              <a:ext uri="{FF2B5EF4-FFF2-40B4-BE49-F238E27FC236}">
                <a16:creationId xmlns:a16="http://schemas.microsoft.com/office/drawing/2014/main" id="{057A3FD3-5C03-0966-77FB-885E6BFE811D}"/>
              </a:ext>
            </a:extLst>
          </p:cNvPr>
          <p:cNvSpPr txBox="1"/>
          <p:nvPr/>
        </p:nvSpPr>
        <p:spPr>
          <a:xfrm>
            <a:off x="152400" y="7254596"/>
            <a:ext cx="3446118" cy="2862322"/>
          </a:xfrm>
          <a:prstGeom prst="rect">
            <a:avLst/>
          </a:prstGeom>
          <a:noFill/>
        </p:spPr>
        <p:txBody>
          <a:bodyPr wrap="square">
            <a:spAutoFit/>
          </a:bodyPr>
          <a:lstStyle/>
          <a:p>
            <a:r>
              <a:rPr lang="en-US" sz="3600" dirty="0">
                <a:hlinkClick r:id="rId3">
                  <a:extLst>
                    <a:ext uri="{A12FA001-AC4F-418D-AE19-62706E023703}">
                      <ahyp:hlinkClr xmlns:ahyp="http://schemas.microsoft.com/office/drawing/2018/hyperlinkcolor" val="tx"/>
                    </a:ext>
                  </a:extLst>
                </a:hlinkClick>
              </a:rPr>
              <a:t>https://blog.tobiaszwingmann.com/p/integration-automation-ai-framework</a:t>
            </a:r>
            <a:r>
              <a:rPr lang="en-US" sz="3600" dirty="0"/>
              <a:t> </a:t>
            </a:r>
          </a:p>
        </p:txBody>
      </p:sp>
      <p:pic>
        <p:nvPicPr>
          <p:cNvPr id="3074" name="Picture 2">
            <a:extLst>
              <a:ext uri="{FF2B5EF4-FFF2-40B4-BE49-F238E27FC236}">
                <a16:creationId xmlns:a16="http://schemas.microsoft.com/office/drawing/2014/main" id="{BD67A6B6-57FE-1727-C346-ED9D61BE407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86200" y="1369361"/>
            <a:ext cx="10287000" cy="87342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29717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1B2F53-9CBC-02CA-9A51-ED2E8A944633}"/>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1DA59A59-1845-383F-38E2-0337D6AE0BFB}"/>
              </a:ext>
            </a:extLst>
          </p:cNvPr>
          <p:cNvSpPr txBox="1"/>
          <p:nvPr/>
        </p:nvSpPr>
        <p:spPr>
          <a:xfrm>
            <a:off x="520861" y="170082"/>
            <a:ext cx="16395539" cy="1200329"/>
          </a:xfrm>
          <a:prstGeom prst="rect">
            <a:avLst/>
          </a:prstGeom>
          <a:noFill/>
        </p:spPr>
        <p:txBody>
          <a:bodyPr wrap="square" rtlCol="0">
            <a:spAutoFit/>
          </a:bodyPr>
          <a:lstStyle/>
          <a:p>
            <a:r>
              <a:rPr lang="en-US" sz="7200" dirty="0">
                <a:latin typeface="Aliens &amp; cows" panose="00000500000000000000" pitchFamily="2" charset="0"/>
              </a:rPr>
              <a:t>Excel Copilot vs Excel Agent Mode</a:t>
            </a:r>
          </a:p>
        </p:txBody>
      </p:sp>
      <p:pic>
        <p:nvPicPr>
          <p:cNvPr id="15" name="Picture 14" descr="A close up of a sign&#10;&#10;Description automatically generated">
            <a:extLst>
              <a:ext uri="{FF2B5EF4-FFF2-40B4-BE49-F238E27FC236}">
                <a16:creationId xmlns:a16="http://schemas.microsoft.com/office/drawing/2014/main" id="{25B7AACD-032E-784C-D92C-BF6F5751F6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graphicFrame>
        <p:nvGraphicFramePr>
          <p:cNvPr id="3" name="Table 2">
            <a:extLst>
              <a:ext uri="{FF2B5EF4-FFF2-40B4-BE49-F238E27FC236}">
                <a16:creationId xmlns:a16="http://schemas.microsoft.com/office/drawing/2014/main" id="{A7829486-E1C2-6EFC-4E09-983F9108F30F}"/>
              </a:ext>
            </a:extLst>
          </p:cNvPr>
          <p:cNvGraphicFramePr>
            <a:graphicFrameLocks noGrp="1"/>
          </p:cNvGraphicFramePr>
          <p:nvPr>
            <p:extLst>
              <p:ext uri="{D42A27DB-BD31-4B8C-83A1-F6EECF244321}">
                <p14:modId xmlns:p14="http://schemas.microsoft.com/office/powerpoint/2010/main" val="3681093686"/>
              </p:ext>
            </p:extLst>
          </p:nvPr>
        </p:nvGraphicFramePr>
        <p:xfrm>
          <a:off x="457200" y="1714340"/>
          <a:ext cx="14401800" cy="7162962"/>
        </p:xfrm>
        <a:graphic>
          <a:graphicData uri="http://schemas.openxmlformats.org/drawingml/2006/table">
            <a:tbl>
              <a:tblPr/>
              <a:tblGrid>
                <a:gridCol w="4800600">
                  <a:extLst>
                    <a:ext uri="{9D8B030D-6E8A-4147-A177-3AD203B41FA5}">
                      <a16:colId xmlns:a16="http://schemas.microsoft.com/office/drawing/2014/main" val="4201771282"/>
                    </a:ext>
                  </a:extLst>
                </a:gridCol>
                <a:gridCol w="4800600">
                  <a:extLst>
                    <a:ext uri="{9D8B030D-6E8A-4147-A177-3AD203B41FA5}">
                      <a16:colId xmlns:a16="http://schemas.microsoft.com/office/drawing/2014/main" val="777237233"/>
                    </a:ext>
                  </a:extLst>
                </a:gridCol>
                <a:gridCol w="4800600">
                  <a:extLst>
                    <a:ext uri="{9D8B030D-6E8A-4147-A177-3AD203B41FA5}">
                      <a16:colId xmlns:a16="http://schemas.microsoft.com/office/drawing/2014/main" val="673316634"/>
                    </a:ext>
                  </a:extLst>
                </a:gridCol>
              </a:tblGrid>
              <a:tr h="609614">
                <a:tc>
                  <a:txBody>
                    <a:bodyPr/>
                    <a:lstStyle/>
                    <a:p>
                      <a:pPr>
                        <a:buNone/>
                      </a:pPr>
                      <a:r>
                        <a:rPr lang="en-US" sz="3200" b="1"/>
                        <a:t>Feature</a:t>
                      </a:r>
                      <a:endParaRPr lang="en-US" sz="3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b="1"/>
                        <a:t>Excel Copilot</a:t>
                      </a:r>
                      <a:endParaRPr lang="en-US" sz="3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b="1"/>
                        <a:t>Agent Mode</a:t>
                      </a:r>
                      <a:endParaRPr lang="en-US" sz="3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06272724"/>
                  </a:ext>
                </a:extLst>
              </a:tr>
              <a:tr h="1066824">
                <a:tc>
                  <a:txBody>
                    <a:bodyPr/>
                    <a:lstStyle/>
                    <a:p>
                      <a:pPr>
                        <a:buNone/>
                      </a:pPr>
                      <a:r>
                        <a:rPr lang="en-US" sz="3200" b="1"/>
                        <a:t>Interaction</a:t>
                      </a:r>
                      <a:endParaRPr lang="en-US" sz="3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a:t>One-shot prompts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a:t>Iterative, self-guided workflow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3507712"/>
                  </a:ext>
                </a:extLst>
              </a:tr>
              <a:tr h="1066824">
                <a:tc>
                  <a:txBody>
                    <a:bodyPr/>
                    <a:lstStyle/>
                    <a:p>
                      <a:pPr>
                        <a:buNone/>
                      </a:pPr>
                      <a:r>
                        <a:rPr lang="en-US" sz="3200" b="1"/>
                        <a:t>Task Scope</a:t>
                      </a:r>
                      <a:endParaRPr lang="en-US" sz="3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a:t>Single actions (formulas, charts, summaries)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a:t>Multi-step processes across sheets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82026323"/>
                  </a:ext>
                </a:extLst>
              </a:tr>
              <a:tr h="1066824">
                <a:tc>
                  <a:txBody>
                    <a:bodyPr/>
                    <a:lstStyle/>
                    <a:p>
                      <a:pPr>
                        <a:buNone/>
                      </a:pPr>
                      <a:r>
                        <a:rPr lang="en-US" sz="3200" b="1"/>
                        <a:t>Error Handling</a:t>
                      </a:r>
                      <a:endParaRPr lang="en-US" sz="3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a:t>User re-prompts or fixes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a:t>Agent reviews, retries, self-corrects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5923970"/>
                  </a:ext>
                </a:extLst>
              </a:tr>
              <a:tr h="1066824">
                <a:tc>
                  <a:txBody>
                    <a:bodyPr/>
                    <a:lstStyle/>
                    <a:p>
                      <a:pPr>
                        <a:buNone/>
                      </a:pPr>
                      <a:r>
                        <a:rPr lang="en-US" sz="3200" b="1"/>
                        <a:t>User Role</a:t>
                      </a:r>
                      <a:endParaRPr lang="en-US" sz="3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dirty="0"/>
                        <a:t>You do, Copilot helps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a:t>You manage, Agent executes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97454490"/>
                  </a:ext>
                </a:extLst>
              </a:tr>
              <a:tr h="609614">
                <a:tc>
                  <a:txBody>
                    <a:bodyPr/>
                    <a:lstStyle/>
                    <a:p>
                      <a:pPr>
                        <a:buNone/>
                      </a:pPr>
                      <a:r>
                        <a:rPr lang="en-US" sz="3200" b="1"/>
                        <a:t>Output Quality</a:t>
                      </a:r>
                      <a:endParaRPr lang="en-US" sz="3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dirty="0"/>
                        <a:t>Fast but shallow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a:t>Verified and repeatable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21303429"/>
                  </a:ext>
                </a:extLst>
              </a:tr>
              <a:tr h="1066824">
                <a:tc>
                  <a:txBody>
                    <a:bodyPr/>
                    <a:lstStyle/>
                    <a:p>
                      <a:pPr>
                        <a:buNone/>
                      </a:pPr>
                      <a:r>
                        <a:rPr lang="en-US" sz="3200" b="1"/>
                        <a:t>Best For</a:t>
                      </a:r>
                      <a:endParaRPr lang="en-US" sz="3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a:t>Quick wins, ad-hoc tasks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a:t>Structured, high-stakes workflows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88752908"/>
                  </a:ext>
                </a:extLst>
              </a:tr>
              <a:tr h="609614">
                <a:tc>
                  <a:txBody>
                    <a:bodyPr/>
                    <a:lstStyle/>
                    <a:p>
                      <a:pPr>
                        <a:buNone/>
                      </a:pPr>
                      <a:r>
                        <a:rPr lang="en-US" sz="3200" b="1"/>
                        <a:t>Analogy</a:t>
                      </a:r>
                      <a:endParaRPr lang="en-US" sz="3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a:t>Smart assistant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dirty="0"/>
                        <a:t>Junior analyst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05630930"/>
                  </a:ext>
                </a:extLst>
              </a:tr>
            </a:tbl>
          </a:graphicData>
        </a:graphic>
      </p:graphicFrame>
    </p:spTree>
    <p:extLst>
      <p:ext uri="{BB962C8B-B14F-4D97-AF65-F5344CB8AC3E}">
        <p14:creationId xmlns:p14="http://schemas.microsoft.com/office/powerpoint/2010/main" val="24602811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0FB617-C0E7-3228-013C-BAC06730C5D4}"/>
            </a:ext>
          </a:extLst>
        </p:cNvPr>
        <p:cNvGrpSpPr/>
        <p:nvPr/>
      </p:nvGrpSpPr>
      <p:grpSpPr>
        <a:xfrm>
          <a:off x="0" y="0"/>
          <a:ext cx="0" cy="0"/>
          <a:chOff x="0" y="0"/>
          <a:chExt cx="0" cy="0"/>
        </a:xfrm>
      </p:grpSpPr>
      <p:pic>
        <p:nvPicPr>
          <p:cNvPr id="15" name="Picture 14" descr="A close up of a sign&#10;&#10;Description automatically generated">
            <a:extLst>
              <a:ext uri="{FF2B5EF4-FFF2-40B4-BE49-F238E27FC236}">
                <a16:creationId xmlns:a16="http://schemas.microsoft.com/office/drawing/2014/main" id="{E21B4799-3E87-1700-15F4-3686FC94E3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pic>
        <p:nvPicPr>
          <p:cNvPr id="1026" name="Picture 2">
            <a:extLst>
              <a:ext uri="{FF2B5EF4-FFF2-40B4-BE49-F238E27FC236}">
                <a16:creationId xmlns:a16="http://schemas.microsoft.com/office/drawing/2014/main" id="{9F1D89B2-86AC-689C-CB18-860F1A902B8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67200" y="266700"/>
            <a:ext cx="9753600" cy="97536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94252A70-2368-1C9D-63DF-7611C458B4EF}"/>
              </a:ext>
            </a:extLst>
          </p:cNvPr>
          <p:cNvSpPr txBox="1"/>
          <p:nvPr/>
        </p:nvSpPr>
        <p:spPr>
          <a:xfrm>
            <a:off x="516282" y="8648700"/>
            <a:ext cx="2590800" cy="1200329"/>
          </a:xfrm>
          <a:prstGeom prst="rect">
            <a:avLst/>
          </a:prstGeom>
          <a:noFill/>
        </p:spPr>
        <p:txBody>
          <a:bodyPr wrap="square">
            <a:spAutoFit/>
          </a:bodyPr>
          <a:lstStyle/>
          <a:p>
            <a:r>
              <a:rPr lang="en-US" dirty="0"/>
              <a:t>https://stringfestanalytics.com/how-to-understand-the-modern-excel-ai-stack/</a:t>
            </a:r>
          </a:p>
        </p:txBody>
      </p:sp>
    </p:spTree>
    <p:extLst>
      <p:ext uri="{BB962C8B-B14F-4D97-AF65-F5344CB8AC3E}">
        <p14:creationId xmlns:p14="http://schemas.microsoft.com/office/powerpoint/2010/main" val="11167549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9861630" y="0"/>
            <a:ext cx="8426370" cy="10287000"/>
          </a:xfrm>
          <a:prstGeom prst="rect">
            <a:avLst/>
          </a:prstGeom>
          <a:solidFill>
            <a:srgbClr val="CF33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pic>
        <p:nvPicPr>
          <p:cNvPr id="2" name="Picture 1"/>
          <p:cNvPicPr>
            <a:picLocks noChangeAspect="1"/>
          </p:cNvPicPr>
          <p:nvPr/>
        </p:nvPicPr>
        <p:blipFill rotWithShape="1">
          <a:blip r:embed="rId3">
            <a:extLst>
              <a:ext uri="{28A0092B-C50C-407E-A947-70E740481C1C}">
                <a14:useLocalDpi xmlns:a14="http://schemas.microsoft.com/office/drawing/2010/main" val="0"/>
              </a:ext>
            </a:extLst>
          </a:blip>
          <a:srcRect l="69227" t="33418" r="20112" b="50548"/>
          <a:stretch/>
        </p:blipFill>
        <p:spPr>
          <a:xfrm>
            <a:off x="15579524" y="7544693"/>
            <a:ext cx="2708477" cy="2987579"/>
          </a:xfrm>
          <a:prstGeom prst="rect">
            <a:avLst/>
          </a:prstGeom>
        </p:spPr>
      </p:pic>
      <p:sp>
        <p:nvSpPr>
          <p:cNvPr id="3" name="TextBox 2"/>
          <p:cNvSpPr txBox="1"/>
          <p:nvPr/>
        </p:nvSpPr>
        <p:spPr>
          <a:xfrm>
            <a:off x="260431" y="329879"/>
            <a:ext cx="8906720" cy="8490401"/>
          </a:xfrm>
          <a:prstGeom prst="rect">
            <a:avLst/>
          </a:prstGeom>
          <a:noFill/>
        </p:spPr>
        <p:txBody>
          <a:bodyPr wrap="square" rtlCol="0">
            <a:spAutoFit/>
          </a:bodyPr>
          <a:lstStyle/>
          <a:p>
            <a:r>
              <a:rPr lang="en-US" sz="6000" b="1" dirty="0">
                <a:solidFill>
                  <a:srgbClr val="CF3338"/>
                </a:solidFill>
                <a:latin typeface="Pragmatica" panose="020B0403040502020204" pitchFamily="34" charset="0"/>
              </a:rPr>
              <a:t>Demo: Agent Mode in action</a:t>
            </a:r>
          </a:p>
          <a:p>
            <a:endParaRPr lang="en-US" sz="4200" dirty="0">
              <a:solidFill>
                <a:srgbClr val="CF3338"/>
              </a:solidFill>
              <a:latin typeface="Pragmatica" panose="020B0403040502020204" pitchFamily="34" charset="0"/>
            </a:endParaRPr>
          </a:p>
          <a:p>
            <a:pPr marL="685800" indent="-542925">
              <a:lnSpc>
                <a:spcPct val="115000"/>
              </a:lnSpc>
              <a:spcBef>
                <a:spcPts val="1125"/>
              </a:spcBef>
              <a:buClr>
                <a:srgbClr val="C00000"/>
              </a:buClr>
              <a:buSzPts val="2100"/>
              <a:buFont typeface="Arial"/>
              <a:buAutoNum type="arabicPeriod"/>
            </a:pPr>
            <a:r>
              <a:rPr lang="en-US" sz="3600" dirty="0">
                <a:solidFill>
                  <a:srgbClr val="C00000"/>
                </a:solidFill>
                <a:latin typeface="Pragmatica" panose="020B0403040502020204"/>
                <a:sym typeface="Consolas"/>
              </a:rPr>
              <a:t>Loan calculator</a:t>
            </a:r>
          </a:p>
          <a:p>
            <a:pPr marL="685800" indent="-542925">
              <a:lnSpc>
                <a:spcPct val="115000"/>
              </a:lnSpc>
              <a:spcBef>
                <a:spcPts val="1125"/>
              </a:spcBef>
              <a:buClr>
                <a:srgbClr val="C00000"/>
              </a:buClr>
              <a:buSzPts val="2100"/>
              <a:buFont typeface="Arial"/>
              <a:buAutoNum type="arabicPeriod"/>
            </a:pPr>
            <a:r>
              <a:rPr lang="en-US" sz="3600" dirty="0">
                <a:solidFill>
                  <a:srgbClr val="C00000"/>
                </a:solidFill>
                <a:latin typeface="Pragmatica" panose="020B0403040502020204"/>
                <a:sym typeface="Consolas"/>
              </a:rPr>
              <a:t>Variance analysis</a:t>
            </a:r>
          </a:p>
          <a:p>
            <a:pPr marL="685800" indent="-542925">
              <a:lnSpc>
                <a:spcPct val="115000"/>
              </a:lnSpc>
              <a:spcBef>
                <a:spcPts val="1125"/>
              </a:spcBef>
              <a:buClr>
                <a:srgbClr val="C00000"/>
              </a:buClr>
              <a:buSzPts val="2100"/>
              <a:buFont typeface="Arial"/>
              <a:buAutoNum type="arabicPeriod"/>
            </a:pPr>
            <a:r>
              <a:rPr lang="en-US" sz="3600" dirty="0">
                <a:solidFill>
                  <a:srgbClr val="C00000"/>
                </a:solidFill>
                <a:latin typeface="Pragmatica" panose="020B0403040502020204"/>
                <a:sym typeface="Consolas"/>
              </a:rPr>
              <a:t>Monthly close pack</a:t>
            </a:r>
          </a:p>
          <a:p>
            <a:pPr marL="685800" indent="-542925">
              <a:lnSpc>
                <a:spcPct val="115000"/>
              </a:lnSpc>
              <a:spcBef>
                <a:spcPts val="1125"/>
              </a:spcBef>
              <a:buClr>
                <a:srgbClr val="C00000"/>
              </a:buClr>
              <a:buSzPts val="2100"/>
              <a:buFont typeface="Arial"/>
              <a:buAutoNum type="arabicPeriod"/>
            </a:pPr>
            <a:endParaRPr lang="en-US" sz="3600" dirty="0">
              <a:solidFill>
                <a:srgbClr val="C00000"/>
              </a:solidFill>
              <a:latin typeface="Pragmatica" panose="020B0403040502020204"/>
              <a:sym typeface="Consolas"/>
            </a:endParaRPr>
          </a:p>
          <a:p>
            <a:pPr marL="142875">
              <a:lnSpc>
                <a:spcPct val="115000"/>
              </a:lnSpc>
              <a:spcBef>
                <a:spcPts val="1125"/>
              </a:spcBef>
              <a:buClr>
                <a:srgbClr val="C00000"/>
              </a:buClr>
              <a:buSzPts val="2100"/>
            </a:pPr>
            <a:r>
              <a:rPr lang="en-US" sz="3600" dirty="0">
                <a:solidFill>
                  <a:srgbClr val="C00000"/>
                </a:solidFill>
                <a:latin typeface="Pragmatica" panose="020B0403040502020204"/>
                <a:sym typeface="Consolas"/>
              </a:rPr>
              <a:t>What does Agent Mode do well, poorly, or not at all? </a:t>
            </a:r>
          </a:p>
          <a:p>
            <a:pPr marL="142875">
              <a:lnSpc>
                <a:spcPct val="115000"/>
              </a:lnSpc>
              <a:spcBef>
                <a:spcPts val="1125"/>
              </a:spcBef>
              <a:buClr>
                <a:srgbClr val="C00000"/>
              </a:buClr>
              <a:buSzPts val="2100"/>
            </a:pPr>
            <a:r>
              <a:rPr lang="en-US" sz="3600" dirty="0">
                <a:solidFill>
                  <a:srgbClr val="C00000"/>
                </a:solidFill>
                <a:latin typeface="Pragmatica" panose="020B0403040502020204"/>
                <a:sym typeface="Consolas"/>
              </a:rPr>
              <a:t>How does this relate to other tools in the Excel AI stack?</a:t>
            </a:r>
            <a:endParaRPr lang="en-US" sz="3600" dirty="0">
              <a:solidFill>
                <a:srgbClr val="C00000"/>
              </a:solidFill>
              <a:latin typeface="Consolas" panose="020B0609020204030204" pitchFamily="49" charset="0"/>
              <a:sym typeface="Consolas"/>
            </a:endParaRPr>
          </a:p>
        </p:txBody>
      </p:sp>
    </p:spTree>
    <p:extLst>
      <p:ext uri="{BB962C8B-B14F-4D97-AF65-F5344CB8AC3E}">
        <p14:creationId xmlns:p14="http://schemas.microsoft.com/office/powerpoint/2010/main" val="38715317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ED226-3DBA-DD93-9D88-2CA1C2D33524}"/>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F332240B-0B1D-9B77-F127-B2E40BB848A9}"/>
              </a:ext>
            </a:extLst>
          </p:cNvPr>
          <p:cNvSpPr txBox="1"/>
          <p:nvPr/>
        </p:nvSpPr>
        <p:spPr>
          <a:xfrm>
            <a:off x="520861" y="170082"/>
            <a:ext cx="16395539" cy="1200329"/>
          </a:xfrm>
          <a:prstGeom prst="rect">
            <a:avLst/>
          </a:prstGeom>
          <a:noFill/>
        </p:spPr>
        <p:txBody>
          <a:bodyPr wrap="square" rtlCol="0">
            <a:spAutoFit/>
          </a:bodyPr>
          <a:lstStyle/>
          <a:p>
            <a:r>
              <a:rPr lang="en-US" sz="7200" dirty="0">
                <a:latin typeface="Aliens &amp; cows" panose="00000500000000000000" pitchFamily="2" charset="0"/>
              </a:rPr>
              <a:t>The emerging Excel AI stack</a:t>
            </a:r>
          </a:p>
        </p:txBody>
      </p:sp>
      <p:pic>
        <p:nvPicPr>
          <p:cNvPr id="15" name="Picture 14" descr="A close up of a sign&#10;&#10;Description automatically generated">
            <a:extLst>
              <a:ext uri="{FF2B5EF4-FFF2-40B4-BE49-F238E27FC236}">
                <a16:creationId xmlns:a16="http://schemas.microsoft.com/office/drawing/2014/main" id="{96AAE559-64C9-151C-D64A-C0AEFC85B0F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graphicFrame>
        <p:nvGraphicFramePr>
          <p:cNvPr id="5" name="Table 4">
            <a:extLst>
              <a:ext uri="{FF2B5EF4-FFF2-40B4-BE49-F238E27FC236}">
                <a16:creationId xmlns:a16="http://schemas.microsoft.com/office/drawing/2014/main" id="{8F07E63D-491A-A37D-4C16-7341759B6F62}"/>
              </a:ext>
            </a:extLst>
          </p:cNvPr>
          <p:cNvGraphicFramePr>
            <a:graphicFrameLocks noGrp="1"/>
          </p:cNvGraphicFramePr>
          <p:nvPr>
            <p:extLst>
              <p:ext uri="{D42A27DB-BD31-4B8C-83A1-F6EECF244321}">
                <p14:modId xmlns:p14="http://schemas.microsoft.com/office/powerpoint/2010/main" val="1898181012"/>
              </p:ext>
            </p:extLst>
          </p:nvPr>
        </p:nvGraphicFramePr>
        <p:xfrm>
          <a:off x="457200" y="2080100"/>
          <a:ext cx="15697200" cy="7178199"/>
        </p:xfrm>
        <a:graphic>
          <a:graphicData uri="http://schemas.openxmlformats.org/drawingml/2006/table">
            <a:tbl>
              <a:tblPr/>
              <a:tblGrid>
                <a:gridCol w="5232400">
                  <a:extLst>
                    <a:ext uri="{9D8B030D-6E8A-4147-A177-3AD203B41FA5}">
                      <a16:colId xmlns:a16="http://schemas.microsoft.com/office/drawing/2014/main" val="2728257828"/>
                    </a:ext>
                  </a:extLst>
                </a:gridCol>
                <a:gridCol w="5232400">
                  <a:extLst>
                    <a:ext uri="{9D8B030D-6E8A-4147-A177-3AD203B41FA5}">
                      <a16:colId xmlns:a16="http://schemas.microsoft.com/office/drawing/2014/main" val="2961374483"/>
                    </a:ext>
                  </a:extLst>
                </a:gridCol>
                <a:gridCol w="5232400">
                  <a:extLst>
                    <a:ext uri="{9D8B030D-6E8A-4147-A177-3AD203B41FA5}">
                      <a16:colId xmlns:a16="http://schemas.microsoft.com/office/drawing/2014/main" val="1198047383"/>
                    </a:ext>
                  </a:extLst>
                </a:gridCol>
              </a:tblGrid>
              <a:tr h="703019">
                <a:tc>
                  <a:txBody>
                    <a:bodyPr/>
                    <a:lstStyle/>
                    <a:p>
                      <a:pPr>
                        <a:buNone/>
                      </a:pPr>
                      <a:r>
                        <a:rPr lang="en-US" sz="3200" b="1"/>
                        <a:t>Stage</a:t>
                      </a:r>
                      <a:endParaRPr lang="en-US" sz="3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b="1"/>
                        <a:t>Purpose</a:t>
                      </a:r>
                      <a:endParaRPr lang="en-US" sz="3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b="1"/>
                        <a:t>Tools</a:t>
                      </a:r>
                      <a:endParaRPr lang="en-US" sz="3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07581723"/>
                  </a:ext>
                </a:extLst>
              </a:tr>
              <a:tr h="1295036">
                <a:tc>
                  <a:txBody>
                    <a:bodyPr/>
                    <a:lstStyle/>
                    <a:p>
                      <a:pPr>
                        <a:buNone/>
                      </a:pPr>
                      <a:r>
                        <a:rPr lang="en-US" sz="3200" b="1"/>
                        <a:t>1. Data Foundation</a:t>
                      </a:r>
                      <a:endParaRPr lang="en-US" sz="3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a:t>Store, structure, and retrieve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a:t>Power BI, Dataverse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97406007"/>
                  </a:ext>
                </a:extLst>
              </a:tr>
              <a:tr h="1295036">
                <a:tc>
                  <a:txBody>
                    <a:bodyPr/>
                    <a:lstStyle/>
                    <a:p>
                      <a:pPr>
                        <a:buNone/>
                      </a:pPr>
                      <a:r>
                        <a:rPr lang="en-US" sz="3200" b="1"/>
                        <a:t>2. Data Preparation</a:t>
                      </a:r>
                      <a:endParaRPr lang="en-US" sz="3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a:t>Clean, shape, and combine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dirty="0"/>
                        <a:t>Power Query/Dataflows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16296996"/>
                  </a:ext>
                </a:extLst>
              </a:tr>
              <a:tr h="1295036">
                <a:tc>
                  <a:txBody>
                    <a:bodyPr/>
                    <a:lstStyle/>
                    <a:p>
                      <a:pPr>
                        <a:buNone/>
                      </a:pPr>
                      <a:r>
                        <a:rPr lang="en-US" sz="3200" b="1" dirty="0"/>
                        <a:t>3. Analysis &amp; Intelligence</a:t>
                      </a:r>
                      <a:endParaRPr lang="en-US" sz="3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dirty="0"/>
                        <a:t>Explore data and get insights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dirty="0"/>
                        <a:t>Excel (with Copilot, Python, Agent Mode)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52852401"/>
                  </a:ext>
                </a:extLst>
              </a:tr>
              <a:tr h="1295036">
                <a:tc>
                  <a:txBody>
                    <a:bodyPr/>
                    <a:lstStyle/>
                    <a:p>
                      <a:pPr>
                        <a:buNone/>
                      </a:pPr>
                      <a:r>
                        <a:rPr lang="en-US" sz="3200" b="1"/>
                        <a:t>4. Automation &amp; Extension</a:t>
                      </a:r>
                      <a:endParaRPr lang="en-US" sz="3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dirty="0"/>
                        <a:t>Repeat, scale, and connect processes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a:t>Office Scripts, Power Automate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92917109"/>
                  </a:ext>
                </a:extLst>
              </a:tr>
              <a:tr h="1295036">
                <a:tc>
                  <a:txBody>
                    <a:bodyPr/>
                    <a:lstStyle/>
                    <a:p>
                      <a:pPr>
                        <a:buNone/>
                      </a:pPr>
                      <a:r>
                        <a:rPr lang="en-US" sz="3200" b="1"/>
                        <a:t>5. Customization &amp; Governance</a:t>
                      </a:r>
                      <a:endParaRPr lang="en-US" sz="3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a:t>Control, deploy, and monitor AI agents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dirty="0"/>
                        <a:t>Copilot Studio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36899994"/>
                  </a:ext>
                </a:extLst>
              </a:tr>
            </a:tbl>
          </a:graphicData>
        </a:graphic>
      </p:graphicFrame>
    </p:spTree>
    <p:extLst>
      <p:ext uri="{BB962C8B-B14F-4D97-AF65-F5344CB8AC3E}">
        <p14:creationId xmlns:p14="http://schemas.microsoft.com/office/powerpoint/2010/main" val="26770916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3D58A7-5F6B-4F51-4398-479AFC189587}"/>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B1CC141A-C0A3-41C3-0FC8-806BFEBA97E9}"/>
              </a:ext>
            </a:extLst>
          </p:cNvPr>
          <p:cNvSpPr txBox="1"/>
          <p:nvPr/>
        </p:nvSpPr>
        <p:spPr>
          <a:xfrm>
            <a:off x="520861" y="170082"/>
            <a:ext cx="11979797" cy="1477328"/>
          </a:xfrm>
          <a:prstGeom prst="rect">
            <a:avLst/>
          </a:prstGeom>
          <a:noFill/>
        </p:spPr>
        <p:txBody>
          <a:bodyPr wrap="square" rtlCol="0">
            <a:spAutoFit/>
          </a:bodyPr>
          <a:lstStyle/>
          <a:p>
            <a:r>
              <a:rPr lang="en-US" sz="9000" dirty="0">
                <a:latin typeface="Aliens &amp; cows" panose="00000500000000000000" pitchFamily="2" charset="0"/>
              </a:rPr>
              <a:t>Takeaways</a:t>
            </a:r>
          </a:p>
        </p:txBody>
      </p:sp>
      <p:sp>
        <p:nvSpPr>
          <p:cNvPr id="3" name="TextBox 2">
            <a:extLst>
              <a:ext uri="{FF2B5EF4-FFF2-40B4-BE49-F238E27FC236}">
                <a16:creationId xmlns:a16="http://schemas.microsoft.com/office/drawing/2014/main" id="{C333A47B-7E72-DB76-4A8C-B9C0801D685B}"/>
              </a:ext>
            </a:extLst>
          </p:cNvPr>
          <p:cNvSpPr txBox="1"/>
          <p:nvPr/>
        </p:nvSpPr>
        <p:spPr>
          <a:xfrm>
            <a:off x="520860" y="1866900"/>
            <a:ext cx="16776539" cy="6001643"/>
          </a:xfrm>
          <a:prstGeom prst="rect">
            <a:avLst/>
          </a:prstGeom>
          <a:noFill/>
        </p:spPr>
        <p:txBody>
          <a:bodyPr wrap="square" rtlCol="0">
            <a:spAutoFit/>
          </a:bodyPr>
          <a:lstStyle/>
          <a:p>
            <a:pPr marL="685800" indent="-685800">
              <a:buClr>
                <a:srgbClr val="CF3338"/>
              </a:buClr>
              <a:buFont typeface="Arial" panose="020B0604020202020204" pitchFamily="34" charset="0"/>
              <a:buChar char="•"/>
            </a:pPr>
            <a:r>
              <a:rPr lang="en-US" sz="4800" dirty="0">
                <a:solidFill>
                  <a:srgbClr val="707070"/>
                </a:solidFill>
                <a:latin typeface="Pragmatica" panose="020B0403040502020204" pitchFamily="34" charset="0"/>
              </a:rPr>
              <a:t>Excel’s AI stack is expanding fast but still coming together</a:t>
            </a:r>
          </a:p>
          <a:p>
            <a:pPr marL="685800" indent="-685800">
              <a:buClr>
                <a:srgbClr val="CF3338"/>
              </a:buClr>
              <a:buFont typeface="Arial" panose="020B0604020202020204" pitchFamily="34" charset="0"/>
              <a:buChar char="•"/>
            </a:pPr>
            <a:r>
              <a:rPr lang="en-US" sz="4800" dirty="0">
                <a:solidFill>
                  <a:srgbClr val="707070"/>
                </a:solidFill>
                <a:latin typeface="Pragmatica" panose="020B0403040502020204" pitchFamily="34" charset="0"/>
              </a:rPr>
              <a:t>Copilots assist; Agents act and reason across steps</a:t>
            </a:r>
          </a:p>
          <a:p>
            <a:pPr marL="685800" indent="-685800">
              <a:buClr>
                <a:srgbClr val="CF3338"/>
              </a:buClr>
              <a:buFont typeface="Arial" panose="020B0604020202020204" pitchFamily="34" charset="0"/>
              <a:buChar char="•"/>
            </a:pPr>
            <a:r>
              <a:rPr lang="en-US" sz="4800" dirty="0">
                <a:solidFill>
                  <a:srgbClr val="707070"/>
                </a:solidFill>
                <a:latin typeface="Pragmatica" panose="020B0403040502020204" pitchFamily="34" charset="0"/>
              </a:rPr>
              <a:t>Agent Mode shifts your role from doing work to managing AI</a:t>
            </a:r>
          </a:p>
          <a:p>
            <a:pPr marL="685800" indent="-685800">
              <a:buClr>
                <a:srgbClr val="CF3338"/>
              </a:buClr>
              <a:buFont typeface="Arial" panose="020B0604020202020204" pitchFamily="34" charset="0"/>
              <a:buChar char="•"/>
            </a:pPr>
            <a:r>
              <a:rPr lang="en-US" sz="4800" dirty="0">
                <a:solidFill>
                  <a:srgbClr val="707070"/>
                </a:solidFill>
                <a:latin typeface="Pragmatica" panose="020B0403040502020204" pitchFamily="34" charset="0"/>
              </a:rPr>
              <a:t>Excel is becoming the front end for Microsoft’s data and automation stack</a:t>
            </a:r>
          </a:p>
          <a:p>
            <a:pPr marL="685800" indent="-685800">
              <a:buClr>
                <a:srgbClr val="CF3338"/>
              </a:buClr>
              <a:buFont typeface="Arial" panose="020B0604020202020204" pitchFamily="34" charset="0"/>
              <a:buChar char="•"/>
            </a:pPr>
            <a:r>
              <a:rPr lang="en-US" sz="4800" dirty="0">
                <a:solidFill>
                  <a:srgbClr val="707070"/>
                </a:solidFill>
                <a:latin typeface="Pragmatica" panose="020B0403040502020204" pitchFamily="34" charset="0"/>
              </a:rPr>
              <a:t>Power Query, Dataflows, and Python are the glue that make AI useful</a:t>
            </a:r>
          </a:p>
          <a:p>
            <a:pPr marL="685800" indent="-685800">
              <a:buClr>
                <a:srgbClr val="CF3338"/>
              </a:buClr>
              <a:buFont typeface="Arial" panose="020B0604020202020204" pitchFamily="34" charset="0"/>
              <a:buChar char="•"/>
            </a:pPr>
            <a:r>
              <a:rPr lang="en-US" sz="4800" dirty="0">
                <a:solidFill>
                  <a:srgbClr val="707070"/>
                </a:solidFill>
                <a:latin typeface="Pragmatica" panose="020B0403040502020204" pitchFamily="34" charset="0"/>
              </a:rPr>
              <a:t>Winning teams think in systems, not just features.</a:t>
            </a:r>
          </a:p>
        </p:txBody>
      </p:sp>
      <p:pic>
        <p:nvPicPr>
          <p:cNvPr id="15" name="Picture 14" descr="A close up of a sign&#10;&#10;Description automatically generated">
            <a:extLst>
              <a:ext uri="{FF2B5EF4-FFF2-40B4-BE49-F238E27FC236}">
                <a16:creationId xmlns:a16="http://schemas.microsoft.com/office/drawing/2014/main" id="{1A5E1433-4A47-1485-201C-C236A16D50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Tree>
    <p:extLst>
      <p:ext uri="{BB962C8B-B14F-4D97-AF65-F5344CB8AC3E}">
        <p14:creationId xmlns:p14="http://schemas.microsoft.com/office/powerpoint/2010/main" val="3009987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51C78-F10E-3F23-F9DF-9C818C8D56B6}"/>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B50F672D-6587-1754-62CF-3B756392B992}"/>
              </a:ext>
            </a:extLst>
          </p:cNvPr>
          <p:cNvSpPr txBox="1"/>
          <p:nvPr/>
        </p:nvSpPr>
        <p:spPr>
          <a:xfrm>
            <a:off x="520861" y="170082"/>
            <a:ext cx="11979797" cy="1477328"/>
          </a:xfrm>
          <a:prstGeom prst="rect">
            <a:avLst/>
          </a:prstGeom>
          <a:noFill/>
        </p:spPr>
        <p:txBody>
          <a:bodyPr wrap="square" rtlCol="0">
            <a:spAutoFit/>
          </a:bodyPr>
          <a:lstStyle/>
          <a:p>
            <a:r>
              <a:rPr lang="en-US" sz="9000" dirty="0">
                <a:latin typeface="Aliens &amp; cows" panose="00000500000000000000" pitchFamily="2" charset="0"/>
              </a:rPr>
              <a:t>Next steps</a:t>
            </a:r>
          </a:p>
        </p:txBody>
      </p:sp>
      <p:sp>
        <p:nvSpPr>
          <p:cNvPr id="3" name="TextBox 2">
            <a:extLst>
              <a:ext uri="{FF2B5EF4-FFF2-40B4-BE49-F238E27FC236}">
                <a16:creationId xmlns:a16="http://schemas.microsoft.com/office/drawing/2014/main" id="{49B7597B-A1CA-D128-EACB-A1FA4B6B8F56}"/>
              </a:ext>
            </a:extLst>
          </p:cNvPr>
          <p:cNvSpPr txBox="1"/>
          <p:nvPr/>
        </p:nvSpPr>
        <p:spPr>
          <a:xfrm>
            <a:off x="520860" y="1866900"/>
            <a:ext cx="16776539" cy="3785652"/>
          </a:xfrm>
          <a:prstGeom prst="rect">
            <a:avLst/>
          </a:prstGeom>
          <a:noFill/>
        </p:spPr>
        <p:txBody>
          <a:bodyPr wrap="square" rtlCol="0">
            <a:spAutoFit/>
          </a:bodyPr>
          <a:lstStyle/>
          <a:p>
            <a:pPr marL="685800" indent="-685800">
              <a:buClr>
                <a:srgbClr val="CF3338"/>
              </a:buClr>
              <a:buFont typeface="Arial" panose="020B0604020202020204" pitchFamily="34" charset="0"/>
              <a:buChar char="•"/>
            </a:pPr>
            <a:r>
              <a:rPr lang="en-US" sz="4800" dirty="0">
                <a:solidFill>
                  <a:srgbClr val="707070"/>
                </a:solidFill>
                <a:latin typeface="Pragmatica" panose="020B0403040502020204" pitchFamily="34" charset="0"/>
              </a:rPr>
              <a:t>Audit your team’s data and automation skills</a:t>
            </a:r>
          </a:p>
          <a:p>
            <a:pPr marL="685800" indent="-685800">
              <a:buClr>
                <a:srgbClr val="CF3338"/>
              </a:buClr>
              <a:buFont typeface="Arial" panose="020B0604020202020204" pitchFamily="34" charset="0"/>
              <a:buChar char="•"/>
            </a:pPr>
            <a:r>
              <a:rPr lang="en-US" sz="4800" dirty="0">
                <a:solidFill>
                  <a:srgbClr val="707070"/>
                </a:solidFill>
                <a:latin typeface="Pragmatica" panose="020B0403040502020204" pitchFamily="34" charset="0"/>
              </a:rPr>
              <a:t>Start small with Office Scripts and Power Automate</a:t>
            </a:r>
          </a:p>
          <a:p>
            <a:pPr marL="685800" indent="-685800">
              <a:buClr>
                <a:srgbClr val="CF3338"/>
              </a:buClr>
              <a:buFont typeface="Arial" panose="020B0604020202020204" pitchFamily="34" charset="0"/>
              <a:buChar char="•"/>
            </a:pPr>
            <a:r>
              <a:rPr lang="en-US" sz="4800" dirty="0">
                <a:solidFill>
                  <a:srgbClr val="707070"/>
                </a:solidFill>
                <a:latin typeface="Pragmatica" panose="020B0403040502020204" pitchFamily="34" charset="0"/>
              </a:rPr>
              <a:t>Experiment safely with Copilot and Agent Mode</a:t>
            </a:r>
          </a:p>
          <a:p>
            <a:pPr marL="685800" indent="-685800">
              <a:buClr>
                <a:srgbClr val="CF3338"/>
              </a:buClr>
              <a:buFont typeface="Arial" panose="020B0604020202020204" pitchFamily="34" charset="0"/>
              <a:buChar char="•"/>
            </a:pPr>
            <a:r>
              <a:rPr lang="en-US" sz="4800" dirty="0">
                <a:solidFill>
                  <a:srgbClr val="707070"/>
                </a:solidFill>
                <a:latin typeface="Pragmatica" panose="020B0403040502020204" pitchFamily="34" charset="0"/>
              </a:rPr>
              <a:t>Build a roadmap for AI adoption and governance</a:t>
            </a:r>
          </a:p>
          <a:p>
            <a:pPr marL="685800" indent="-685800">
              <a:buClr>
                <a:srgbClr val="CF3338"/>
              </a:buClr>
              <a:buFont typeface="Arial" panose="020B0604020202020204" pitchFamily="34" charset="0"/>
              <a:buChar char="•"/>
            </a:pPr>
            <a:r>
              <a:rPr lang="en-US" sz="4800" dirty="0">
                <a:solidFill>
                  <a:srgbClr val="707070"/>
                </a:solidFill>
                <a:latin typeface="Pragmatica" panose="020B0403040502020204" pitchFamily="34" charset="0"/>
              </a:rPr>
              <a:t>Book a discovery call to plan your next moves</a:t>
            </a:r>
          </a:p>
        </p:txBody>
      </p:sp>
      <p:pic>
        <p:nvPicPr>
          <p:cNvPr id="15" name="Picture 14" descr="A close up of a sign&#10;&#10;Description automatically generated">
            <a:extLst>
              <a:ext uri="{FF2B5EF4-FFF2-40B4-BE49-F238E27FC236}">
                <a16:creationId xmlns:a16="http://schemas.microsoft.com/office/drawing/2014/main" id="{EAEDEC2C-D927-44DA-1C74-B83FF1B785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Tree>
    <p:extLst>
      <p:ext uri="{BB962C8B-B14F-4D97-AF65-F5344CB8AC3E}">
        <p14:creationId xmlns:p14="http://schemas.microsoft.com/office/powerpoint/2010/main" val="32213438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rotWithShape="1">
          <a:blip r:embed="rId2">
            <a:extLst>
              <a:ext uri="{28A0092B-C50C-407E-A947-70E740481C1C}">
                <a14:useLocalDpi xmlns:a14="http://schemas.microsoft.com/office/drawing/2010/main" val="0"/>
              </a:ext>
            </a:extLst>
          </a:blip>
          <a:srcRect l="50728" t="56371"/>
          <a:stretch/>
        </p:blipFill>
        <p:spPr>
          <a:xfrm>
            <a:off x="12204691" y="3316148"/>
            <a:ext cx="6083309" cy="6970854"/>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7744" y="-3724155"/>
            <a:ext cx="15257208" cy="11189825"/>
          </a:xfrm>
          <a:prstGeom prst="rect">
            <a:avLst/>
          </a:prstGeom>
        </p:spPr>
      </p:pic>
      <p:sp>
        <p:nvSpPr>
          <p:cNvPr id="11" name="TextBox 10"/>
          <p:cNvSpPr txBox="1"/>
          <p:nvPr/>
        </p:nvSpPr>
        <p:spPr>
          <a:xfrm>
            <a:off x="486137" y="2531318"/>
            <a:ext cx="11979797" cy="923330"/>
          </a:xfrm>
          <a:prstGeom prst="rect">
            <a:avLst/>
          </a:prstGeom>
          <a:noFill/>
        </p:spPr>
        <p:txBody>
          <a:bodyPr wrap="square" rtlCol="0">
            <a:spAutoFit/>
          </a:bodyPr>
          <a:lstStyle/>
          <a:p>
            <a:r>
              <a:rPr lang="en-US" sz="5400" b="1" dirty="0">
                <a:solidFill>
                  <a:srgbClr val="CF3338"/>
                </a:solidFill>
                <a:latin typeface="Pragmatica" panose="020B0403040502020204" pitchFamily="34" charset="0"/>
              </a:rPr>
              <a:t>Questions?</a:t>
            </a:r>
          </a:p>
        </p:txBody>
      </p:sp>
      <p:pic>
        <p:nvPicPr>
          <p:cNvPr id="5" name="Picture 4">
            <a:extLst>
              <a:ext uri="{FF2B5EF4-FFF2-40B4-BE49-F238E27FC236}">
                <a16:creationId xmlns:a16="http://schemas.microsoft.com/office/drawing/2014/main" id="{54A06221-5316-4BCF-9FDA-BDB95FF4A77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2204691" y="3317239"/>
            <a:ext cx="6083309" cy="6968672"/>
          </a:xfrm>
          <a:prstGeom prst="rect">
            <a:avLst/>
          </a:prstGeom>
        </p:spPr>
      </p:pic>
    </p:spTree>
    <p:extLst>
      <p:ext uri="{BB962C8B-B14F-4D97-AF65-F5344CB8AC3E}">
        <p14:creationId xmlns:p14="http://schemas.microsoft.com/office/powerpoint/2010/main" val="16898607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5323C9-D5F7-C820-78B9-E169BDF2311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8971779-1F50-1702-DEC1-87CD482189F0}"/>
              </a:ext>
            </a:extLst>
          </p:cNvPr>
          <p:cNvSpPr/>
          <p:nvPr/>
        </p:nvSpPr>
        <p:spPr>
          <a:xfrm>
            <a:off x="0" y="0"/>
            <a:ext cx="18288000" cy="10287000"/>
          </a:xfrm>
          <a:prstGeom prst="rect">
            <a:avLst/>
          </a:prstGeom>
          <a:solidFill>
            <a:srgbClr val="CF33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5" name="TextBox 4">
            <a:extLst>
              <a:ext uri="{FF2B5EF4-FFF2-40B4-BE49-F238E27FC236}">
                <a16:creationId xmlns:a16="http://schemas.microsoft.com/office/drawing/2014/main" id="{5ECC4C7B-C529-5329-03AC-796804551DC1}"/>
              </a:ext>
            </a:extLst>
          </p:cNvPr>
          <p:cNvSpPr txBox="1"/>
          <p:nvPr/>
        </p:nvSpPr>
        <p:spPr>
          <a:xfrm>
            <a:off x="781292" y="590309"/>
            <a:ext cx="15486926" cy="1615827"/>
          </a:xfrm>
          <a:prstGeom prst="rect">
            <a:avLst/>
          </a:prstGeom>
          <a:noFill/>
        </p:spPr>
        <p:txBody>
          <a:bodyPr wrap="square" rtlCol="0">
            <a:spAutoFit/>
          </a:bodyPr>
          <a:lstStyle/>
          <a:p>
            <a:r>
              <a:rPr lang="en-US" sz="9900" b="1" dirty="0">
                <a:solidFill>
                  <a:schemeClr val="bg1"/>
                </a:solidFill>
                <a:latin typeface="Normafixed Tryout" panose="00000409000000000000" pitchFamily="49" charset="0"/>
              </a:rPr>
              <a:t>Thank you</a:t>
            </a:r>
          </a:p>
        </p:txBody>
      </p:sp>
    </p:spTree>
    <p:extLst>
      <p:ext uri="{BB962C8B-B14F-4D97-AF65-F5344CB8AC3E}">
        <p14:creationId xmlns:p14="http://schemas.microsoft.com/office/powerpoint/2010/main" val="6578290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2622</TotalTime>
  <Words>1860</Words>
  <Application>Microsoft Office PowerPoint</Application>
  <PresentationFormat>Custom</PresentationFormat>
  <Paragraphs>137</Paragraphs>
  <Slides>14</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Normafixed Tryout</vt:lpstr>
      <vt:lpstr>Consolas</vt:lpstr>
      <vt:lpstr>Pragmatica</vt:lpstr>
      <vt:lpstr>Aliens &amp; cows</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excel-statistics-for-business-analytics</dc:title>
  <dc:creator>User</dc:creator>
  <cp:lastModifiedBy>George Mount</cp:lastModifiedBy>
  <cp:revision>226</cp:revision>
  <dcterms:created xsi:type="dcterms:W3CDTF">2006-08-16T00:00:00Z</dcterms:created>
  <dcterms:modified xsi:type="dcterms:W3CDTF">2025-11-09T10:38:35Z</dcterms:modified>
  <dc:identifier>DADurESpNu8</dc:identifier>
</cp:coreProperties>
</file>