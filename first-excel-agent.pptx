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9"/>
  </p:notesMasterIdLst>
  <p:sldIdLst>
    <p:sldId id="444" r:id="rId2"/>
    <p:sldId id="425" r:id="rId3"/>
    <p:sldId id="426" r:id="rId4"/>
    <p:sldId id="435" r:id="rId5"/>
    <p:sldId id="436" r:id="rId6"/>
    <p:sldId id="471" r:id="rId7"/>
    <p:sldId id="437" r:id="rId8"/>
    <p:sldId id="438" r:id="rId9"/>
    <p:sldId id="407" r:id="rId10"/>
    <p:sldId id="443" r:id="rId11"/>
    <p:sldId id="467" r:id="rId12"/>
    <p:sldId id="470" r:id="rId13"/>
    <p:sldId id="446" r:id="rId14"/>
    <p:sldId id="469" r:id="rId15"/>
    <p:sldId id="442" r:id="rId16"/>
    <p:sldId id="415" r:id="rId17"/>
    <p:sldId id="468" r:id="rId18"/>
  </p:sldIdLst>
  <p:sldSz cx="18288000" cy="10287000"/>
  <p:notesSz cx="6858000" cy="9144000"/>
  <p:embeddedFontLst>
    <p:embeddedFont>
      <p:font typeface="Consolas" panose="020B0609020204030204" pitchFamily="49" charset="0"/>
      <p:regular r:id="rId20"/>
      <p:bold r:id="rId21"/>
      <p:italic r:id="rId22"/>
      <p:boldItalic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9EA6155-9679-457C-9482-8E13709CA374}" v="55" dt="2025-10-22T16:18:55.83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2" autoAdjust="0"/>
    <p:restoredTop sz="74298" autoAdjust="0"/>
  </p:normalViewPr>
  <p:slideViewPr>
    <p:cSldViewPr>
      <p:cViewPr varScale="1">
        <p:scale>
          <a:sx n="31" d="100"/>
          <a:sy n="31" d="100"/>
        </p:scale>
        <p:origin x="912" y="251"/>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font" Target="fonts/font2.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1.fntdata"/><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4.fntdata"/><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3.fntdata"/><Relationship Id="rId27" Type="http://schemas.openxmlformats.org/officeDocument/2006/relationships/theme" Target="theme/theme1.xml"/><Relationship Id="rId30" Type="http://schemas.microsoft.com/office/2018/10/relationships/authors" Target="authors.xml"/></Relationships>
</file>

<file path=ppt/diagrams/colors1.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7893660-5BFC-4EEE-852D-A0B87874F466}">
      <dgm:prSet phldrT="[Text]" phldr="0"/>
      <dgm:spPr/>
      <dgm:t>
        <a:bodyPr/>
        <a:lstStyle/>
        <a:p>
          <a:r>
            <a:rPr lang="en-US"/>
            <a:t>Copilot</a:t>
          </a:r>
          <a:endParaRPr lang="en-US" dirty="0"/>
        </a:p>
      </dgm:t>
    </dgm:pt>
    <dgm:pt modelId="{6EEC88D9-076A-419A-9A6B-120C27DF31EB}" type="parTrans" cxnId="{562DE018-A951-4CE6-882D-10E86DD91AED}">
      <dgm:prSet/>
      <dgm:spPr/>
    </dgm:pt>
    <dgm:pt modelId="{DDFB99C5-58BB-421F-9CEC-742A00ABA300}" type="sibTrans" cxnId="{562DE018-A951-4CE6-882D-10E86DD91AED}">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D50067A-87B8-435B-B026-B5457AF02675}" type="pres">
      <dgm:prSet presAssocID="{ECDF3F5F-D616-4773-AD86-206CBB2C9A45}" presName="Triangle" presStyleLbl="alignNode1" presStyleIdx="5" presStyleCnt="7"/>
      <dgm:spPr/>
    </dgm:pt>
    <dgm:pt modelId="{BF4F7FD1-FA8A-4C56-A404-B0172E0306C7}" type="pres">
      <dgm:prSet presAssocID="{48E1857D-DABA-49C3-A05A-879561167E94}" presName="sibTrans" presStyleCnt="0"/>
      <dgm:spPr/>
    </dgm:pt>
    <dgm:pt modelId="{32644BF9-5AF3-4D29-BE08-74A83ECBD4A9}" type="pres">
      <dgm:prSet presAssocID="{48E1857D-DABA-49C3-A05A-879561167E94}" presName="space" presStyleCnt="0"/>
      <dgm:spPr/>
    </dgm:pt>
    <dgm:pt modelId="{34B2BED8-9D9E-4B33-A8A7-2CC4A0ED4095}" type="pres">
      <dgm:prSet presAssocID="{D7893660-5BFC-4EEE-852D-A0B87874F466}" presName="composite" presStyleCnt="0"/>
      <dgm:spPr/>
    </dgm:pt>
    <dgm:pt modelId="{45F51B91-CDE2-4150-ABC9-E07326939C02}" type="pres">
      <dgm:prSet presAssocID="{D7893660-5BFC-4EEE-852D-A0B87874F466}" presName="LShape" presStyleLbl="alignNode1" presStyleIdx="6" presStyleCnt="7"/>
      <dgm:spPr/>
    </dgm:pt>
    <dgm:pt modelId="{C1303DAA-A72B-4927-BF7B-07847C41FFDF}" type="pres">
      <dgm:prSet presAssocID="{D7893660-5BFC-4EEE-852D-A0B87874F466}" presName="ParentText" presStyleLbl="revTx" presStyleIdx="3" presStyleCnt="4">
        <dgm:presLayoutVars>
          <dgm:chMax val="0"/>
          <dgm:chPref val="0"/>
          <dgm:bulletEnabled val="1"/>
        </dgm:presLayoutVars>
      </dgm:prSet>
      <dgm:spPr/>
    </dgm:pt>
  </dgm:ptLst>
  <dgm:cxnLst>
    <dgm:cxn modelId="{562DE018-A951-4CE6-882D-10E86DD91AED}" srcId="{9596FC0A-FD31-4A13-A101-B34906B5FCA3}" destId="{D7893660-5BFC-4EEE-852D-A0B87874F466}" srcOrd="3" destOrd="0" parTransId="{6EEC88D9-076A-419A-9A6B-120C27DF31EB}" sibTransId="{DDFB99C5-58BB-421F-9CEC-742A00ABA300}"/>
    <dgm:cxn modelId="{E2BD9F22-0B50-46E3-BAED-8E33F3EF52A7}" type="presOf" srcId="{D7893660-5BFC-4EEE-852D-A0B87874F466}" destId="{C1303DAA-A72B-4927-BF7B-07847C41FFDF}" srcOrd="0" destOrd="0" presId="urn:microsoft.com/office/officeart/2009/3/layout/StepUpProcess"/>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B7F6B86D-D0D3-4DDE-9E7E-4D3A957DA948}" type="presParOf" srcId="{71194B23-C715-4BA4-A045-7005C525AF3E}" destId="{1D50067A-87B8-435B-B026-B5457AF02675}" srcOrd="2" destOrd="0" presId="urn:microsoft.com/office/officeart/2009/3/layout/StepUpProcess"/>
    <dgm:cxn modelId="{7F80C062-50FD-4282-A883-2E8CDE2FE1DB}" type="presParOf" srcId="{E1C5162A-7220-4DEC-A00E-88E41A0FBFB7}" destId="{BF4F7FD1-FA8A-4C56-A404-B0172E0306C7}" srcOrd="5" destOrd="0" presId="urn:microsoft.com/office/officeart/2009/3/layout/StepUpProcess"/>
    <dgm:cxn modelId="{1A6459C7-7EF6-4D30-92EC-F6F7A1D99C4B}" type="presParOf" srcId="{BF4F7FD1-FA8A-4C56-A404-B0172E0306C7}" destId="{32644BF9-5AF3-4D29-BE08-74A83ECBD4A9}" srcOrd="0" destOrd="0" presId="urn:microsoft.com/office/officeart/2009/3/layout/StepUpProcess"/>
    <dgm:cxn modelId="{39B6C53D-D583-4441-8258-2FE45FC1C7A2}" type="presParOf" srcId="{E1C5162A-7220-4DEC-A00E-88E41A0FBFB7}" destId="{34B2BED8-9D9E-4B33-A8A7-2CC4A0ED4095}" srcOrd="6" destOrd="0" presId="urn:microsoft.com/office/officeart/2009/3/layout/StepUpProcess"/>
    <dgm:cxn modelId="{42C918C6-35C2-4E58-BAE9-F0BB1C10867D}" type="presParOf" srcId="{34B2BED8-9D9E-4B33-A8A7-2CC4A0ED4095}" destId="{45F51B91-CDE2-4150-ABC9-E07326939C02}" srcOrd="0" destOrd="0" presId="urn:microsoft.com/office/officeart/2009/3/layout/StepUpProcess"/>
    <dgm:cxn modelId="{C351E5D4-D9D6-431A-83F1-287E1D3F23EB}" type="presParOf" srcId="{34B2BED8-9D9E-4B33-A8A7-2CC4A0ED4095}" destId="{C1303DAA-A72B-4927-BF7B-07847C41FFDF}" srcOrd="1" destOrd="0" presId="urn:microsoft.com/office/officeart/2009/3/layout/StepUp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596FC0A-FD31-4A13-A101-B34906B5FCA3}" type="doc">
      <dgm:prSet loTypeId="urn:microsoft.com/office/officeart/2009/3/layout/StepUpProcess" loCatId="process" qsTypeId="urn:microsoft.com/office/officeart/2005/8/quickstyle/simple1" qsCatId="simple" csTypeId="urn:microsoft.com/office/officeart/2005/8/colors/accent2_2" csCatId="accent2" phldr="1"/>
      <dgm:spPr/>
      <dgm:t>
        <a:bodyPr/>
        <a:lstStyle/>
        <a:p>
          <a:endParaRPr lang="en-US"/>
        </a:p>
      </dgm:t>
    </dgm:pt>
    <dgm:pt modelId="{7E095769-9D9B-40C6-A448-32B20215D868}">
      <dgm:prSet phldrT="[Text]" phldr="0"/>
      <dgm:spPr/>
      <dgm:t>
        <a:bodyPr/>
        <a:lstStyle/>
        <a:p>
          <a:r>
            <a:rPr lang="en-US" dirty="0"/>
            <a:t>Formulas</a:t>
          </a:r>
        </a:p>
      </dgm:t>
    </dgm:pt>
    <dgm:pt modelId="{F4600BDA-8F82-442F-A2E5-6E673A39A7ED}" type="parTrans" cxnId="{2EE4C9C5-18F6-4208-BFC2-DDFBC96794DA}">
      <dgm:prSet/>
      <dgm:spPr/>
      <dgm:t>
        <a:bodyPr/>
        <a:lstStyle/>
        <a:p>
          <a:endParaRPr lang="en-US"/>
        </a:p>
      </dgm:t>
    </dgm:pt>
    <dgm:pt modelId="{2FD94EF4-6AF8-4026-9D1C-BB8474CF7C4C}" type="sibTrans" cxnId="{2EE4C9C5-18F6-4208-BFC2-DDFBC96794DA}">
      <dgm:prSet/>
      <dgm:spPr/>
      <dgm:t>
        <a:bodyPr/>
        <a:lstStyle/>
        <a:p>
          <a:endParaRPr lang="en-US"/>
        </a:p>
      </dgm:t>
    </dgm:pt>
    <dgm:pt modelId="{9755B054-2A0A-4243-A5C5-182AC48ED55B}">
      <dgm:prSet phldrT="[Text]" phldr="0"/>
      <dgm:spPr/>
      <dgm:t>
        <a:bodyPr/>
        <a:lstStyle/>
        <a:p>
          <a:r>
            <a:rPr lang="en-US" dirty="0"/>
            <a:t>PivotTables</a:t>
          </a:r>
        </a:p>
      </dgm:t>
    </dgm:pt>
    <dgm:pt modelId="{8A628A53-949A-440A-AA57-8A743CA87032}" type="parTrans" cxnId="{EE26EA72-087D-4F8D-9070-C1852D70C64A}">
      <dgm:prSet/>
      <dgm:spPr/>
      <dgm:t>
        <a:bodyPr/>
        <a:lstStyle/>
        <a:p>
          <a:endParaRPr lang="en-US"/>
        </a:p>
      </dgm:t>
    </dgm:pt>
    <dgm:pt modelId="{16C0DDF2-CBDB-4619-ADAC-B681C71B6F89}" type="sibTrans" cxnId="{EE26EA72-087D-4F8D-9070-C1852D70C64A}">
      <dgm:prSet/>
      <dgm:spPr/>
      <dgm:t>
        <a:bodyPr/>
        <a:lstStyle/>
        <a:p>
          <a:endParaRPr lang="en-US"/>
        </a:p>
      </dgm:t>
    </dgm:pt>
    <dgm:pt modelId="{ECDF3F5F-D616-4773-AD86-206CBB2C9A45}">
      <dgm:prSet phldrT="[Text]" phldr="0"/>
      <dgm:spPr/>
      <dgm:t>
        <a:bodyPr/>
        <a:lstStyle/>
        <a:p>
          <a:r>
            <a:rPr lang="en-US" dirty="0"/>
            <a:t>Power Query</a:t>
          </a:r>
        </a:p>
      </dgm:t>
    </dgm:pt>
    <dgm:pt modelId="{2B13BBD9-23B6-4A64-8160-2979AC683130}" type="parTrans" cxnId="{98F83CF4-04E0-4019-ADAD-02149DA9E92B}">
      <dgm:prSet/>
      <dgm:spPr/>
      <dgm:t>
        <a:bodyPr/>
        <a:lstStyle/>
        <a:p>
          <a:endParaRPr lang="en-US"/>
        </a:p>
      </dgm:t>
    </dgm:pt>
    <dgm:pt modelId="{48E1857D-DABA-49C3-A05A-879561167E94}" type="sibTrans" cxnId="{98F83CF4-04E0-4019-ADAD-02149DA9E92B}">
      <dgm:prSet/>
      <dgm:spPr/>
      <dgm:t>
        <a:bodyPr/>
        <a:lstStyle/>
        <a:p>
          <a:endParaRPr lang="en-US"/>
        </a:p>
      </dgm:t>
    </dgm:pt>
    <dgm:pt modelId="{DD10328E-A6DD-41E3-B554-4474C789EE3B}">
      <dgm:prSet phldrT="[Text]" phldr="0"/>
      <dgm:spPr/>
      <dgm:t>
        <a:bodyPr/>
        <a:lstStyle/>
        <a:p>
          <a:r>
            <a:rPr lang="en-US"/>
            <a:t>Copilot</a:t>
          </a:r>
          <a:endParaRPr lang="en-US" dirty="0"/>
        </a:p>
      </dgm:t>
    </dgm:pt>
    <dgm:pt modelId="{4797E7E1-7520-4563-8E79-62450B631D4B}" type="parTrans" cxnId="{15541B4A-6034-416F-A9C3-A32F77ED3760}">
      <dgm:prSet/>
      <dgm:spPr/>
    </dgm:pt>
    <dgm:pt modelId="{89CB7E39-70B1-4EAE-ADEF-C2D7ECAB52C3}" type="sibTrans" cxnId="{15541B4A-6034-416F-A9C3-A32F77ED3760}">
      <dgm:prSet/>
      <dgm:spPr/>
    </dgm:pt>
    <dgm:pt modelId="{E1C5162A-7220-4DEC-A00E-88E41A0FBFB7}" type="pres">
      <dgm:prSet presAssocID="{9596FC0A-FD31-4A13-A101-B34906B5FCA3}" presName="rootnode" presStyleCnt="0">
        <dgm:presLayoutVars>
          <dgm:chMax/>
          <dgm:chPref/>
          <dgm:dir/>
          <dgm:animLvl val="lvl"/>
        </dgm:presLayoutVars>
      </dgm:prSet>
      <dgm:spPr/>
    </dgm:pt>
    <dgm:pt modelId="{87829CA9-EEC9-440A-95A0-711332578C97}" type="pres">
      <dgm:prSet presAssocID="{7E095769-9D9B-40C6-A448-32B20215D868}" presName="composite" presStyleCnt="0"/>
      <dgm:spPr/>
    </dgm:pt>
    <dgm:pt modelId="{9270B02A-591F-4475-8B46-CA257B56BD42}" type="pres">
      <dgm:prSet presAssocID="{7E095769-9D9B-40C6-A448-32B20215D868}" presName="LShape" presStyleLbl="alignNode1" presStyleIdx="0" presStyleCnt="7"/>
      <dgm:spPr/>
    </dgm:pt>
    <dgm:pt modelId="{70D0D292-7A19-4BB9-92FE-398428920B5A}" type="pres">
      <dgm:prSet presAssocID="{7E095769-9D9B-40C6-A448-32B20215D868}" presName="ParentText" presStyleLbl="revTx" presStyleIdx="0" presStyleCnt="4">
        <dgm:presLayoutVars>
          <dgm:chMax val="0"/>
          <dgm:chPref val="0"/>
          <dgm:bulletEnabled val="1"/>
        </dgm:presLayoutVars>
      </dgm:prSet>
      <dgm:spPr/>
    </dgm:pt>
    <dgm:pt modelId="{6E1B76BE-C8A3-4EFE-B029-79471988039A}" type="pres">
      <dgm:prSet presAssocID="{7E095769-9D9B-40C6-A448-32B20215D868}" presName="Triangle" presStyleLbl="alignNode1" presStyleIdx="1" presStyleCnt="7"/>
      <dgm:spPr/>
    </dgm:pt>
    <dgm:pt modelId="{65CCD5B0-6FA3-4512-870D-0688E6DC15BB}" type="pres">
      <dgm:prSet presAssocID="{2FD94EF4-6AF8-4026-9D1C-BB8474CF7C4C}" presName="sibTrans" presStyleCnt="0"/>
      <dgm:spPr/>
    </dgm:pt>
    <dgm:pt modelId="{06A88AE1-611E-4204-A7B3-0D769D20F3DC}" type="pres">
      <dgm:prSet presAssocID="{2FD94EF4-6AF8-4026-9D1C-BB8474CF7C4C}" presName="space" presStyleCnt="0"/>
      <dgm:spPr/>
    </dgm:pt>
    <dgm:pt modelId="{BC9F4771-E159-4033-81EB-9DFA4894F0DB}" type="pres">
      <dgm:prSet presAssocID="{9755B054-2A0A-4243-A5C5-182AC48ED55B}" presName="composite" presStyleCnt="0"/>
      <dgm:spPr/>
    </dgm:pt>
    <dgm:pt modelId="{31A2965E-BA52-4DAE-B25D-0B8DF9759693}" type="pres">
      <dgm:prSet presAssocID="{9755B054-2A0A-4243-A5C5-182AC48ED55B}" presName="LShape" presStyleLbl="alignNode1" presStyleIdx="2" presStyleCnt="7"/>
      <dgm:spPr/>
    </dgm:pt>
    <dgm:pt modelId="{7D89103A-A049-459F-BE27-3F7CDAB3116F}" type="pres">
      <dgm:prSet presAssocID="{9755B054-2A0A-4243-A5C5-182AC48ED55B}" presName="ParentText" presStyleLbl="revTx" presStyleIdx="1" presStyleCnt="4">
        <dgm:presLayoutVars>
          <dgm:chMax val="0"/>
          <dgm:chPref val="0"/>
          <dgm:bulletEnabled val="1"/>
        </dgm:presLayoutVars>
      </dgm:prSet>
      <dgm:spPr/>
    </dgm:pt>
    <dgm:pt modelId="{3C5452DC-DF54-41F6-A2E7-B2C3D5FFDF04}" type="pres">
      <dgm:prSet presAssocID="{9755B054-2A0A-4243-A5C5-182AC48ED55B}" presName="Triangle" presStyleLbl="alignNode1" presStyleIdx="3" presStyleCnt="7"/>
      <dgm:spPr/>
    </dgm:pt>
    <dgm:pt modelId="{C5E6AA56-FF3F-4B0C-BB85-D5CE068DE08E}" type="pres">
      <dgm:prSet presAssocID="{16C0DDF2-CBDB-4619-ADAC-B681C71B6F89}" presName="sibTrans" presStyleCnt="0"/>
      <dgm:spPr/>
    </dgm:pt>
    <dgm:pt modelId="{9332C6F2-99EA-46F3-8A63-326A0AAEC36C}" type="pres">
      <dgm:prSet presAssocID="{16C0DDF2-CBDB-4619-ADAC-B681C71B6F89}" presName="space" presStyleCnt="0"/>
      <dgm:spPr/>
    </dgm:pt>
    <dgm:pt modelId="{71194B23-C715-4BA4-A045-7005C525AF3E}" type="pres">
      <dgm:prSet presAssocID="{ECDF3F5F-D616-4773-AD86-206CBB2C9A45}" presName="composite" presStyleCnt="0"/>
      <dgm:spPr/>
    </dgm:pt>
    <dgm:pt modelId="{72EB81E9-684C-485A-8117-9D259B875780}" type="pres">
      <dgm:prSet presAssocID="{ECDF3F5F-D616-4773-AD86-206CBB2C9A45}" presName="LShape" presStyleLbl="alignNode1" presStyleIdx="4" presStyleCnt="7"/>
      <dgm:spPr/>
    </dgm:pt>
    <dgm:pt modelId="{D789AC9C-80C2-4DAF-A9CF-4E79F9DAA1AC}" type="pres">
      <dgm:prSet presAssocID="{ECDF3F5F-D616-4773-AD86-206CBB2C9A45}" presName="ParentText" presStyleLbl="revTx" presStyleIdx="2" presStyleCnt="4">
        <dgm:presLayoutVars>
          <dgm:chMax val="0"/>
          <dgm:chPref val="0"/>
          <dgm:bulletEnabled val="1"/>
        </dgm:presLayoutVars>
      </dgm:prSet>
      <dgm:spPr/>
    </dgm:pt>
    <dgm:pt modelId="{14EFF778-3053-49EA-B8FF-91963C53C838}" type="pres">
      <dgm:prSet presAssocID="{ECDF3F5F-D616-4773-AD86-206CBB2C9A45}" presName="Triangle" presStyleLbl="alignNode1" presStyleIdx="5" presStyleCnt="7"/>
      <dgm:spPr/>
    </dgm:pt>
    <dgm:pt modelId="{48896D18-1FB6-4DEF-9EEA-AF6FB11D0F17}" type="pres">
      <dgm:prSet presAssocID="{48E1857D-DABA-49C3-A05A-879561167E94}" presName="sibTrans" presStyleCnt="0"/>
      <dgm:spPr/>
    </dgm:pt>
    <dgm:pt modelId="{449B5E31-9683-440C-8D54-C8DD516DD73A}" type="pres">
      <dgm:prSet presAssocID="{48E1857D-DABA-49C3-A05A-879561167E94}" presName="space" presStyleCnt="0"/>
      <dgm:spPr/>
    </dgm:pt>
    <dgm:pt modelId="{E96AF6BE-0A31-4A43-994F-7ACA89F404A5}" type="pres">
      <dgm:prSet presAssocID="{DD10328E-A6DD-41E3-B554-4474C789EE3B}" presName="composite" presStyleCnt="0"/>
      <dgm:spPr/>
    </dgm:pt>
    <dgm:pt modelId="{69FB57F2-30E0-447B-9CA3-6081CC2A6EF0}" type="pres">
      <dgm:prSet presAssocID="{DD10328E-A6DD-41E3-B554-4474C789EE3B}" presName="LShape" presStyleLbl="alignNode1" presStyleIdx="6" presStyleCnt="7"/>
      <dgm:spPr/>
    </dgm:pt>
    <dgm:pt modelId="{8831F2BD-16CB-4DFD-906B-F2ABDB3649AD}" type="pres">
      <dgm:prSet presAssocID="{DD10328E-A6DD-41E3-B554-4474C789EE3B}" presName="ParentText" presStyleLbl="revTx" presStyleIdx="3" presStyleCnt="4">
        <dgm:presLayoutVars>
          <dgm:chMax val="0"/>
          <dgm:chPref val="0"/>
          <dgm:bulletEnabled val="1"/>
        </dgm:presLayoutVars>
      </dgm:prSet>
      <dgm:spPr/>
    </dgm:pt>
  </dgm:ptLst>
  <dgm:cxnLst>
    <dgm:cxn modelId="{15541B4A-6034-416F-A9C3-A32F77ED3760}" srcId="{9596FC0A-FD31-4A13-A101-B34906B5FCA3}" destId="{DD10328E-A6DD-41E3-B554-4474C789EE3B}" srcOrd="3" destOrd="0" parTransId="{4797E7E1-7520-4563-8E79-62450B631D4B}" sibTransId="{89CB7E39-70B1-4EAE-ADEF-C2D7ECAB52C3}"/>
    <dgm:cxn modelId="{1BAAE84C-B4C5-4E73-B9B1-02C29868C3E6}" type="presOf" srcId="{ECDF3F5F-D616-4773-AD86-206CBB2C9A45}" destId="{D789AC9C-80C2-4DAF-A9CF-4E79F9DAA1AC}" srcOrd="0" destOrd="0" presId="urn:microsoft.com/office/officeart/2009/3/layout/StepUpProcess"/>
    <dgm:cxn modelId="{EE26EA72-087D-4F8D-9070-C1852D70C64A}" srcId="{9596FC0A-FD31-4A13-A101-B34906B5FCA3}" destId="{9755B054-2A0A-4243-A5C5-182AC48ED55B}" srcOrd="1" destOrd="0" parTransId="{8A628A53-949A-440A-AA57-8A743CA87032}" sibTransId="{16C0DDF2-CBDB-4619-ADAC-B681C71B6F89}"/>
    <dgm:cxn modelId="{70223BA7-3977-4363-B8B1-9018CF9464B6}" type="presOf" srcId="{9755B054-2A0A-4243-A5C5-182AC48ED55B}" destId="{7D89103A-A049-459F-BE27-3F7CDAB3116F}" srcOrd="0" destOrd="0" presId="urn:microsoft.com/office/officeart/2009/3/layout/StepUpProcess"/>
    <dgm:cxn modelId="{9B6313B1-6985-4CAA-8504-23046B34F1B1}" type="presOf" srcId="{DD10328E-A6DD-41E3-B554-4474C789EE3B}" destId="{8831F2BD-16CB-4DFD-906B-F2ABDB3649AD}" srcOrd="0" destOrd="0" presId="urn:microsoft.com/office/officeart/2009/3/layout/StepUpProcess"/>
    <dgm:cxn modelId="{7AA0C1BB-5351-49F2-A43B-1BDC920190A8}" type="presOf" srcId="{9596FC0A-FD31-4A13-A101-B34906B5FCA3}" destId="{E1C5162A-7220-4DEC-A00E-88E41A0FBFB7}" srcOrd="0" destOrd="0" presId="urn:microsoft.com/office/officeart/2009/3/layout/StepUpProcess"/>
    <dgm:cxn modelId="{2EE4C9C5-18F6-4208-BFC2-DDFBC96794DA}" srcId="{9596FC0A-FD31-4A13-A101-B34906B5FCA3}" destId="{7E095769-9D9B-40C6-A448-32B20215D868}" srcOrd="0" destOrd="0" parTransId="{F4600BDA-8F82-442F-A2E5-6E673A39A7ED}" sibTransId="{2FD94EF4-6AF8-4026-9D1C-BB8474CF7C4C}"/>
    <dgm:cxn modelId="{98F83CF4-04E0-4019-ADAD-02149DA9E92B}" srcId="{9596FC0A-FD31-4A13-A101-B34906B5FCA3}" destId="{ECDF3F5F-D616-4773-AD86-206CBB2C9A45}" srcOrd="2" destOrd="0" parTransId="{2B13BBD9-23B6-4A64-8160-2979AC683130}" sibTransId="{48E1857D-DABA-49C3-A05A-879561167E94}"/>
    <dgm:cxn modelId="{19CA1EFA-6E30-48AB-9169-FBD3733306D8}" type="presOf" srcId="{7E095769-9D9B-40C6-A448-32B20215D868}" destId="{70D0D292-7A19-4BB9-92FE-398428920B5A}" srcOrd="0" destOrd="0" presId="urn:microsoft.com/office/officeart/2009/3/layout/StepUpProcess"/>
    <dgm:cxn modelId="{4A92DC72-1C29-4066-9066-2B3F109B73A6}" type="presParOf" srcId="{E1C5162A-7220-4DEC-A00E-88E41A0FBFB7}" destId="{87829CA9-EEC9-440A-95A0-711332578C97}" srcOrd="0" destOrd="0" presId="urn:microsoft.com/office/officeart/2009/3/layout/StepUpProcess"/>
    <dgm:cxn modelId="{65A324FE-3A72-46CB-AB0F-48288DB4D980}" type="presParOf" srcId="{87829CA9-EEC9-440A-95A0-711332578C97}" destId="{9270B02A-591F-4475-8B46-CA257B56BD42}" srcOrd="0" destOrd="0" presId="urn:microsoft.com/office/officeart/2009/3/layout/StepUpProcess"/>
    <dgm:cxn modelId="{B7641341-7687-4E96-9A67-BCCA1DC079CE}" type="presParOf" srcId="{87829CA9-EEC9-440A-95A0-711332578C97}" destId="{70D0D292-7A19-4BB9-92FE-398428920B5A}" srcOrd="1" destOrd="0" presId="urn:microsoft.com/office/officeart/2009/3/layout/StepUpProcess"/>
    <dgm:cxn modelId="{2D982769-D530-451D-B0B9-79FC2E1086BE}" type="presParOf" srcId="{87829CA9-EEC9-440A-95A0-711332578C97}" destId="{6E1B76BE-C8A3-4EFE-B029-79471988039A}" srcOrd="2" destOrd="0" presId="urn:microsoft.com/office/officeart/2009/3/layout/StepUpProcess"/>
    <dgm:cxn modelId="{825DD771-FA76-47CF-9FA0-8C0710127C54}" type="presParOf" srcId="{E1C5162A-7220-4DEC-A00E-88E41A0FBFB7}" destId="{65CCD5B0-6FA3-4512-870D-0688E6DC15BB}" srcOrd="1" destOrd="0" presId="urn:microsoft.com/office/officeart/2009/3/layout/StepUpProcess"/>
    <dgm:cxn modelId="{1AC141DA-AB94-490B-9CB1-6A40AE07004F}" type="presParOf" srcId="{65CCD5B0-6FA3-4512-870D-0688E6DC15BB}" destId="{06A88AE1-611E-4204-A7B3-0D769D20F3DC}" srcOrd="0" destOrd="0" presId="urn:microsoft.com/office/officeart/2009/3/layout/StepUpProcess"/>
    <dgm:cxn modelId="{1F9697A3-B262-48A5-AA76-D0E663A655A2}" type="presParOf" srcId="{E1C5162A-7220-4DEC-A00E-88E41A0FBFB7}" destId="{BC9F4771-E159-4033-81EB-9DFA4894F0DB}" srcOrd="2" destOrd="0" presId="urn:microsoft.com/office/officeart/2009/3/layout/StepUpProcess"/>
    <dgm:cxn modelId="{0C5C56B4-294A-47A8-A8AA-92229D56634C}" type="presParOf" srcId="{BC9F4771-E159-4033-81EB-9DFA4894F0DB}" destId="{31A2965E-BA52-4DAE-B25D-0B8DF9759693}" srcOrd="0" destOrd="0" presId="urn:microsoft.com/office/officeart/2009/3/layout/StepUpProcess"/>
    <dgm:cxn modelId="{CA54501C-B50A-4574-9EC3-1902549C6CD8}" type="presParOf" srcId="{BC9F4771-E159-4033-81EB-9DFA4894F0DB}" destId="{7D89103A-A049-459F-BE27-3F7CDAB3116F}" srcOrd="1" destOrd="0" presId="urn:microsoft.com/office/officeart/2009/3/layout/StepUpProcess"/>
    <dgm:cxn modelId="{56A920E3-8786-475D-A46D-A6C98B5F37C5}" type="presParOf" srcId="{BC9F4771-E159-4033-81EB-9DFA4894F0DB}" destId="{3C5452DC-DF54-41F6-A2E7-B2C3D5FFDF04}" srcOrd="2" destOrd="0" presId="urn:microsoft.com/office/officeart/2009/3/layout/StepUpProcess"/>
    <dgm:cxn modelId="{2DBDB027-666C-4653-BE66-6F50B636101A}" type="presParOf" srcId="{E1C5162A-7220-4DEC-A00E-88E41A0FBFB7}" destId="{C5E6AA56-FF3F-4B0C-BB85-D5CE068DE08E}" srcOrd="3" destOrd="0" presId="urn:microsoft.com/office/officeart/2009/3/layout/StepUpProcess"/>
    <dgm:cxn modelId="{72B37DF4-520E-42C4-A095-064BF56AC332}" type="presParOf" srcId="{C5E6AA56-FF3F-4B0C-BB85-D5CE068DE08E}" destId="{9332C6F2-99EA-46F3-8A63-326A0AAEC36C}" srcOrd="0" destOrd="0" presId="urn:microsoft.com/office/officeart/2009/3/layout/StepUpProcess"/>
    <dgm:cxn modelId="{1A6E2490-2732-496A-A74B-89557380CDBF}" type="presParOf" srcId="{E1C5162A-7220-4DEC-A00E-88E41A0FBFB7}" destId="{71194B23-C715-4BA4-A045-7005C525AF3E}" srcOrd="4" destOrd="0" presId="urn:microsoft.com/office/officeart/2009/3/layout/StepUpProcess"/>
    <dgm:cxn modelId="{2F085E8E-74C5-4BB7-9E6F-82681753A748}" type="presParOf" srcId="{71194B23-C715-4BA4-A045-7005C525AF3E}" destId="{72EB81E9-684C-485A-8117-9D259B875780}" srcOrd="0" destOrd="0" presId="urn:microsoft.com/office/officeart/2009/3/layout/StepUpProcess"/>
    <dgm:cxn modelId="{18667A45-0FE2-4073-AA4C-64849B4AE10D}" type="presParOf" srcId="{71194B23-C715-4BA4-A045-7005C525AF3E}" destId="{D789AC9C-80C2-4DAF-A9CF-4E79F9DAA1AC}" srcOrd="1" destOrd="0" presId="urn:microsoft.com/office/officeart/2009/3/layout/StepUpProcess"/>
    <dgm:cxn modelId="{80DF88C6-F94F-4789-A333-94594EB24137}" type="presParOf" srcId="{71194B23-C715-4BA4-A045-7005C525AF3E}" destId="{14EFF778-3053-49EA-B8FF-91963C53C838}" srcOrd="2" destOrd="0" presId="urn:microsoft.com/office/officeart/2009/3/layout/StepUpProcess"/>
    <dgm:cxn modelId="{14096607-09E7-47CD-A76A-B1A244F164FE}" type="presParOf" srcId="{E1C5162A-7220-4DEC-A00E-88E41A0FBFB7}" destId="{48896D18-1FB6-4DEF-9EEA-AF6FB11D0F17}" srcOrd="5" destOrd="0" presId="urn:microsoft.com/office/officeart/2009/3/layout/StepUpProcess"/>
    <dgm:cxn modelId="{F8FB3E92-BB56-406D-A301-35CF44B3756C}" type="presParOf" srcId="{48896D18-1FB6-4DEF-9EEA-AF6FB11D0F17}" destId="{449B5E31-9683-440C-8D54-C8DD516DD73A}" srcOrd="0" destOrd="0" presId="urn:microsoft.com/office/officeart/2009/3/layout/StepUpProcess"/>
    <dgm:cxn modelId="{1A9E898E-ECEF-478A-B9F3-99B08A1E61D1}" type="presParOf" srcId="{E1C5162A-7220-4DEC-A00E-88E41A0FBFB7}" destId="{E96AF6BE-0A31-4A43-994F-7ACA89F404A5}" srcOrd="6" destOrd="0" presId="urn:microsoft.com/office/officeart/2009/3/layout/StepUpProcess"/>
    <dgm:cxn modelId="{FFE93C43-1FDA-436A-9C91-8F53DEB7E6AF}" type="presParOf" srcId="{E96AF6BE-0A31-4A43-994F-7ACA89F404A5}" destId="{69FB57F2-30E0-447B-9CA3-6081CC2A6EF0}" srcOrd="0" destOrd="0" presId="urn:microsoft.com/office/officeart/2009/3/layout/StepUpProcess"/>
    <dgm:cxn modelId="{181F6695-C855-4873-9BD4-3B4B2604253D}" type="presParOf" srcId="{E96AF6BE-0A31-4A43-994F-7ACA89F404A5}" destId="{8831F2BD-16CB-4DFD-906B-F2ABDB3649AD}" srcOrd="1" destOrd="0" presId="urn:microsoft.com/office/officeart/2009/3/layout/StepUp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D50067A-87B8-435B-B026-B5457AF02675}">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45F51B91-CDE2-4150-ABC9-E07326939C02}">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C1303DAA-A72B-4927-BF7B-07847C41FFDF}">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270B02A-591F-4475-8B46-CA257B56BD42}">
      <dsp:nvSpPr>
        <dsp:cNvPr id="0" name=""/>
        <dsp:cNvSpPr/>
      </dsp:nvSpPr>
      <dsp:spPr>
        <a:xfrm rot="5400000">
          <a:off x="563527" y="340155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0D0D292-7A19-4BB9-92FE-398428920B5A}">
      <dsp:nvSpPr>
        <dsp:cNvPr id="0" name=""/>
        <dsp:cNvSpPr/>
      </dsp:nvSpPr>
      <dsp:spPr>
        <a:xfrm>
          <a:off x="280263" y="4245229"/>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Formulas</a:t>
          </a:r>
        </a:p>
      </dsp:txBody>
      <dsp:txXfrm>
        <a:off x="280263" y="4245229"/>
        <a:ext cx="2549247" cy="2234565"/>
      </dsp:txXfrm>
    </dsp:sp>
    <dsp:sp modelId="{6E1B76BE-C8A3-4EFE-B029-79471988039A}">
      <dsp:nvSpPr>
        <dsp:cNvPr id="0" name=""/>
        <dsp:cNvSpPr/>
      </dsp:nvSpPr>
      <dsp:spPr>
        <a:xfrm>
          <a:off x="2348521" y="3193669"/>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31A2965E-BA52-4DAE-B25D-0B8DF9759693}">
      <dsp:nvSpPr>
        <dsp:cNvPr id="0" name=""/>
        <dsp:cNvSpPr/>
      </dsp:nvSpPr>
      <dsp:spPr>
        <a:xfrm rot="5400000">
          <a:off x="3684304" y="2629313"/>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D89103A-A049-459F-BE27-3F7CDAB3116F}">
      <dsp:nvSpPr>
        <dsp:cNvPr id="0" name=""/>
        <dsp:cNvSpPr/>
      </dsp:nvSpPr>
      <dsp:spPr>
        <a:xfrm>
          <a:off x="3401040" y="3472990"/>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PivotTables</a:t>
          </a:r>
        </a:p>
      </dsp:txBody>
      <dsp:txXfrm>
        <a:off x="3401040" y="3472990"/>
        <a:ext cx="2549247" cy="2234565"/>
      </dsp:txXfrm>
    </dsp:sp>
    <dsp:sp modelId="{3C5452DC-DF54-41F6-A2E7-B2C3D5FFDF04}">
      <dsp:nvSpPr>
        <dsp:cNvPr id="0" name=""/>
        <dsp:cNvSpPr/>
      </dsp:nvSpPr>
      <dsp:spPr>
        <a:xfrm>
          <a:off x="5469298" y="2421430"/>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72EB81E9-684C-485A-8117-9D259B875780}">
      <dsp:nvSpPr>
        <dsp:cNvPr id="0" name=""/>
        <dsp:cNvSpPr/>
      </dsp:nvSpPr>
      <dsp:spPr>
        <a:xfrm rot="5400000">
          <a:off x="6805081" y="1857074"/>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D789AC9C-80C2-4DAF-A9CF-4E79F9DAA1AC}">
      <dsp:nvSpPr>
        <dsp:cNvPr id="0" name=""/>
        <dsp:cNvSpPr/>
      </dsp:nvSpPr>
      <dsp:spPr>
        <a:xfrm>
          <a:off x="6521817" y="270075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dirty="0"/>
            <a:t>Power Query</a:t>
          </a:r>
        </a:p>
      </dsp:txBody>
      <dsp:txXfrm>
        <a:off x="6521817" y="2700751"/>
        <a:ext cx="2549247" cy="2234565"/>
      </dsp:txXfrm>
    </dsp:sp>
    <dsp:sp modelId="{14EFF778-3053-49EA-B8FF-91963C53C838}">
      <dsp:nvSpPr>
        <dsp:cNvPr id="0" name=""/>
        <dsp:cNvSpPr/>
      </dsp:nvSpPr>
      <dsp:spPr>
        <a:xfrm>
          <a:off x="8590075" y="1649191"/>
          <a:ext cx="480990" cy="480990"/>
        </a:xfrm>
        <a:prstGeom prst="triangle">
          <a:avLst>
            <a:gd name="adj" fmla="val 10000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69FB57F2-30E0-447B-9CA3-6081CC2A6EF0}">
      <dsp:nvSpPr>
        <dsp:cNvPr id="0" name=""/>
        <dsp:cNvSpPr/>
      </dsp:nvSpPr>
      <dsp:spPr>
        <a:xfrm rot="5400000">
          <a:off x="9925858" y="1084835"/>
          <a:ext cx="1696954" cy="2823694"/>
        </a:xfrm>
        <a:prstGeom prst="corner">
          <a:avLst>
            <a:gd name="adj1" fmla="val 16120"/>
            <a:gd name="adj2" fmla="val 16110"/>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sp>
    <dsp:sp modelId="{8831F2BD-16CB-4DFD-906B-F2ABDB3649AD}">
      <dsp:nvSpPr>
        <dsp:cNvPr id="0" name=""/>
        <dsp:cNvSpPr/>
      </dsp:nvSpPr>
      <dsp:spPr>
        <a:xfrm>
          <a:off x="9642594" y="1928511"/>
          <a:ext cx="2549247" cy="223456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4780" tIns="144780" rIns="144780" bIns="144780" numCol="1" spcCol="1270" anchor="t" anchorCtr="0">
          <a:noAutofit/>
        </a:bodyPr>
        <a:lstStyle/>
        <a:p>
          <a:pPr marL="0" lvl="0" indent="0" algn="l" defTabSz="1689100">
            <a:lnSpc>
              <a:spcPct val="90000"/>
            </a:lnSpc>
            <a:spcBef>
              <a:spcPct val="0"/>
            </a:spcBef>
            <a:spcAft>
              <a:spcPct val="35000"/>
            </a:spcAft>
            <a:buNone/>
          </a:pPr>
          <a:r>
            <a:rPr lang="en-US" sz="3800" kern="1200"/>
            <a:t>Copilot</a:t>
          </a:r>
          <a:endParaRPr lang="en-US" sz="3800" kern="1200" dirty="0"/>
        </a:p>
      </dsp:txBody>
      <dsp:txXfrm>
        <a:off x="9642594" y="1928511"/>
        <a:ext cx="2549247" cy="2234565"/>
      </dsp:txXfrm>
    </dsp:sp>
  </dsp:spTree>
</dsp:drawing>
</file>

<file path=ppt/diagrams/layout1.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9/3/layout/StepUpProcess">
  <dgm:title val=""/>
  <dgm:desc val=""/>
  <dgm:catLst>
    <dgm:cat type="process" pri="1300"/>
  </dgm:catLst>
  <dgm:sampData>
    <dgm:dataModel>
      <dgm:ptLst>
        <dgm:pt modelId="0" type="doc"/>
        <dgm:pt modelId="10">
          <dgm:prSet phldr="1"/>
        </dgm:pt>
        <dgm:pt modelId="20">
          <dgm:prSet phldr="1"/>
        </dgm:pt>
        <dgm:pt modelId="30">
          <dgm:prSet phldr="1"/>
        </dgm:pt>
      </dgm:ptLst>
      <dgm:cxnLst>
        <dgm:cxn modelId="60" srcId="0" destId="10" srcOrd="0" destOrd="0"/>
        <dgm:cxn modelId="70" srcId="0" destId="20" srcOrd="1" destOrd="0"/>
        <dgm:cxn modelId="80" srcId="0" destId="30" srcOrd="2"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rootnode">
    <dgm:varLst>
      <dgm:chMax/>
      <dgm:chPref/>
      <dgm:dir/>
      <dgm:animLvl val="lvl"/>
    </dgm:varLst>
    <dgm:choose name="Name0">
      <dgm:if name="Name1" func="var" arg="dir" op="equ" val="norm">
        <dgm:alg type="snake">
          <dgm:param type="grDir" val="bL"/>
          <dgm:param type="flowDir" val="row"/>
          <dgm:param type="off" val="off"/>
          <dgm:param type="bkpt" val="fixed"/>
          <dgm:param type="bkPtFixedVal" val="1"/>
        </dgm:alg>
      </dgm:if>
      <dgm:else name="Name2">
        <dgm:alg type="snake">
          <dgm:param type="grDir" val="bR"/>
          <dgm:param type="flowDir" val="row"/>
          <dgm:param type="off" val="off"/>
          <dgm:param type="bkpt" val="fixed"/>
          <dgm:param type="bkPtFixedVal" val="1"/>
        </dgm:alg>
      </dgm:else>
    </dgm:choose>
    <dgm:shape xmlns:r="http://schemas.openxmlformats.org/officeDocument/2006/relationships" r:blip="">
      <dgm:adjLst/>
    </dgm:shape>
    <dgm:constrLst>
      <dgm:constr type="alignOff" forName="rootnode" val="1"/>
      <dgm:constr type="primFontSz" for="des" ptType="node" op="equ" val="65"/>
      <dgm:constr type="w" for="ch" forName="composite" refType="w"/>
      <dgm:constr type="h" for="ch" forName="composite" refType="h"/>
      <dgm:constr type="sp" refType="h" refFor="ch" refForName="composite" op="equ" fact="-0.765"/>
      <dgm:constr type="w" for="ch" forName="sibTrans" refType="w" fact="0.103"/>
      <dgm:constr type="h" for="ch" forName="sibTrans" refType="h" fact="0.103"/>
    </dgm:constrLst>
    <dgm:forEach name="nodesForEach" axis="ch" ptType="node">
      <dgm:layoutNode name="composite">
        <dgm:alg type="composite">
          <dgm:param type="ar" val="0.861"/>
        </dgm:alg>
        <dgm:shape xmlns:r="http://schemas.openxmlformats.org/officeDocument/2006/relationships" r:blip="">
          <dgm:adjLst/>
        </dgm:shape>
        <dgm:choose name="Name3">
          <dgm:if name="Name4" func="var" arg="dir" op="equ" val="norm">
            <dgm:constrLst>
              <dgm:constr type="l" for="ch" forName="LShape" refType="w" fact="0"/>
              <dgm:constr type="t" for="ch" forName="LShape" refType="h" fact="0.2347"/>
              <dgm:constr type="w" for="ch" forName="LShape" refType="w" fact="0.998"/>
              <dgm:constr type="h" for="ch" forName="LShape" refType="h" fact="0.5164"/>
              <dgm:constr type="r" for="ch" forName="ParentText" refType="w"/>
              <dgm:constr type="t" for="ch" forName="ParentText" refType="h" fact="0.32"/>
              <dgm:constr type="w" for="ch" forName="ParentText" refType="w" fact="0.901"/>
              <dgm:constr type="h" for="ch" forName="ParentText" refType="h" fact="0.68"/>
              <dgm:constr type="l" for="ch" forName="Triangle" refType="w" fact="0.83"/>
              <dgm:constr type="t" for="ch" forName="Triangle" refType="h" fact="0"/>
              <dgm:constr type="w" for="ch" forName="Triangle" refType="w" fact="0.17"/>
              <dgm:constr type="h" for="ch" forName="Triangle" refType="w" refFor="ch" refForName="Triangle"/>
            </dgm:constrLst>
          </dgm:if>
          <dgm:else name="Name5">
            <dgm:constrLst>
              <dgm:constr type="l" for="ch" forName="LShape" refType="w" fact="0.002"/>
              <dgm:constr type="t" for="ch" forName="LShape" refType="h" fact="0.2347"/>
              <dgm:constr type="w" for="ch" forName="LShape" refType="w"/>
              <dgm:constr type="h" for="ch" forName="LShape" refType="h" fact="0.5164"/>
              <dgm:constr type="l" for="ch" forName="ParentText" refType="w" fact="0"/>
              <dgm:constr type="t" for="ch" forName="ParentText" refType="h" fact="0.32"/>
              <dgm:constr type="w" for="ch" forName="ParentText" refType="w" fact="0.902"/>
              <dgm:constr type="h" for="ch" forName="ParentText" refType="h" fact="0.68"/>
              <dgm:constr type="l" for="ch" forName="Triangle" refType="w" fact="0"/>
              <dgm:constr type="t" for="ch" forName="Triangle" refType="h" fact="0"/>
              <dgm:constr type="w" for="ch" forName="Triangle" refType="w" fact="0.17"/>
              <dgm:constr type="h" for="ch" forName="Triangle" refType="w" refFor="ch" refForName="Triangle"/>
            </dgm:constrLst>
          </dgm:else>
        </dgm:choose>
        <dgm:layoutNode name="LShape" styleLbl="alignNode1">
          <dgm:alg type="sp"/>
          <dgm:choose name="Name6">
            <dgm:if name="Name7" func="var" arg="dir" op="equ" val="norm">
              <dgm:shape xmlns:r="http://schemas.openxmlformats.org/officeDocument/2006/relationships" rot="90" type="corner" r:blip="">
                <dgm:adjLst>
                  <dgm:adj idx="1" val="0.1612"/>
                  <dgm:adj idx="2" val="0.1611"/>
                </dgm:adjLst>
              </dgm:shape>
            </dgm:if>
            <dgm:else name="Name8">
              <dgm:shape xmlns:r="http://schemas.openxmlformats.org/officeDocument/2006/relationships" rot="180" type="corner" r:blip="">
                <dgm:adjLst>
                  <dgm:adj idx="1" val="0.1612"/>
                  <dgm:adj idx="2" val="0.1611"/>
                </dgm:adjLst>
              </dgm:shape>
            </dgm:else>
          </dgm:choose>
          <dgm:presOf/>
        </dgm:layoutNode>
        <dgm:layoutNode name="ParentText" styleLbl="revTx">
          <dgm:varLst>
            <dgm:chMax val="0"/>
            <dgm:chPref val="0"/>
            <dgm:bulletEnabled val="1"/>
          </dgm:varLst>
          <dgm:alg type="tx">
            <dgm:param type="parTxLTRAlign" val="l"/>
            <dgm:param type="txAnchorVert" val="t"/>
          </dgm:alg>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choose name="Name9">
          <dgm:if name="Name10" axis="followSib" ptType="node" func="cnt" op="gte" val="1">
            <dgm:layoutNode name="Triangle" styleLbl="alignNode1">
              <dgm:alg type="sp"/>
              <dgm:choose name="Name11">
                <dgm:if name="Name12" func="var" arg="dir" op="equ" val="norm">
                  <dgm:shape xmlns:r="http://schemas.openxmlformats.org/officeDocument/2006/relationships" type="triangle" r:blip="">
                    <dgm:adjLst>
                      <dgm:adj idx="1" val="1"/>
                    </dgm:adjLst>
                  </dgm:shape>
                </dgm:if>
                <dgm:else name="Name13">
                  <dgm:shape xmlns:r="http://schemas.openxmlformats.org/officeDocument/2006/relationships" rot="90" type="triangle" r:blip="">
                    <dgm:adjLst>
                      <dgm:adj idx="1" val="1"/>
                    </dgm:adjLst>
                  </dgm:shape>
                </dgm:else>
              </dgm:choose>
              <dgm:presOf/>
            </dgm:layoutNode>
          </dgm:if>
          <dgm:else name="Name14"/>
        </dgm:choose>
      </dgm:layoutNode>
      <dgm:forEach name="sibTransForEach" axis="followSib" ptType="sibTrans" cnt="1">
        <dgm:layoutNode name="sibTrans">
          <dgm:alg type="composite">
            <dgm:param type="ar" val="0.861"/>
          </dgm:alg>
          <dgm:constrLst>
            <dgm:constr type="w" for="ch" forName="space" refType="w"/>
            <dgm:constr type="h" for="ch" forName="space" refType="w"/>
          </dgm:constrLst>
          <dgm:layoutNode name="space" styleLbl="alignNode1">
            <dgm:alg type="sp"/>
            <dgm:shape xmlns:r="http://schemas.openxmlformats.org/officeDocument/2006/relationships" r:blip="">
              <dgm:adjLst/>
            </dgm:shape>
            <dgm:presOf/>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11/11/2025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5235D5-173D-7E79-17DB-4B2F9677D6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2173F3-81EB-36E0-5B1E-56098D6D431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BE57913-0448-2B5D-AB0C-7861C360FFC1}"/>
              </a:ext>
            </a:extLst>
          </p:cNvPr>
          <p:cNvSpPr>
            <a:spLocks noGrp="1"/>
          </p:cNvSpPr>
          <p:nvPr>
            <p:ph type="body" idx="1"/>
          </p:nvPr>
        </p:nvSpPr>
        <p:spPr/>
        <p:txBody>
          <a:bodyPr/>
          <a:lstStyle/>
          <a:p>
            <a:pPr marL="228600" indent="-228600">
              <a:buAutoNum type="arabicPeriod"/>
            </a:pPr>
            <a:r>
              <a:rPr lang="en-US" dirty="0"/>
              <a:t>False!</a:t>
            </a:r>
          </a:p>
          <a:p>
            <a:pPr marL="228600" indent="-228600">
              <a:buAutoNum type="arabicPeriod"/>
            </a:pPr>
            <a:r>
              <a:rPr lang="en-US" dirty="0"/>
              <a:t>Function, Formula, Function</a:t>
            </a:r>
          </a:p>
          <a:p>
            <a:pPr marL="228600" indent="-228600">
              <a:buAutoNum type="arabicPeriod"/>
            </a:pPr>
            <a:r>
              <a:rPr lang="en-US" dirty="0"/>
              <a:t>Argument</a:t>
            </a:r>
          </a:p>
        </p:txBody>
      </p:sp>
      <p:sp>
        <p:nvSpPr>
          <p:cNvPr id="4" name="Slide Number Placeholder 3">
            <a:extLst>
              <a:ext uri="{FF2B5EF4-FFF2-40B4-BE49-F238E27FC236}">
                <a16:creationId xmlns:a16="http://schemas.microsoft.com/office/drawing/2014/main" id="{A02CB03B-FCC0-A40A-B1C4-9F60245A8137}"/>
              </a:ext>
            </a:extLst>
          </p:cNvPr>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68316324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900" dirty="0"/>
              <a:t>When people hear Copilot and Agent Mode, they often assume they are the same thing, but they represent very different stages in how AI works inside Excel.</a:t>
            </a:r>
          </a:p>
          <a:p>
            <a:endParaRPr lang="en-US" sz="900" dirty="0"/>
          </a:p>
          <a:p>
            <a:r>
              <a:rPr lang="en-US" sz="900" dirty="0"/>
              <a:t>Copilot is what most of us have used so far. It is a great assistant when you need to generate a formula, summarize some data, or clean up a quick report. You ask it a question, it gives an answer, and then it is up to you to decide what to do next. It is reactive. It waits for your prompt each time.</a:t>
            </a:r>
          </a:p>
          <a:p>
            <a:endParaRPr lang="en-US" sz="900" dirty="0"/>
          </a:p>
          <a:p>
            <a:r>
              <a:rPr lang="en-US" sz="900" dirty="0"/>
              <a:t>Agent Mode takes this a step further. Instead of a single prompt and response, the agent can plan, execute, and evaluate multiple steps on its own. It does not just answer you, it actually works with you, refining its approach until it gets the result right. Think of it as the difference between giving someone an instruction versus giving them a project.</a:t>
            </a:r>
          </a:p>
          <a:p>
            <a:endParaRPr lang="en-US" sz="900" dirty="0"/>
          </a:p>
          <a:p>
            <a:r>
              <a:rPr lang="en-US" sz="900" dirty="0"/>
              <a:t>That also changes your role as the analyst. With Copilot, you are still the one doing the work, just faster. With Agent Mode, you become more of a manager or reviewer, someone who guides, oversees, and checks the agent’s work. The focus shifts from “Can I get this formula right?” to “Can I structure and verify the workflow my agent is running?”</a:t>
            </a:r>
          </a:p>
          <a:p>
            <a:endParaRPr lang="en-US" sz="900" dirty="0"/>
          </a:p>
          <a:p>
            <a:r>
              <a:rPr lang="en-US" sz="900" dirty="0"/>
              <a:t>In terms of output, Copilot is great for speed. You will get something usable right away. Agent Mode is built for reliability. It double checks itself, validates formulas, and produces outputs that are more auditable and refreshable. That is what makes it better suited for more complex or higher stakes workflows like financial models, reconciliations, or recurring dashboards.</a:t>
            </a:r>
          </a:p>
          <a:p>
            <a:endParaRPr lang="en-US" sz="900" dirty="0"/>
          </a:p>
          <a:p>
            <a:r>
              <a:rPr lang="en-US" sz="900" dirty="0"/>
              <a:t>So the short version is: Copilot accelerates your work. Agent Mode begins to do the work. The real opportunity for Excel professionals is learning how to manage and guide these new digital teammates effectively.</a:t>
            </a:r>
          </a:p>
        </p:txBody>
      </p:sp>
      <p:sp>
        <p:nvSpPr>
          <p:cNvPr id="4" name="Slide Number Placeholder 3"/>
          <p:cNvSpPr>
            <a:spLocks noGrp="1"/>
          </p:cNvSpPr>
          <p:nvPr>
            <p:ph type="sldNum" sz="quarter" idx="5"/>
          </p:nvPr>
        </p:nvSpPr>
        <p:spPr/>
        <p:txBody>
          <a:bodyPr/>
          <a:lstStyle/>
          <a:p>
            <a:fld id="{FFB500C5-13F7-48FC-8160-C29AECF6C602}" type="slidenum">
              <a:rPr lang="en-US" smtClean="0"/>
              <a:t>8</a:t>
            </a:fld>
            <a:endParaRPr lang="en-US"/>
          </a:p>
        </p:txBody>
      </p:sp>
    </p:spTree>
    <p:extLst>
      <p:ext uri="{BB962C8B-B14F-4D97-AF65-F5344CB8AC3E}">
        <p14:creationId xmlns:p14="http://schemas.microsoft.com/office/powerpoint/2010/main" val="298611631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https://stringfestanalytics.com/how-to-get-started-with-agent-mode-in-excel/</a:t>
            </a:r>
          </a:p>
        </p:txBody>
      </p:sp>
      <p:sp>
        <p:nvSpPr>
          <p:cNvPr id="4" name="Slide Number Placeholder 3"/>
          <p:cNvSpPr>
            <a:spLocks noGrp="1"/>
          </p:cNvSpPr>
          <p:nvPr>
            <p:ph type="sldNum" sz="quarter" idx="5"/>
          </p:nvPr>
        </p:nvSpPr>
        <p:spPr/>
        <p:txBody>
          <a:bodyPr/>
          <a:lstStyle/>
          <a:p>
            <a:fld id="{1300335D-9F13-4B80-ADC5-B0EA3E10FF6B}" type="slidenum">
              <a:rPr lang="en-US" smtClean="0"/>
              <a:t>9</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550340-90B9-3E9E-2C44-E53E1F5BC8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416F7D-80C0-0BF0-5DAE-28EECF9522B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1923542-0F7D-E832-E549-540653D47B72}"/>
              </a:ext>
            </a:extLst>
          </p:cNvPr>
          <p:cNvSpPr>
            <a:spLocks noGrp="1"/>
          </p:cNvSpPr>
          <p:nvPr>
            <p:ph type="body" idx="1"/>
          </p:nvPr>
        </p:nvSpPr>
        <p:spPr/>
        <p:txBody>
          <a:bodyPr/>
          <a:lstStyle/>
          <a:p>
            <a:r>
              <a:rPr lang="en-US" sz="900" dirty="0"/>
              <a:t>When people hear Copilot and Agent Mode, they often assume they are the same thing, but they represent very different stages in how AI works inside Excel.</a:t>
            </a:r>
          </a:p>
          <a:p>
            <a:endParaRPr lang="en-US" sz="900" dirty="0"/>
          </a:p>
          <a:p>
            <a:r>
              <a:rPr lang="en-US" sz="900" dirty="0"/>
              <a:t>Copilot is what most of us have used so far. It is a great assistant when you need to generate a formula, summarize some data, or clean up a quick report. You ask it a question, it gives an answer, and then it is up to you to decide what to do next. It is reactive. It waits for your prompt each time.</a:t>
            </a:r>
          </a:p>
          <a:p>
            <a:endParaRPr lang="en-US" sz="900" dirty="0"/>
          </a:p>
          <a:p>
            <a:r>
              <a:rPr lang="en-US" sz="900" dirty="0"/>
              <a:t>Agent Mode takes this a step further. Instead of a single prompt and response, the agent can plan, execute, and evaluate multiple steps on its own. It does not just answer you, it actually works with you, refining its approach until it gets the result right. Think of it as the difference between giving someone an instruction versus giving them a project.</a:t>
            </a:r>
          </a:p>
          <a:p>
            <a:endParaRPr lang="en-US" sz="900" dirty="0"/>
          </a:p>
          <a:p>
            <a:r>
              <a:rPr lang="en-US" sz="900" dirty="0"/>
              <a:t>That also changes your role as the analyst. With Copilot, you are still the one doing the work, just faster. With Agent Mode, you become more of a manager or reviewer, someone who guides, oversees, and checks the agent’s work. The focus shifts from “Can I get this formula right?” to “Can I structure and verify the workflow my agent is running?”</a:t>
            </a:r>
          </a:p>
          <a:p>
            <a:endParaRPr lang="en-US" sz="900" dirty="0"/>
          </a:p>
          <a:p>
            <a:r>
              <a:rPr lang="en-US" sz="900" dirty="0"/>
              <a:t>In terms of output, Copilot is great for speed. You will get something usable right away. Agent Mode is built for reliability. It double checks itself, validates formulas, and produces outputs that are more auditable and refreshable. That is what makes it better suited for more complex or higher stakes workflows like financial models, reconciliations, or recurring dashboards.</a:t>
            </a:r>
          </a:p>
          <a:p>
            <a:endParaRPr lang="en-US" sz="900" dirty="0"/>
          </a:p>
          <a:p>
            <a:r>
              <a:rPr lang="en-US" sz="900" dirty="0"/>
              <a:t>So the short version is: Copilot accelerates your work. Agent Mode begins to do the work. The real opportunity for Excel professionals is learning how to manage and guide these new digital teammates effectively.</a:t>
            </a:r>
          </a:p>
        </p:txBody>
      </p:sp>
      <p:sp>
        <p:nvSpPr>
          <p:cNvPr id="4" name="Slide Number Placeholder 3">
            <a:extLst>
              <a:ext uri="{FF2B5EF4-FFF2-40B4-BE49-F238E27FC236}">
                <a16:creationId xmlns:a16="http://schemas.microsoft.com/office/drawing/2014/main" id="{AD1320A6-67F7-AA40-1113-E4509F24AEFD}"/>
              </a:ext>
            </a:extLst>
          </p:cNvPr>
          <p:cNvSpPr>
            <a:spLocks noGrp="1"/>
          </p:cNvSpPr>
          <p:nvPr>
            <p:ph type="sldNum" sz="quarter" idx="5"/>
          </p:nvPr>
        </p:nvSpPr>
        <p:spPr/>
        <p:txBody>
          <a:bodyPr/>
          <a:lstStyle/>
          <a:p>
            <a:fld id="{FFB500C5-13F7-48FC-8160-C29AECF6C602}" type="slidenum">
              <a:rPr lang="en-US" smtClean="0"/>
              <a:t>10</a:t>
            </a:fld>
            <a:endParaRPr lang="en-US"/>
          </a:p>
        </p:txBody>
      </p:sp>
    </p:spTree>
    <p:extLst>
      <p:ext uri="{BB962C8B-B14F-4D97-AF65-F5344CB8AC3E}">
        <p14:creationId xmlns:p14="http://schemas.microsoft.com/office/powerpoint/2010/main" val="64917080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14B1B5-A60D-967D-49BC-6F3ABD430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BF92654-5E87-00BA-6746-303D497ED4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BC1A70-63B8-CA42-42BB-70F21EDD71D7}"/>
              </a:ext>
            </a:extLst>
          </p:cNvPr>
          <p:cNvSpPr>
            <a:spLocks noGrp="1"/>
          </p:cNvSpPr>
          <p:nvPr>
            <p:ph type="body" idx="1"/>
          </p:nvPr>
        </p:nvSpPr>
        <p:spPr/>
        <p:txBody>
          <a:bodyPr/>
          <a:lstStyle/>
          <a:p>
            <a:pPr marL="0" indent="0">
              <a:buNone/>
            </a:pPr>
            <a:r>
              <a:rPr lang="en-US" dirty="0"/>
              <a:t>https://stringfestanalytics.com/how-to-turn-your-excel-workbook-into-a-chatbot-with-copilot-studio/</a:t>
            </a:r>
          </a:p>
        </p:txBody>
      </p:sp>
      <p:sp>
        <p:nvSpPr>
          <p:cNvPr id="4" name="Slide Number Placeholder 3">
            <a:extLst>
              <a:ext uri="{FF2B5EF4-FFF2-40B4-BE49-F238E27FC236}">
                <a16:creationId xmlns:a16="http://schemas.microsoft.com/office/drawing/2014/main" id="{62A5ACB8-FCC1-D3E3-8AE3-DDDF3FBF49DE}"/>
              </a:ext>
            </a:extLst>
          </p:cNvPr>
          <p:cNvSpPr>
            <a:spLocks noGrp="1"/>
          </p:cNvSpPr>
          <p:nvPr>
            <p:ph type="sldNum" sz="quarter" idx="5"/>
          </p:nvPr>
        </p:nvSpPr>
        <p:spPr/>
        <p:txBody>
          <a:bodyPr/>
          <a:lstStyle/>
          <a:p>
            <a:fld id="{1300335D-9F13-4B80-ADC5-B0EA3E10FF6B}" type="slidenum">
              <a:rPr lang="en-US" smtClean="0"/>
              <a:t>11</a:t>
            </a:fld>
            <a:endParaRPr lang="en-US"/>
          </a:p>
        </p:txBody>
      </p:sp>
    </p:spTree>
    <p:extLst>
      <p:ext uri="{BB962C8B-B14F-4D97-AF65-F5344CB8AC3E}">
        <p14:creationId xmlns:p14="http://schemas.microsoft.com/office/powerpoint/2010/main" val="26996192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shows what an automated AI workflow looks like — a sequence of predefined steps that move from a trigger to a final output. You can think of it as a chain reaction: something starts the process, different actions happen automatically, and along the way, AI steps in to add intelligence or decision-making.</a:t>
            </a:r>
          </a:p>
          <a:p>
            <a:r>
              <a:rPr lang="en-US" dirty="0"/>
              <a:t>It all begins with a </a:t>
            </a:r>
            <a:r>
              <a:rPr lang="en-US" b="1" dirty="0"/>
              <a:t>trigger</a:t>
            </a:r>
            <a:r>
              <a:rPr lang="en-US" dirty="0"/>
              <a:t> — something that tells the workflow to start. In Excel or Power Automate, that could be a new row added to a table, a file uploaded to OneDrive, or even a scheduled time like “every Monday morning.” The trigger is what kicks everything off without you having to manually do anything.</a:t>
            </a:r>
          </a:p>
          <a:p>
            <a:r>
              <a:rPr lang="en-US" dirty="0"/>
              <a:t>Then we have </a:t>
            </a:r>
            <a:r>
              <a:rPr lang="en-US" b="1" dirty="0"/>
              <a:t>Step 1</a:t>
            </a:r>
            <a:r>
              <a:rPr lang="en-US" dirty="0"/>
              <a:t>, which is often a preparation step. Maybe it’s collecting the data, formatting it, or sending it into Excel. This could be where Power Automate connects to a SharePoint list, a form submission, or a Teams message and feeds that data into your workbook.</a:t>
            </a:r>
          </a:p>
          <a:p>
            <a:r>
              <a:rPr lang="en-US" dirty="0"/>
              <a:t>Next comes the </a:t>
            </a:r>
            <a:r>
              <a:rPr lang="en-US" b="1" dirty="0"/>
              <a:t>AI Step</a:t>
            </a:r>
            <a:r>
              <a:rPr lang="en-US" dirty="0"/>
              <a:t> — this is where Copilot or another AI model gets involved. This could be an AI Builder action inside Power Automate that summarizes text, classifies feedback, or extracts key details from a document. Or it might be Copilot inside Excel generating a formula, building a chart, or explaining data patterns automatically. The AI step takes what used to be manual analysis and turns it into an automated, intelligent action.</a:t>
            </a:r>
          </a:p>
          <a:p>
            <a:r>
              <a:rPr lang="en-US" dirty="0"/>
              <a:t>After that, there can be more steps — maybe sending results back to Excel, notifying someone in Teams, or updating a dashboard. Each step builds on the last, flowing seamlessly without human intervention.</a:t>
            </a:r>
          </a:p>
          <a:p>
            <a:r>
              <a:rPr lang="en-US" dirty="0"/>
              <a:t>Finally, we reach the </a:t>
            </a:r>
            <a:r>
              <a:rPr lang="en-US" b="1" dirty="0"/>
              <a:t>output</a:t>
            </a:r>
            <a:r>
              <a:rPr lang="en-US" dirty="0"/>
              <a:t>, which is the end goal of the automation. That might be a refreshed Excel report, an email summary, or a new dataset ready for review. The beauty of it is that the whole process runs automatically once it’s designed — no constant copying, pasting, or checking formulas.</a:t>
            </a:r>
          </a:p>
          <a:p>
            <a:r>
              <a:rPr lang="en-US" dirty="0"/>
              <a:t>So, in short, this kind of workflow connects automation tools like Power Automate with AI capabilities from Copilot or AI Builder to take everyday Excel tasks — things like reporting, data cleaning, or summarizing — and turn them into intelligent, repeatable processes.</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13</a:t>
            </a:fld>
            <a:endParaRPr lang="en-US"/>
          </a:p>
        </p:txBody>
      </p:sp>
    </p:spTree>
    <p:extLst>
      <p:ext uri="{BB962C8B-B14F-4D97-AF65-F5344CB8AC3E}">
        <p14:creationId xmlns:p14="http://schemas.microsoft.com/office/powerpoint/2010/main" val="40645057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this next diagram shows the big shift we’re seeing with AI — moving from </a:t>
            </a:r>
            <a:r>
              <a:rPr lang="en-US" b="1" dirty="0"/>
              <a:t>automation</a:t>
            </a:r>
            <a:r>
              <a:rPr lang="en-US" dirty="0"/>
              <a:t> to </a:t>
            </a:r>
            <a:r>
              <a:rPr lang="en-US" b="1" dirty="0"/>
              <a:t>agency</a:t>
            </a:r>
            <a:r>
              <a:rPr lang="en-US" dirty="0"/>
              <a:t>. In the previous model, we had a predefined sequence of steps. Everything had to be mapped out ahead of time — if X happens, then do Y, then Z. That’s great for structured processes, but it doesn’t leave room for flexibility or judgment.</a:t>
            </a:r>
          </a:p>
          <a:p>
            <a:r>
              <a:rPr lang="en-US" dirty="0"/>
              <a:t>In this model, the </a:t>
            </a:r>
            <a:r>
              <a:rPr lang="en-US" b="1" dirty="0"/>
              <a:t>AI Agent</a:t>
            </a:r>
            <a:r>
              <a:rPr lang="en-US" dirty="0"/>
              <a:t> doesn’t just follow a script — it thinks through what to do next. When the trigger fires, the agent decides on its own which actions to take and which tools to use to reach the goal. It can pull from its </a:t>
            </a:r>
            <a:r>
              <a:rPr lang="en-US" b="1" dirty="0"/>
              <a:t>instructions</a:t>
            </a:r>
            <a:r>
              <a:rPr lang="en-US" dirty="0"/>
              <a:t> — what it’s been told it’s allowed or supposed to do — along with </a:t>
            </a:r>
            <a:r>
              <a:rPr lang="en-US" b="1" dirty="0"/>
              <a:t>memory</a:t>
            </a:r>
            <a:r>
              <a:rPr lang="en-US" dirty="0"/>
              <a:t>, which helps it recall past context, and </a:t>
            </a:r>
            <a:r>
              <a:rPr lang="en-US" b="1" dirty="0"/>
              <a:t>tools</a:t>
            </a:r>
            <a:r>
              <a:rPr lang="en-US" dirty="0"/>
              <a:t>, which might include things like Excel, Power Automate, or SharePoint.</a:t>
            </a:r>
          </a:p>
          <a:p>
            <a:r>
              <a:rPr lang="en-US" dirty="0"/>
              <a:t>For example, instead of a static Power Automate flow that’s hard-coded to send an email every time a report updates, an agent could look at the new data, decide if a report even needs to be generated, check who the right stakeholders are, and then use the right tool — maybe Copilot in Excel to summarize the data, or Power Automate to share the results. The key difference is that the agent chooses the path dynamically, based on what it knows and what it’s trying to accomplish — not just what’s been pre-programmed.</a:t>
            </a:r>
          </a:p>
          <a:p>
            <a:r>
              <a:rPr lang="en-US" dirty="0"/>
              <a:t>This is what we mean when we talk about Copilot moving into the </a:t>
            </a:r>
            <a:r>
              <a:rPr lang="en-US" b="1" dirty="0"/>
              <a:t>agentic era</a:t>
            </a:r>
            <a:r>
              <a:rPr lang="en-US" dirty="0"/>
              <a:t> — it’s not just automating, it’s adapting. It’s capable of reasoning, taking initiative, and using multiple Microsoft 365 tools together to achieve an outcome — all without you needing to define every single step.</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14</a:t>
            </a:fld>
            <a:endParaRPr lang="en-US"/>
          </a:p>
        </p:txBody>
      </p:sp>
    </p:spTree>
    <p:extLst>
      <p:ext uri="{BB962C8B-B14F-4D97-AF65-F5344CB8AC3E}">
        <p14:creationId xmlns:p14="http://schemas.microsoft.com/office/powerpoint/2010/main" val="32970948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t>When I say audit your team’s data and automation skills, I mean really take stock of what you already have. Who knows Power Query? Who can write a bit of Python or create a simple flow in Power Automate? Before you chase shiny new AI tools, get a baseline of your current capabilities.</a:t>
            </a:r>
          </a:p>
          <a:p>
            <a:endParaRPr lang="en-US" b="0" dirty="0"/>
          </a:p>
          <a:p>
            <a:r>
              <a:rPr lang="en-US" b="0" dirty="0"/>
              <a:t>Next, start small with Office Scripts and Power Automate. These are great low-risk ways to build repeatable logic and connect Excel to other systems. Once you understand how those pieces work, Agent Mode and Copilot will make a lot more sense.</a:t>
            </a:r>
          </a:p>
          <a:p>
            <a:endParaRPr lang="en-US" b="0" dirty="0"/>
          </a:p>
          <a:p>
            <a:r>
              <a:rPr lang="en-US" b="0" dirty="0"/>
              <a:t>Then, experiment safely with Copilot and Agent Mode. Try them in sandboxed files or low-stakes tasks. Learn how they interpret prompts, where they struggle, and how they can support your workflows. The goal is to build trust with the tools before relying on them in production.</a:t>
            </a:r>
          </a:p>
          <a:p>
            <a:r>
              <a:rPr lang="en-US" b="0" dirty="0"/>
              <a:t>From there, build a roadmap for AI adoption and governance. This is where system thinking comes in. Decide which processes to automate, who owns the workflows, and how you will review and audit results. This ensures the technology actually scales.</a:t>
            </a:r>
          </a:p>
          <a:p>
            <a:endParaRPr lang="en-US" b="0" dirty="0"/>
          </a:p>
          <a:p>
            <a:r>
              <a:rPr lang="en-US" b="0" dirty="0"/>
              <a:t>Finally, book a discovery call to plan your next moves. Every organization is at a different stage with these tools, and having a plan makes all the difference. I can help you map the skills, systems, and priorities that will make this stack work for you.</a:t>
            </a:r>
          </a:p>
          <a:p>
            <a:endParaRPr lang="en-US" b="0" dirty="0"/>
          </a:p>
        </p:txBody>
      </p:sp>
      <p:sp>
        <p:nvSpPr>
          <p:cNvPr id="4" name="Slide Number Placeholder 3"/>
          <p:cNvSpPr>
            <a:spLocks noGrp="1"/>
          </p:cNvSpPr>
          <p:nvPr>
            <p:ph type="sldNum" sz="quarter" idx="5"/>
          </p:nvPr>
        </p:nvSpPr>
        <p:spPr/>
        <p:txBody>
          <a:bodyPr/>
          <a:lstStyle/>
          <a:p>
            <a:fld id="{FFB500C5-13F7-48FC-8160-C29AECF6C602}" type="slidenum">
              <a:rPr lang="en-US" smtClean="0"/>
              <a:t>15</a:t>
            </a:fld>
            <a:endParaRPr lang="en-US"/>
          </a:p>
        </p:txBody>
      </p:sp>
    </p:spTree>
    <p:extLst>
      <p:ext uri="{BB962C8B-B14F-4D97-AF65-F5344CB8AC3E}">
        <p14:creationId xmlns:p14="http://schemas.microsoft.com/office/powerpoint/2010/main" val="245590439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11/11/2025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11/11/2025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image" Target="../media/image9.png"/><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blog.tobiaszwingmann.com/p/integration-automation-ai-framework" TargetMode="External"/><Relationship Id="rId2" Type="http://schemas.openxmlformats.org/officeDocument/2006/relationships/image" Target="../media/image9.png"/><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1.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8EB9D66-9CB4-B474-27D6-F594F19E2A76}"/>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6F578B23-3522-A45E-113D-CFC55209E2C5}"/>
              </a:ext>
            </a:extLst>
          </p:cNvPr>
          <p:cNvSpPr>
            <a:spLocks noGrp="1"/>
          </p:cNvSpPr>
          <p:nvPr>
            <p:ph type="ctrTitle"/>
          </p:nvPr>
        </p:nvSpPr>
        <p:spPr>
          <a:xfrm>
            <a:off x="2286000" y="2598656"/>
            <a:ext cx="13716000" cy="3581400"/>
          </a:xfrm>
        </p:spPr>
        <p:txBody>
          <a:bodyPr>
            <a:normAutofit fontScale="90000"/>
          </a:bodyPr>
          <a:lstStyle/>
          <a:p>
            <a:r>
              <a:rPr lang="en-US" sz="9900" b="1" dirty="0">
                <a:solidFill>
                  <a:srgbClr val="241F62"/>
                </a:solidFill>
                <a:latin typeface="+mn-lt"/>
              </a:rPr>
              <a:t>AI comes to Excel: Building your first Excel agent</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CADADD3B-A58B-45A3-D5DF-D99E4EB05D2C}"/>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51C8D1E5-24B9-FEAC-440F-B059007D73CE}"/>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27575643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About 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91730" y="1029387"/>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44000" y="2080485"/>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06530" y="7521455"/>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Global Excel Summit (9-11 February 2022) - Microsoft Excel Conference">
            <a:extLst>
              <a:ext uri="{FF2B5EF4-FFF2-40B4-BE49-F238E27FC236}">
                <a16:creationId xmlns:a16="http://schemas.microsoft.com/office/drawing/2014/main" id="{EA545C86-0986-E2A5-4B62-E3E41804715B}"/>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502896" y="3743408"/>
            <a:ext cx="3437261" cy="3437261"/>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inkedinlearninginstructor #linkedinlearning | Thais Cooke | 80 comments">
            <a:extLst>
              <a:ext uri="{FF2B5EF4-FFF2-40B4-BE49-F238E27FC236}">
                <a16:creationId xmlns:a16="http://schemas.microsoft.com/office/drawing/2014/main" id="{2E947460-3FEE-CFC7-623B-C27CBE0D9E1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2954000" y="7292317"/>
            <a:ext cx="5018711" cy="206484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2862322"/>
          </a:xfrm>
          <a:prstGeom prst="rect">
            <a:avLst/>
          </a:prstGeom>
          <a:noFill/>
        </p:spPr>
        <p:txBody>
          <a:bodyPr wrap="square" rtlCol="0">
            <a:spAutoFit/>
          </a:bodyPr>
          <a:lstStyle/>
          <a:p>
            <a:r>
              <a:rPr lang="en-US" sz="9000" dirty="0">
                <a:latin typeface="Aliens &amp; cows" panose="00000500000000000000" pitchFamily="2" charset="0"/>
              </a:rPr>
              <a:t>Objectives for this session</a:t>
            </a:r>
          </a:p>
        </p:txBody>
      </p:sp>
      <p:sp>
        <p:nvSpPr>
          <p:cNvPr id="3" name="TextBox 2"/>
          <p:cNvSpPr txBox="1"/>
          <p:nvPr/>
        </p:nvSpPr>
        <p:spPr>
          <a:xfrm>
            <a:off x="520861" y="3191948"/>
            <a:ext cx="14393120" cy="397031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Explore the difference between Copilot and Agent Mode in Excel</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Build your first Agent Mode tool in Excel using natural language prompts</a:t>
            </a:r>
          </a:p>
          <a:p>
            <a:pPr marL="685800" indent="-685800">
              <a:buClr>
                <a:srgbClr val="CF3338"/>
              </a:buClr>
              <a:buFont typeface="Arial" panose="020B0604020202020204" pitchFamily="34" charset="0"/>
              <a:buChar char="•"/>
            </a:pPr>
            <a:r>
              <a:rPr lang="en-US" sz="4200" dirty="0">
                <a:solidFill>
                  <a:srgbClr val="707070"/>
                </a:solidFill>
                <a:latin typeface="Pragmatica" panose="020B0403040502020204" pitchFamily="34" charset="0"/>
              </a:rPr>
              <a:t>Understand how Excel Agents fit into the Microsoft AI ecosystem (Copilot Studio, Power Platform, etc.)</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899E4-3D67-4F5C-9D65-EF5EF52CB1B4}"/>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2245D936-66D9-DF0F-F77B-2AE73828D767}"/>
              </a:ext>
            </a:extLst>
          </p:cNvPr>
          <p:cNvSpPr txBox="1"/>
          <p:nvPr/>
        </p:nvSpPr>
        <p:spPr>
          <a:xfrm>
            <a:off x="520861" y="170082"/>
            <a:ext cx="16395539" cy="1477328"/>
          </a:xfrm>
          <a:prstGeom prst="rect">
            <a:avLst/>
          </a:prstGeom>
          <a:noFill/>
        </p:spPr>
        <p:txBody>
          <a:bodyPr wrap="square" rtlCol="0">
            <a:spAutoFit/>
          </a:bodyPr>
          <a:lstStyle/>
          <a:p>
            <a:r>
              <a:rPr lang="en-US" sz="9000" dirty="0">
                <a:latin typeface="Aliens &amp; cows" panose="00000500000000000000" pitchFamily="2" charset="0"/>
              </a:rPr>
              <a:t>Remember when Excel got…</a:t>
            </a:r>
          </a:p>
        </p:txBody>
      </p:sp>
      <p:pic>
        <p:nvPicPr>
          <p:cNvPr id="15" name="Picture 14" descr="A close up of a sign&#10;&#10;Description automatically generated">
            <a:extLst>
              <a:ext uri="{FF2B5EF4-FFF2-40B4-BE49-F238E27FC236}">
                <a16:creationId xmlns:a16="http://schemas.microsoft.com/office/drawing/2014/main" id="{7FC47B52-F116-9B07-9F82-E4A341395C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F3762FA8-595D-366F-D814-2F4111A487F4}"/>
              </a:ext>
            </a:extLst>
          </p:cNvPr>
          <p:cNvGraphicFramePr/>
          <p:nvPr>
            <p:extLst>
              <p:ext uri="{D42A27DB-BD31-4B8C-83A1-F6EECF244321}">
                <p14:modId xmlns:p14="http://schemas.microsoft.com/office/powerpoint/2010/main" val="370380416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120844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C68A8F-238B-F149-883B-EC39513349C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D7566E4-0615-C523-0C0B-1436446427E8}"/>
              </a:ext>
            </a:extLst>
          </p:cNvPr>
          <p:cNvSpPr txBox="1"/>
          <p:nvPr/>
        </p:nvSpPr>
        <p:spPr>
          <a:xfrm>
            <a:off x="520861" y="170082"/>
            <a:ext cx="16395539" cy="9787295"/>
          </a:xfrm>
          <a:prstGeom prst="rect">
            <a:avLst/>
          </a:prstGeom>
          <a:noFill/>
        </p:spPr>
        <p:txBody>
          <a:bodyPr wrap="square" rtlCol="0">
            <a:spAutoFit/>
          </a:bodyPr>
          <a:lstStyle/>
          <a:p>
            <a:r>
              <a:rPr lang="en-US" sz="9000" dirty="0">
                <a:latin typeface="Aliens &amp; cows" panose="00000500000000000000" pitchFamily="2" charset="0"/>
              </a:rPr>
              <a:t>Remember when Excel got…</a:t>
            </a: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endParaRPr lang="en-US" sz="9000" dirty="0">
              <a:latin typeface="Aliens &amp; cows" panose="00000500000000000000" pitchFamily="2" charset="0"/>
            </a:endParaRPr>
          </a:p>
          <a:p>
            <a:r>
              <a:rPr lang="en-US" sz="7200" dirty="0">
                <a:latin typeface="Aliens &amp; cows" panose="00000500000000000000" pitchFamily="2" charset="0"/>
              </a:rPr>
              <a:t>Now it’s getting AI agents!</a:t>
            </a:r>
            <a:endParaRPr lang="en-US" sz="9000" dirty="0">
              <a:latin typeface="Aliens &amp; cows" panose="00000500000000000000" pitchFamily="2" charset="0"/>
            </a:endParaRPr>
          </a:p>
        </p:txBody>
      </p:sp>
      <p:pic>
        <p:nvPicPr>
          <p:cNvPr id="15" name="Picture 14" descr="A close up of a sign&#10;&#10;Description automatically generated">
            <a:extLst>
              <a:ext uri="{FF2B5EF4-FFF2-40B4-BE49-F238E27FC236}">
                <a16:creationId xmlns:a16="http://schemas.microsoft.com/office/drawing/2014/main" id="{46818568-EDBC-7BFE-3043-22CA89C97F2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Diagram 1">
            <a:extLst>
              <a:ext uri="{FF2B5EF4-FFF2-40B4-BE49-F238E27FC236}">
                <a16:creationId xmlns:a16="http://schemas.microsoft.com/office/drawing/2014/main" id="{95373B1F-0E74-5415-E434-6EEC8C37F1D4}"/>
              </a:ext>
            </a:extLst>
          </p:cNvPr>
          <p:cNvGraphicFramePr/>
          <p:nvPr>
            <p:extLst>
              <p:ext uri="{D42A27DB-BD31-4B8C-83A1-F6EECF244321}">
                <p14:modId xmlns:p14="http://schemas.microsoft.com/office/powerpoint/2010/main" val="2049646212"/>
              </p:ext>
            </p:extLst>
          </p:nvPr>
        </p:nvGraphicFramePr>
        <p:xfrm>
          <a:off x="1371600" y="1333500"/>
          <a:ext cx="12192000" cy="8128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658782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F5349B-DB31-7CF0-253B-40E005108FA5}"/>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2656377-103E-7009-5B54-C4B68D82227D}"/>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3E7DFBDB-D475-7CC0-8525-A9747D8D0849}"/>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975AF735-7C85-1BA0-0030-14B6DCFFCC84}"/>
              </a:ext>
            </a:extLst>
          </p:cNvPr>
          <p:cNvSpPr txBox="1"/>
          <p:nvPr/>
        </p:nvSpPr>
        <p:spPr>
          <a:xfrm>
            <a:off x="260431" y="329879"/>
            <a:ext cx="8906720" cy="61534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Researcher &amp; Analyst agents</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Researcher agent: framing questions and gathering context</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Analyst agent: analyzing, visualizing, and executing with data</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Dataset: </a:t>
            </a:r>
            <a:r>
              <a:rPr lang="en-US" sz="3600" dirty="0">
                <a:solidFill>
                  <a:srgbClr val="C00000"/>
                </a:solidFill>
                <a:latin typeface="Consolas" panose="020B0609020204030204" pitchFamily="49" charset="0"/>
                <a:sym typeface="Consolas"/>
              </a:rPr>
              <a:t>analyst-researcher.xlsx</a:t>
            </a:r>
          </a:p>
        </p:txBody>
      </p:sp>
    </p:spTree>
    <p:extLst>
      <p:ext uri="{BB962C8B-B14F-4D97-AF65-F5344CB8AC3E}">
        <p14:creationId xmlns:p14="http://schemas.microsoft.com/office/powerpoint/2010/main" val="32922158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C3270-992F-73FB-7E73-4DA42D379BBE}"/>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5358931-C887-DF08-D582-E12AD136D695}"/>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The integration-automation AI framework</a:t>
            </a:r>
          </a:p>
        </p:txBody>
      </p:sp>
      <p:pic>
        <p:nvPicPr>
          <p:cNvPr id="15" name="Picture 14" descr="A close up of a sign&#10;&#10;Description automatically generated">
            <a:extLst>
              <a:ext uri="{FF2B5EF4-FFF2-40B4-BE49-F238E27FC236}">
                <a16:creationId xmlns:a16="http://schemas.microsoft.com/office/drawing/2014/main" id="{88701840-B113-B321-9200-F6ADD5F263A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057A3FD3-5C03-0966-77FB-885E6BFE811D}"/>
              </a:ext>
            </a:extLst>
          </p:cNvPr>
          <p:cNvSpPr txBox="1"/>
          <p:nvPr/>
        </p:nvSpPr>
        <p:spPr>
          <a:xfrm>
            <a:off x="152400" y="7254596"/>
            <a:ext cx="3446118" cy="2862322"/>
          </a:xfrm>
          <a:prstGeom prst="rect">
            <a:avLst/>
          </a:prstGeom>
          <a:noFill/>
        </p:spPr>
        <p:txBody>
          <a:bodyPr wrap="square">
            <a:spAutoFit/>
          </a:bodyPr>
          <a:lstStyle/>
          <a:p>
            <a:r>
              <a:rPr lang="en-US" sz="3600" dirty="0">
                <a:hlinkClick r:id="rId3">
                  <a:extLst>
                    <a:ext uri="{A12FA001-AC4F-418D-AE19-62706E023703}">
                      <ahyp:hlinkClr xmlns:ahyp="http://schemas.microsoft.com/office/drawing/2018/hyperlinkcolor" val="tx"/>
                    </a:ext>
                  </a:extLst>
                </a:hlinkClick>
              </a:rPr>
              <a:t>https://blog.tobiaszwingmann.com/p/integration-automation-ai-framework</a:t>
            </a:r>
            <a:r>
              <a:rPr lang="en-US" sz="3600" dirty="0"/>
              <a:t> </a:t>
            </a:r>
          </a:p>
        </p:txBody>
      </p:sp>
      <p:pic>
        <p:nvPicPr>
          <p:cNvPr id="3074" name="Picture 2">
            <a:extLst>
              <a:ext uri="{FF2B5EF4-FFF2-40B4-BE49-F238E27FC236}">
                <a16:creationId xmlns:a16="http://schemas.microsoft.com/office/drawing/2014/main" id="{BD67A6B6-57FE-1727-C346-ED9D61BE40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86200" y="1369361"/>
            <a:ext cx="10287000" cy="8734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29717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1B2F53-9CBC-02CA-9A51-ED2E8A94463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DA59A59-1845-383F-38E2-0337D6AE0BFB}"/>
              </a:ext>
            </a:extLst>
          </p:cNvPr>
          <p:cNvSpPr txBox="1"/>
          <p:nvPr/>
        </p:nvSpPr>
        <p:spPr>
          <a:xfrm>
            <a:off x="520861" y="170082"/>
            <a:ext cx="16395539" cy="1200329"/>
          </a:xfrm>
          <a:prstGeom prst="rect">
            <a:avLst/>
          </a:prstGeom>
          <a:noFill/>
        </p:spPr>
        <p:txBody>
          <a:bodyPr wrap="square" rtlCol="0">
            <a:spAutoFit/>
          </a:bodyPr>
          <a:lstStyle/>
          <a:p>
            <a:r>
              <a:rPr lang="en-US" sz="7200" dirty="0">
                <a:latin typeface="Aliens &amp; cows" panose="00000500000000000000" pitchFamily="2" charset="0"/>
              </a:rPr>
              <a:t>Excel Copilot vs Excel Agent Mode</a:t>
            </a:r>
          </a:p>
        </p:txBody>
      </p:sp>
      <p:pic>
        <p:nvPicPr>
          <p:cNvPr id="15" name="Picture 14" descr="A close up of a sign&#10;&#10;Description automatically generated">
            <a:extLst>
              <a:ext uri="{FF2B5EF4-FFF2-40B4-BE49-F238E27FC236}">
                <a16:creationId xmlns:a16="http://schemas.microsoft.com/office/drawing/2014/main" id="{25B7AACD-032E-784C-D92C-BF6F5751F60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3" name="Table 2">
            <a:extLst>
              <a:ext uri="{FF2B5EF4-FFF2-40B4-BE49-F238E27FC236}">
                <a16:creationId xmlns:a16="http://schemas.microsoft.com/office/drawing/2014/main" id="{A7829486-E1C2-6EFC-4E09-983F9108F30F}"/>
              </a:ext>
            </a:extLst>
          </p:cNvPr>
          <p:cNvGraphicFramePr>
            <a:graphicFrameLocks noGrp="1"/>
          </p:cNvGraphicFramePr>
          <p:nvPr>
            <p:extLst>
              <p:ext uri="{D42A27DB-BD31-4B8C-83A1-F6EECF244321}">
                <p14:modId xmlns:p14="http://schemas.microsoft.com/office/powerpoint/2010/main" val="3681093686"/>
              </p:ext>
            </p:extLst>
          </p:nvPr>
        </p:nvGraphicFramePr>
        <p:xfrm>
          <a:off x="457200" y="1714340"/>
          <a:ext cx="14401800" cy="7162962"/>
        </p:xfrm>
        <a:graphic>
          <a:graphicData uri="http://schemas.openxmlformats.org/drawingml/2006/table">
            <a:tbl>
              <a:tblPr/>
              <a:tblGrid>
                <a:gridCol w="4800600">
                  <a:extLst>
                    <a:ext uri="{9D8B030D-6E8A-4147-A177-3AD203B41FA5}">
                      <a16:colId xmlns:a16="http://schemas.microsoft.com/office/drawing/2014/main" val="4201771282"/>
                    </a:ext>
                  </a:extLst>
                </a:gridCol>
                <a:gridCol w="4800600">
                  <a:extLst>
                    <a:ext uri="{9D8B030D-6E8A-4147-A177-3AD203B41FA5}">
                      <a16:colId xmlns:a16="http://schemas.microsoft.com/office/drawing/2014/main" val="777237233"/>
                    </a:ext>
                  </a:extLst>
                </a:gridCol>
                <a:gridCol w="4800600">
                  <a:extLst>
                    <a:ext uri="{9D8B030D-6E8A-4147-A177-3AD203B41FA5}">
                      <a16:colId xmlns:a16="http://schemas.microsoft.com/office/drawing/2014/main" val="673316634"/>
                    </a:ext>
                  </a:extLst>
                </a:gridCol>
              </a:tblGrid>
              <a:tr h="609614">
                <a:tc>
                  <a:txBody>
                    <a:bodyPr/>
                    <a:lstStyle/>
                    <a:p>
                      <a:pPr>
                        <a:buNone/>
                      </a:pPr>
                      <a:r>
                        <a:rPr lang="en-US" sz="3200" b="1"/>
                        <a:t>Feature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Excel Copilot</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b="1"/>
                        <a:t>Agent Mode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06272724"/>
                  </a:ext>
                </a:extLst>
              </a:tr>
              <a:tr h="1066824">
                <a:tc>
                  <a:txBody>
                    <a:bodyPr/>
                    <a:lstStyle/>
                    <a:p>
                      <a:pPr>
                        <a:buNone/>
                      </a:pPr>
                      <a:r>
                        <a:rPr lang="en-US" sz="3200" b="1"/>
                        <a:t>Interaction</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One-shot prompts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Iterative, self-guided workflow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3507712"/>
                  </a:ext>
                </a:extLst>
              </a:tr>
              <a:tr h="1066824">
                <a:tc>
                  <a:txBody>
                    <a:bodyPr/>
                    <a:lstStyle/>
                    <a:p>
                      <a:pPr>
                        <a:buNone/>
                      </a:pPr>
                      <a:r>
                        <a:rPr lang="en-US" sz="3200" b="1"/>
                        <a:t>Task Scope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Single actions (formulas, charts, summaries)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Multi-step processes across sheets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82026323"/>
                  </a:ext>
                </a:extLst>
              </a:tr>
              <a:tr h="1066824">
                <a:tc>
                  <a:txBody>
                    <a:bodyPr/>
                    <a:lstStyle/>
                    <a:p>
                      <a:pPr>
                        <a:buNone/>
                      </a:pPr>
                      <a:r>
                        <a:rPr lang="en-US" sz="3200" b="1"/>
                        <a:t>Error Handling</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User re-prompts or fixes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Agent reviews, retries, self-corrects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65923970"/>
                  </a:ext>
                </a:extLst>
              </a:tr>
              <a:tr h="1066824">
                <a:tc>
                  <a:txBody>
                    <a:bodyPr/>
                    <a:lstStyle/>
                    <a:p>
                      <a:pPr>
                        <a:buNone/>
                      </a:pPr>
                      <a:r>
                        <a:rPr lang="en-US" sz="3200" b="1"/>
                        <a:t>User Role</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You do, Copilot helps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You manage, Agent executes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97454490"/>
                  </a:ext>
                </a:extLst>
              </a:tr>
              <a:tr h="609614">
                <a:tc>
                  <a:txBody>
                    <a:bodyPr/>
                    <a:lstStyle/>
                    <a:p>
                      <a:pPr>
                        <a:buNone/>
                      </a:pPr>
                      <a:r>
                        <a:rPr lang="en-US" sz="3200" b="1"/>
                        <a:t>Output Quality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Fast but shallow</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Verified and repeatable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21303429"/>
                  </a:ext>
                </a:extLst>
              </a:tr>
              <a:tr h="1066824">
                <a:tc>
                  <a:txBody>
                    <a:bodyPr/>
                    <a:lstStyle/>
                    <a:p>
                      <a:pPr>
                        <a:buNone/>
                      </a:pPr>
                      <a:r>
                        <a:rPr lang="en-US" sz="3200" b="1"/>
                        <a:t>Best For</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Quick wins, ad-hoc tasks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Structured, high-stakes workflows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8752908"/>
                  </a:ext>
                </a:extLst>
              </a:tr>
              <a:tr h="609614">
                <a:tc>
                  <a:txBody>
                    <a:bodyPr/>
                    <a:lstStyle/>
                    <a:p>
                      <a:pPr>
                        <a:buNone/>
                      </a:pPr>
                      <a:r>
                        <a:rPr lang="en-US" sz="3200" b="1"/>
                        <a:t>Analogy</a:t>
                      </a:r>
                      <a:endParaRPr lang="en-US" sz="320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a:t>Smart assistant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US" sz="3200" dirty="0"/>
                        <a:t>Junior analyst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05630930"/>
                  </a:ext>
                </a:extLst>
              </a:tr>
            </a:tbl>
          </a:graphicData>
        </a:graphic>
      </p:graphicFrame>
    </p:spTree>
    <p:extLst>
      <p:ext uri="{BB962C8B-B14F-4D97-AF65-F5344CB8AC3E}">
        <p14:creationId xmlns:p14="http://schemas.microsoft.com/office/powerpoint/2010/main" val="24602811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849040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Demo: Agent Mode in action</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Loan calculator</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Variance analysis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Monthly close pack</a:t>
            </a: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What does Agent Mode do well, poorly, or not at all?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How does this relate to other tools in the Excel AI stack?</a:t>
            </a:r>
            <a:endParaRPr lang="en-US" sz="3600" dirty="0">
              <a:solidFill>
                <a:srgbClr val="C00000"/>
              </a:solidFill>
              <a:latin typeface="Consolas" panose="020B0609020204030204" pitchFamily="49" charset="0"/>
              <a:sym typeface="Consolas"/>
            </a:endParaRPr>
          </a:p>
        </p:txBody>
      </p:sp>
    </p:spTree>
    <p:extLst>
      <p:ext uri="{BB962C8B-B14F-4D97-AF65-F5344CB8AC3E}">
        <p14:creationId xmlns:p14="http://schemas.microsoft.com/office/powerpoint/2010/main" val="38715317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FB617-C0E7-3228-013C-BAC06730C5D4}"/>
            </a:ext>
          </a:extLst>
        </p:cNvPr>
        <p:cNvGrpSpPr/>
        <p:nvPr/>
      </p:nvGrpSpPr>
      <p:grpSpPr>
        <a:xfrm>
          <a:off x="0" y="0"/>
          <a:ext cx="0" cy="0"/>
          <a:chOff x="0" y="0"/>
          <a:chExt cx="0" cy="0"/>
        </a:xfrm>
      </p:grpSpPr>
      <p:pic>
        <p:nvPicPr>
          <p:cNvPr id="15" name="Picture 14" descr="A close up of a sign&#10;&#10;Description automatically generated">
            <a:extLst>
              <a:ext uri="{FF2B5EF4-FFF2-40B4-BE49-F238E27FC236}">
                <a16:creationId xmlns:a16="http://schemas.microsoft.com/office/drawing/2014/main" id="{E21B4799-3E87-1700-15F4-3686FC94E35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1026" name="Picture 2">
            <a:extLst>
              <a:ext uri="{FF2B5EF4-FFF2-40B4-BE49-F238E27FC236}">
                <a16:creationId xmlns:a16="http://schemas.microsoft.com/office/drawing/2014/main" id="{9F1D89B2-86AC-689C-CB18-860F1A902B8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7200" y="266700"/>
            <a:ext cx="9753600" cy="975360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4252A70-2368-1C9D-63DF-7611C458B4EF}"/>
              </a:ext>
            </a:extLst>
          </p:cNvPr>
          <p:cNvSpPr txBox="1"/>
          <p:nvPr/>
        </p:nvSpPr>
        <p:spPr>
          <a:xfrm>
            <a:off x="516282" y="8648700"/>
            <a:ext cx="2590800" cy="1200329"/>
          </a:xfrm>
          <a:prstGeom prst="rect">
            <a:avLst/>
          </a:prstGeom>
          <a:noFill/>
        </p:spPr>
        <p:txBody>
          <a:bodyPr wrap="square">
            <a:spAutoFit/>
          </a:bodyPr>
          <a:lstStyle/>
          <a:p>
            <a:r>
              <a:rPr lang="en-US" dirty="0"/>
              <a:t>https://stringfestanalytics.com/how-to-understand-the-modern-excel-ai-stack/</a:t>
            </a:r>
          </a:p>
        </p:txBody>
      </p:sp>
    </p:spTree>
    <p:extLst>
      <p:ext uri="{BB962C8B-B14F-4D97-AF65-F5344CB8AC3E}">
        <p14:creationId xmlns:p14="http://schemas.microsoft.com/office/powerpoint/2010/main" val="111675490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57B6D4-A9E1-18F2-6B90-35C6049AD10A}"/>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6E0BF99-428F-FCDD-2CFB-DD415B3C63E1}"/>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84C0E755-7B20-E689-DED8-011B122B9B5A}"/>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45C6A793-A02D-6141-B68A-AED83B08EEA7}"/>
              </a:ext>
            </a:extLst>
          </p:cNvPr>
          <p:cNvSpPr txBox="1"/>
          <p:nvPr/>
        </p:nvSpPr>
        <p:spPr>
          <a:xfrm>
            <a:off x="260431" y="329879"/>
            <a:ext cx="8906720" cy="9480031"/>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Creating an Excel MVP chatbot</a:t>
            </a:r>
          </a:p>
          <a:p>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Create a custom Copilot agent in Copilot Studio tailored for specific Excel-related use cases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Add and manage trusted knowledge sources (like MVP websites) to ensure high-quality, domain-specific responses</a:t>
            </a:r>
          </a:p>
          <a:p>
            <a:pPr marL="685800" indent="-542925">
              <a:lnSpc>
                <a:spcPct val="115000"/>
              </a:lnSpc>
              <a:spcBef>
                <a:spcPts val="1125"/>
              </a:spcBef>
              <a:buClr>
                <a:srgbClr val="C00000"/>
              </a:buClr>
              <a:buSzPts val="2100"/>
              <a:buFont typeface="Arial"/>
              <a:buAutoNum type="arabicPeriod"/>
            </a:pPr>
            <a:r>
              <a:rPr lang="en-US" sz="3600" dirty="0">
                <a:solidFill>
                  <a:srgbClr val="C00000"/>
                </a:solidFill>
                <a:latin typeface="Pragmatica" panose="020B0403040502020204"/>
                <a:sym typeface="Consolas"/>
              </a:rPr>
              <a:t>Test and publish the agent with simple topics added </a:t>
            </a:r>
          </a:p>
          <a:p>
            <a:pPr marL="142875">
              <a:lnSpc>
                <a:spcPct val="115000"/>
              </a:lnSpc>
              <a:spcBef>
                <a:spcPts val="1125"/>
              </a:spcBef>
              <a:buClr>
                <a:srgbClr val="C00000"/>
              </a:buClr>
              <a:buSzPts val="2100"/>
            </a:pPr>
            <a:r>
              <a:rPr lang="en-US" sz="3600" dirty="0">
                <a:solidFill>
                  <a:srgbClr val="C00000"/>
                </a:solidFill>
                <a:latin typeface="Pragmatica" panose="020B0403040502020204"/>
                <a:sym typeface="Consolas"/>
              </a:rPr>
              <a:t>File: </a:t>
            </a:r>
            <a:r>
              <a:rPr lang="en-US" sz="3600" dirty="0">
                <a:solidFill>
                  <a:srgbClr val="C00000"/>
                </a:solidFill>
                <a:latin typeface="Consolas" panose="020B0609020204030204" pitchFamily="49" charset="0"/>
                <a:sym typeface="Consolas"/>
              </a:rPr>
              <a:t>mvp-knowledge-base-instructions.docx</a:t>
            </a:r>
          </a:p>
        </p:txBody>
      </p:sp>
    </p:spTree>
    <p:extLst>
      <p:ext uri="{BB962C8B-B14F-4D97-AF65-F5344CB8AC3E}">
        <p14:creationId xmlns:p14="http://schemas.microsoft.com/office/powerpoint/2010/main" val="4716171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C2A64-DE04-BD92-31A8-820C77D9746F}"/>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FEC22D6C-55B5-9EBB-6AEF-6E4DABFE9B0F}"/>
              </a:ext>
            </a:extLst>
          </p:cNvPr>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a:extLst>
              <a:ext uri="{FF2B5EF4-FFF2-40B4-BE49-F238E27FC236}">
                <a16:creationId xmlns:a16="http://schemas.microsoft.com/office/drawing/2014/main" id="{A5C23ED6-024D-6DB4-5772-2A38CA349F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a:extLst>
              <a:ext uri="{FF2B5EF4-FFF2-40B4-BE49-F238E27FC236}">
                <a16:creationId xmlns:a16="http://schemas.microsoft.com/office/drawing/2014/main" id="{8038220C-8358-352B-9440-F8C04CC09758}"/>
              </a:ext>
            </a:extLst>
          </p:cNvPr>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B9C4B0BF-555F-0A08-E78F-4C9AB29B72CE}"/>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4995562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98B75-B4E6-621C-E5FF-E91B93686488}"/>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44B16A43-7960-9C0B-5FEC-79C3B6725D25}"/>
              </a:ext>
            </a:extLst>
          </p:cNvPr>
          <p:cNvSpPr txBox="1"/>
          <p:nvPr/>
        </p:nvSpPr>
        <p:spPr>
          <a:xfrm>
            <a:off x="520861" y="170082"/>
            <a:ext cx="16395539" cy="1938992"/>
          </a:xfrm>
          <a:prstGeom prst="rect">
            <a:avLst/>
          </a:prstGeom>
          <a:noFill/>
        </p:spPr>
        <p:txBody>
          <a:bodyPr wrap="square" rtlCol="0">
            <a:spAutoFit/>
          </a:bodyPr>
          <a:lstStyle/>
          <a:p>
            <a:r>
              <a:rPr lang="en-US" sz="6000" dirty="0">
                <a:latin typeface="Aliens &amp; cows" panose="00000500000000000000" pitchFamily="2" charset="0"/>
              </a:rPr>
              <a:t>Automated AI workflows with Power Automate + Copilot </a:t>
            </a:r>
          </a:p>
        </p:txBody>
      </p:sp>
      <p:pic>
        <p:nvPicPr>
          <p:cNvPr id="15" name="Picture 14" descr="A close up of a sign&#10;&#10;Description automatically generated">
            <a:extLst>
              <a:ext uri="{FF2B5EF4-FFF2-40B4-BE49-F238E27FC236}">
                <a16:creationId xmlns:a16="http://schemas.microsoft.com/office/drawing/2014/main" id="{2D74052B-8ACF-437B-C4DC-8CBE14F0B36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B8C1EB5B-ED7A-D25D-8E41-6686DC70C2BA}"/>
              </a:ext>
            </a:extLst>
          </p:cNvPr>
          <p:cNvSpPr txBox="1"/>
          <p:nvPr/>
        </p:nvSpPr>
        <p:spPr>
          <a:xfrm>
            <a:off x="228600" y="9196959"/>
            <a:ext cx="5638800" cy="646331"/>
          </a:xfrm>
          <a:prstGeom prst="rect">
            <a:avLst/>
          </a:prstGeom>
          <a:noFill/>
        </p:spPr>
        <p:txBody>
          <a:bodyPr wrap="square">
            <a:spAutoFit/>
          </a:bodyPr>
          <a:lstStyle/>
          <a:p>
            <a:r>
              <a:rPr lang="en-US" sz="3600" dirty="0"/>
              <a:t>Source: Tobias </a:t>
            </a:r>
            <a:r>
              <a:rPr lang="en-US" sz="3600" dirty="0" err="1"/>
              <a:t>Zwingmann</a:t>
            </a:r>
            <a:endParaRPr lang="en-US" sz="3600" dirty="0"/>
          </a:p>
        </p:txBody>
      </p:sp>
      <p:pic>
        <p:nvPicPr>
          <p:cNvPr id="2052" name="Picture 4">
            <a:extLst>
              <a:ext uri="{FF2B5EF4-FFF2-40B4-BE49-F238E27FC236}">
                <a16:creationId xmlns:a16="http://schemas.microsoft.com/office/drawing/2014/main" id="{855DDFC5-5083-02A7-A2F7-7CE52A0B4B3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27848"/>
          <a:stretch>
            <a:fillRect/>
          </a:stretch>
        </p:blipFill>
        <p:spPr bwMode="auto">
          <a:xfrm>
            <a:off x="1828800" y="2514600"/>
            <a:ext cx="15341318" cy="52578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41537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FFBA3-97A6-DA63-F5D2-28FD4463F02B}"/>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9B7EACC-66F8-71B7-745D-30FF25DB8890}"/>
              </a:ext>
            </a:extLst>
          </p:cNvPr>
          <p:cNvSpPr txBox="1"/>
          <p:nvPr/>
        </p:nvSpPr>
        <p:spPr>
          <a:xfrm>
            <a:off x="520861" y="170082"/>
            <a:ext cx="16395539" cy="923330"/>
          </a:xfrm>
          <a:prstGeom prst="rect">
            <a:avLst/>
          </a:prstGeom>
          <a:noFill/>
        </p:spPr>
        <p:txBody>
          <a:bodyPr wrap="square" rtlCol="0">
            <a:spAutoFit/>
          </a:bodyPr>
          <a:lstStyle/>
          <a:p>
            <a:r>
              <a:rPr lang="en-US" sz="5400" dirty="0">
                <a:latin typeface="Aliens &amp; cows" panose="00000500000000000000" pitchFamily="2" charset="0"/>
              </a:rPr>
              <a:t>Agentic workflows with Power Automate + Copilot Studio </a:t>
            </a:r>
          </a:p>
        </p:txBody>
      </p:sp>
      <p:pic>
        <p:nvPicPr>
          <p:cNvPr id="15" name="Picture 14" descr="A close up of a sign&#10;&#10;Description automatically generated">
            <a:extLst>
              <a:ext uri="{FF2B5EF4-FFF2-40B4-BE49-F238E27FC236}">
                <a16:creationId xmlns:a16="http://schemas.microsoft.com/office/drawing/2014/main" id="{4E9CDCDF-A7D1-E32F-4EBC-174712D7038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
        <p:nvSpPr>
          <p:cNvPr id="4" name="TextBox 3">
            <a:extLst>
              <a:ext uri="{FF2B5EF4-FFF2-40B4-BE49-F238E27FC236}">
                <a16:creationId xmlns:a16="http://schemas.microsoft.com/office/drawing/2014/main" id="{93680795-F53D-257D-9454-224111B5D4EB}"/>
              </a:ext>
            </a:extLst>
          </p:cNvPr>
          <p:cNvSpPr txBox="1"/>
          <p:nvPr/>
        </p:nvSpPr>
        <p:spPr>
          <a:xfrm>
            <a:off x="228600" y="9196959"/>
            <a:ext cx="5638800" cy="646331"/>
          </a:xfrm>
          <a:prstGeom prst="rect">
            <a:avLst/>
          </a:prstGeom>
          <a:noFill/>
        </p:spPr>
        <p:txBody>
          <a:bodyPr wrap="square">
            <a:spAutoFit/>
          </a:bodyPr>
          <a:lstStyle/>
          <a:p>
            <a:r>
              <a:rPr lang="en-US" sz="3600" dirty="0"/>
              <a:t>Source: Tobias </a:t>
            </a:r>
            <a:r>
              <a:rPr lang="en-US" sz="3600" dirty="0" err="1"/>
              <a:t>Zwingmann</a:t>
            </a:r>
            <a:endParaRPr lang="en-US" sz="3600" dirty="0"/>
          </a:p>
        </p:txBody>
      </p:sp>
      <p:pic>
        <p:nvPicPr>
          <p:cNvPr id="3074" name="Picture 2">
            <a:extLst>
              <a:ext uri="{FF2B5EF4-FFF2-40B4-BE49-F238E27FC236}">
                <a16:creationId xmlns:a16="http://schemas.microsoft.com/office/drawing/2014/main" id="{F5BC2C18-45FC-A6BA-CD00-8C167E4AA5D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6332"/>
          <a:stretch>
            <a:fillRect/>
          </a:stretch>
        </p:blipFill>
        <p:spPr bwMode="auto">
          <a:xfrm>
            <a:off x="723900" y="1481633"/>
            <a:ext cx="16840200" cy="73237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93305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B51C78-F10E-3F23-F9DF-9C818C8D56B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50F672D-6587-1754-62CF-3B756392B992}"/>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49B7597B-A1CA-D128-EACB-A1FA4B6B8F56}"/>
              </a:ext>
            </a:extLst>
          </p:cNvPr>
          <p:cNvSpPr txBox="1"/>
          <p:nvPr/>
        </p:nvSpPr>
        <p:spPr>
          <a:xfrm>
            <a:off x="520860" y="1866900"/>
            <a:ext cx="16776539"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Audit your team’s data and automation skills</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Start small with Office Scripts and Power Automate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Experiment safely with Copilot and Agent Mode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Build a roadmap for AI adoption and governance</a:t>
            </a:r>
          </a:p>
          <a:p>
            <a:pPr marL="685800" indent="-685800">
              <a:buClr>
                <a:srgbClr val="CF3338"/>
              </a:buClr>
              <a:buFont typeface="Arial" panose="020B0604020202020204" pitchFamily="34" charset="0"/>
              <a:buChar char="•"/>
            </a:pPr>
            <a:r>
              <a:rPr lang="en-US" sz="4800" dirty="0">
                <a:solidFill>
                  <a:srgbClr val="707070"/>
                </a:solidFill>
                <a:latin typeface="Pragmatica" panose="020B0403040502020204" pitchFamily="34" charset="0"/>
              </a:rPr>
              <a:t>Get in touch to plan your next moves</a:t>
            </a:r>
          </a:p>
        </p:txBody>
      </p:sp>
      <p:pic>
        <p:nvPicPr>
          <p:cNvPr id="15" name="Picture 14" descr="A close up of a sign&#10;&#10;Description automatically generated">
            <a:extLst>
              <a:ext uri="{FF2B5EF4-FFF2-40B4-BE49-F238E27FC236}">
                <a16:creationId xmlns:a16="http://schemas.microsoft.com/office/drawing/2014/main" id="{EAEDEC2C-D927-44DA-1C74-B83FF1B785D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213438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D0FEE0-1585-1CA1-B126-07BE6F8A489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6881496-D23A-3D77-A320-5198134F7DF1}"/>
              </a:ext>
            </a:extLst>
          </p:cNvPr>
          <p:cNvPicPr>
            <a:picLocks noChangeAspect="1"/>
          </p:cNvPicPr>
          <p:nvPr/>
        </p:nvPicPr>
        <p:blipFill>
          <a:blip r:embed="rId2"/>
          <a:srcRect/>
          <a:stretch/>
        </p:blipFill>
        <p:spPr>
          <a:xfrm>
            <a:off x="0" y="0"/>
            <a:ext cx="18288000" cy="10287000"/>
          </a:xfrm>
          <a:prstGeom prst="rect">
            <a:avLst/>
          </a:prstGeom>
        </p:spPr>
      </p:pic>
      <p:sp>
        <p:nvSpPr>
          <p:cNvPr id="2" name="Title 1">
            <a:extLst>
              <a:ext uri="{FF2B5EF4-FFF2-40B4-BE49-F238E27FC236}">
                <a16:creationId xmlns:a16="http://schemas.microsoft.com/office/drawing/2014/main" id="{04A3749B-D6B8-CD96-C6ED-D83C8153B2F0}"/>
              </a:ext>
            </a:extLst>
          </p:cNvPr>
          <p:cNvSpPr>
            <a:spLocks noGrp="1"/>
          </p:cNvSpPr>
          <p:nvPr>
            <p:ph type="ctrTitle"/>
          </p:nvPr>
        </p:nvSpPr>
        <p:spPr>
          <a:xfrm>
            <a:off x="2286000" y="2598656"/>
            <a:ext cx="13716000" cy="3581400"/>
          </a:xfrm>
        </p:spPr>
        <p:txBody>
          <a:bodyPr>
            <a:normAutofit/>
          </a:bodyPr>
          <a:lstStyle/>
          <a:p>
            <a:r>
              <a:rPr lang="en-US" sz="9900" b="1" dirty="0">
                <a:solidFill>
                  <a:srgbClr val="241F62"/>
                </a:solidFill>
                <a:latin typeface="+mn-lt"/>
              </a:rPr>
              <a:t>THANK YOU</a:t>
            </a:r>
            <a:endParaRPr lang="en-BG" sz="9900" b="1" dirty="0">
              <a:solidFill>
                <a:srgbClr val="241F62"/>
              </a:solidFill>
              <a:latin typeface="+mn-lt"/>
            </a:endParaRPr>
          </a:p>
        </p:txBody>
      </p:sp>
      <p:pic>
        <p:nvPicPr>
          <p:cNvPr id="7" name="Picture 6">
            <a:extLst>
              <a:ext uri="{FF2B5EF4-FFF2-40B4-BE49-F238E27FC236}">
                <a16:creationId xmlns:a16="http://schemas.microsoft.com/office/drawing/2014/main" id="{3FD6AC7F-1054-5A62-472F-AB412916EB96}"/>
              </a:ext>
            </a:extLst>
          </p:cNvPr>
          <p:cNvPicPr>
            <a:picLocks noChangeAspect="1"/>
          </p:cNvPicPr>
          <p:nvPr/>
        </p:nvPicPr>
        <p:blipFill>
          <a:blip r:embed="rId3"/>
          <a:srcRect b="22069"/>
          <a:stretch/>
        </p:blipFill>
        <p:spPr>
          <a:xfrm>
            <a:off x="8153400" y="8430867"/>
            <a:ext cx="1981200" cy="979833"/>
          </a:xfrm>
          <a:prstGeom prst="rect">
            <a:avLst/>
          </a:prstGeom>
        </p:spPr>
      </p:pic>
      <p:sp>
        <p:nvSpPr>
          <p:cNvPr id="3" name="Title 1">
            <a:extLst>
              <a:ext uri="{FF2B5EF4-FFF2-40B4-BE49-F238E27FC236}">
                <a16:creationId xmlns:a16="http://schemas.microsoft.com/office/drawing/2014/main" id="{45B0E24A-7B4A-1422-EA99-6AEC7FAD05DA}"/>
              </a:ext>
            </a:extLst>
          </p:cNvPr>
          <p:cNvSpPr txBox="1">
            <a:spLocks/>
          </p:cNvSpPr>
          <p:nvPr/>
        </p:nvSpPr>
        <p:spPr>
          <a:xfrm>
            <a:off x="13454742" y="548858"/>
            <a:ext cx="4082145" cy="945771"/>
          </a:xfrm>
          <a:prstGeom prst="rect">
            <a:avLst/>
          </a:prstGeom>
        </p:spPr>
        <p:txBody>
          <a:bodyPr vert="horz" lIns="137160" tIns="68580" rIns="137160" bIns="68580" rtlCol="0" anchor="ctr">
            <a:normAutofit/>
          </a:bodyPr>
          <a:lstStyle>
            <a:lvl1pPr algn="l" defTabSz="914400" rtl="0" eaLnBrk="1" latinLnBrk="0" hangingPunct="1">
              <a:lnSpc>
                <a:spcPct val="90000"/>
              </a:lnSpc>
              <a:spcBef>
                <a:spcPct val="0"/>
              </a:spcBef>
              <a:buNone/>
              <a:defRPr sz="4800" b="1" kern="1200">
                <a:solidFill>
                  <a:schemeClr val="bg1"/>
                </a:solidFill>
                <a:latin typeface="+mn-lt"/>
                <a:ea typeface="+mj-ea"/>
                <a:cs typeface="+mj-cs"/>
              </a:defRPr>
            </a:lvl1pPr>
          </a:lstStyle>
          <a:p>
            <a:r>
              <a:rPr lang="en-GB" sz="4200" dirty="0">
                <a:solidFill>
                  <a:srgbClr val="241F62"/>
                </a:solidFill>
                <a:latin typeface="+mj-lt"/>
              </a:rPr>
              <a:t>George Mount</a:t>
            </a:r>
            <a:endParaRPr lang="en-BG" sz="4200" dirty="0">
              <a:solidFill>
                <a:srgbClr val="241F62"/>
              </a:solidFill>
              <a:latin typeface="+mj-lt"/>
            </a:endParaRPr>
          </a:p>
        </p:txBody>
      </p:sp>
    </p:spTree>
    <p:extLst>
      <p:ext uri="{BB962C8B-B14F-4D97-AF65-F5344CB8AC3E}">
        <p14:creationId xmlns:p14="http://schemas.microsoft.com/office/powerpoint/2010/main" val="88663357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2651</TotalTime>
  <Words>2107</Words>
  <Application>Microsoft Office PowerPoint</Application>
  <PresentationFormat>Custom</PresentationFormat>
  <Paragraphs>138</Paragraphs>
  <Slides>17</Slides>
  <Notes>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17</vt:i4>
      </vt:variant>
    </vt:vector>
  </HeadingPairs>
  <TitlesOfParts>
    <vt:vector size="24" baseType="lpstr">
      <vt:lpstr>Normafixed Tryout</vt:lpstr>
      <vt:lpstr>Pragmatica</vt:lpstr>
      <vt:lpstr>Consolas</vt:lpstr>
      <vt:lpstr>Arial</vt:lpstr>
      <vt:lpstr>Calibri</vt:lpstr>
      <vt:lpstr>Aliens &amp; cows</vt:lpstr>
      <vt:lpstr>Office Theme</vt:lpstr>
      <vt:lpstr>AI comes to Excel: Building your first Excel agent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227</cp:revision>
  <dcterms:created xsi:type="dcterms:W3CDTF">2006-08-16T00:00:00Z</dcterms:created>
  <dcterms:modified xsi:type="dcterms:W3CDTF">2025-11-11T20:41:10Z</dcterms:modified>
  <dc:identifier>DADurESpNu8</dc:identifier>
</cp:coreProperties>
</file>