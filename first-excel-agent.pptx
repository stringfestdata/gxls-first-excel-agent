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44" r:id="rId2"/>
    <p:sldId id="425" r:id="rId3"/>
    <p:sldId id="426" r:id="rId4"/>
    <p:sldId id="435" r:id="rId5"/>
    <p:sldId id="436" r:id="rId6"/>
    <p:sldId id="472" r:id="rId7"/>
    <p:sldId id="471" r:id="rId8"/>
    <p:sldId id="437" r:id="rId9"/>
    <p:sldId id="438" r:id="rId10"/>
    <p:sldId id="407" r:id="rId11"/>
    <p:sldId id="443" r:id="rId12"/>
    <p:sldId id="467" r:id="rId13"/>
    <p:sldId id="470" r:id="rId14"/>
    <p:sldId id="446" r:id="rId15"/>
    <p:sldId id="469" r:id="rId16"/>
    <p:sldId id="442" r:id="rId17"/>
    <p:sldId id="415" r:id="rId18"/>
    <p:sldId id="468" r:id="rId19"/>
  </p:sldIdLst>
  <p:sldSz cx="18288000" cy="10287000"/>
  <p:notesSz cx="6858000" cy="9144000"/>
  <p:embeddedFontLst>
    <p:embeddedFont>
      <p:font typeface="Consolas" panose="020B0609020204030204" pitchFamily="49"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4298" autoAdjust="0"/>
  </p:normalViewPr>
  <p:slideViewPr>
    <p:cSldViewPr>
      <p:cViewPr varScale="1">
        <p:scale>
          <a:sx n="31" d="100"/>
          <a:sy n="31" d="100"/>
        </p:scale>
        <p:origin x="912"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sets the foundation for understanding Excel’s new AI workflow.</a:t>
            </a:r>
            <a:br>
              <a:rPr lang="en-US" dirty="0"/>
            </a:br>
            <a:r>
              <a:rPr lang="en-US" dirty="0"/>
              <a:t>First, we’ll look at the difference between </a:t>
            </a:r>
            <a:r>
              <a:rPr lang="en-US" b="1" dirty="0"/>
              <a:t>regular Copilot</a:t>
            </a:r>
            <a:r>
              <a:rPr lang="en-US" dirty="0"/>
              <a:t> and </a:t>
            </a:r>
            <a:r>
              <a:rPr lang="en-US" b="1" dirty="0"/>
              <a:t>Agent Mode</a:t>
            </a:r>
            <a:r>
              <a:rPr lang="en-US" dirty="0"/>
              <a:t>. Copilot responds to one-off prompts, while Agent Mode lets you build reusable tools that run logic consistently every time.</a:t>
            </a:r>
          </a:p>
          <a:p>
            <a:r>
              <a:rPr lang="en-US" dirty="0"/>
              <a:t>Next, we’ll build a small Agent Mode tool together using natural language prompts. The goal is to show how approachable this is, even if you’ve never automated anything before.</a:t>
            </a:r>
          </a:p>
          <a:p>
            <a:r>
              <a:rPr lang="en-US" dirty="0"/>
              <a:t>Finally, we’ll zoom out and place Excel Agents inside the larger Microsoft AI ecosystem. That includes how they connect to Copilot Studio, Dataverse, and the Power Platform so you can take what you build in Excel and plug it into broader workflows.</a:t>
            </a:r>
          </a:p>
          <a:p>
            <a:r>
              <a:rPr lang="en-US" dirty="0"/>
              <a:t>By the end, participants should understand both the “why” and the “how” behind getting started with Excel Agents.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512122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look back at Excel’s history, you can see these clear jumps in capability. Each one changed what analysts could do without leaving the tool. Formulas gave people real calculation power. PivotTables took that further with fast summarization and reporting. Power Query opened the door to repeatable data cleaning and transformation. And then Copilot arrived and added natural language on top of all of that. Each step expanded what “Excel work” could mean.</a:t>
            </a:r>
          </a:p>
        </p:txBody>
      </p:sp>
      <p:sp>
        <p:nvSpPr>
          <p:cNvPr id="4" name="Slide Number Placeholder 3"/>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1307367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we’re at the next step. AI agents aren’t just another feature. They represent a shift from you doing the work </a:t>
            </a:r>
            <a:r>
              <a:rPr lang="en-US" i="1" dirty="0"/>
              <a:t>inside</a:t>
            </a:r>
            <a:r>
              <a:rPr lang="en-US" dirty="0"/>
              <a:t> Excel to Excel coordinating work for you across tools, data, and processes. This is the same kind of leap we saw when Power Query arrived, but bigger. It means we can start automating decisions, workflows, and tasks that used to take multiple systems and a lot of manual effort. Today I’ll show you what that looks like in practice and how Excel users can take advantage of it right now.</a:t>
            </a:r>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27251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When Microsoft uses the word “agent,” they’re talking about something more advanced than a normal chatbot. An agent is meant to understand a goal, break it down into steps, and then take actions to complete those steps. So instead of you asking a quick question and getting an answer, an agent can actually carry out a workflow on your behalf.</a:t>
            </a:r>
          </a:p>
          <a:p>
            <a:pPr marL="158750" indent="0">
              <a:buNone/>
            </a:pPr>
            <a:endParaRPr lang="en-US" dirty="0"/>
          </a:p>
          <a:p>
            <a:pPr marL="158750" indent="0">
              <a:buNone/>
            </a:pPr>
            <a:r>
              <a:rPr lang="en-US" dirty="0"/>
              <a:t>It can use memory, tools, and signals from its environment to stay oriented. That means it doesn’t lose the thread every time you ask something new. It can keep track of what you’re trying to accomplish and move the task forward.</a:t>
            </a:r>
          </a:p>
          <a:p>
            <a:pPr marL="158750" indent="0">
              <a:buNone/>
            </a:pPr>
            <a:endParaRPr lang="en-US" dirty="0"/>
          </a:p>
          <a:p>
            <a:pPr marL="158750" indent="0">
              <a:buNone/>
            </a:pPr>
            <a:r>
              <a:rPr lang="en-US" dirty="0"/>
              <a:t>Microsoft also emphasizes that agents are autonomous but still bounded. They operate inside rules, safety constraints, and context so they can take initiative without running off and doing unpredictable things. This is the shift we’re stepping into: Excel isn’t just giving you answers, it’s starting to *do work* for you.</a:t>
            </a:r>
          </a:p>
          <a:p>
            <a:pPr marL="158750" indent="0">
              <a:buNone/>
            </a:pPr>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0465417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35D5-173D-7E79-17DB-4B2F9677D6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173F3-81EB-36E0-5B1E-56098D6D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57913-0448-2B5D-AB0C-7861C360FFC1}"/>
              </a:ext>
            </a:extLst>
          </p:cNvPr>
          <p:cNvSpPr>
            <a:spLocks noGrp="1"/>
          </p:cNvSpPr>
          <p:nvPr>
            <p:ph type="body" idx="1"/>
          </p:nvPr>
        </p:nvSpPr>
        <p:spPr/>
        <p:txBody>
          <a:bodyPr/>
          <a:lstStyle/>
          <a:p>
            <a:r>
              <a:rPr lang="en-US" dirty="0"/>
              <a:t>In this demo we’re showing how Agent Mode supports two complementary roles.</a:t>
            </a:r>
          </a:p>
          <a:p>
            <a:r>
              <a:rPr lang="en-US" dirty="0"/>
              <a:t>First, the </a:t>
            </a:r>
            <a:r>
              <a:rPr lang="en-US" b="1" dirty="0"/>
              <a:t>Researcher agent</a:t>
            </a:r>
            <a:r>
              <a:rPr lang="en-US" dirty="0"/>
              <a:t>. This agent is all about framing the problem before we touch any data. It helps us clarify the business question, gather context, and surface assumptions or missing information. The goal is to make sure we’re solving the right problem rather than jumping straight into formulas or code.</a:t>
            </a:r>
          </a:p>
          <a:p>
            <a:r>
              <a:rPr lang="en-US" dirty="0"/>
              <a:t>Then we move to the </a:t>
            </a:r>
            <a:r>
              <a:rPr lang="en-US" b="1" dirty="0"/>
              <a:t>Analyst agent</a:t>
            </a:r>
            <a:r>
              <a:rPr lang="en-US" dirty="0"/>
              <a:t>. This one takes the clarified question and actually works with the dataset. It analyzes, visualizes, and executes the tasks we define. This separation mirrors real analyst workflows: one phase is about thinking, the other is about producing.</a:t>
            </a:r>
          </a:p>
          <a:p>
            <a:r>
              <a:rPr lang="en-US" dirty="0"/>
              <a:t>We’ll walk through both agents using the dataset in </a:t>
            </a:r>
            <a:r>
              <a:rPr lang="en-US" i="1" dirty="0"/>
              <a:t>analyst-researcher.xlsx</a:t>
            </a:r>
            <a:r>
              <a:rPr lang="en-US" dirty="0"/>
              <a:t>. The idea is to show how these agents can work together to create a more structured, repeatable analytic process inside Excel.</a:t>
            </a:r>
          </a:p>
          <a:p>
            <a:pPr marL="0" indent="0">
              <a:buNone/>
            </a:pPr>
            <a:endParaRPr lang="en-US" dirty="0"/>
          </a:p>
        </p:txBody>
      </p:sp>
      <p:sp>
        <p:nvSpPr>
          <p:cNvPr id="4" name="Slide Number Placeholder 3">
            <a:extLst>
              <a:ext uri="{FF2B5EF4-FFF2-40B4-BE49-F238E27FC236}">
                <a16:creationId xmlns:a16="http://schemas.microsoft.com/office/drawing/2014/main" id="{A02CB03B-FCC0-A40A-B1C4-9F60245A8137}"/>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6831632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771570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For this exercise, we’re going to experiment with Agent Mode using a simple workbook called agent-mode.xlsx. The goal isn’t to “finish” anything perfectly — the goal is to see how the agent behaves with different kinds of </a:t>
            </a:r>
            <a:r>
              <a:rPr lang="en-US" dirty="0" err="1"/>
              <a:t>tasks.I’ve</a:t>
            </a:r>
            <a:r>
              <a:rPr lang="en-US" dirty="0"/>
              <a:t> given you three example use cases to try. The loan calculator is a straightforward structured task. Variance analysis introduces more contextual decision-making. And the monthly close pack is intentionally a little messy, because that’s what real work often looks like. Try a couple of these and see how far Agent Mode gets before it needs </a:t>
            </a:r>
            <a:r>
              <a:rPr lang="en-US" dirty="0" err="1"/>
              <a:t>clarification.As</a:t>
            </a:r>
            <a:r>
              <a:rPr lang="en-US" dirty="0"/>
              <a:t> you’re working, pay attention to what the agent does well. Does it follow instructions? Does it break down the task correctly? And just as important, notice where it stalls or gives vague answers. Those gaps tell us a lot about where the technology is </a:t>
            </a:r>
            <a:r>
              <a:rPr lang="en-US" dirty="0" err="1"/>
              <a:t>today.Finally</a:t>
            </a:r>
            <a:r>
              <a:rPr lang="en-US" dirty="0"/>
              <a:t>, think about how this fits in with the other AI tools we’ve talked about. When should something be a Power Query step? When should it be a Copilot prompt? When should it be an Agent Mode workflow? The more you tease that apart, the easier it becomes to choose the right tool in real work.</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0340-90B9-3E9E-2C44-E53E1F5BC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16F7D-80C0-0BF0-5DAE-28EECF952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3542-0F7D-E832-E549-540653D47B72}"/>
              </a:ext>
            </a:extLst>
          </p:cNvPr>
          <p:cNvSpPr>
            <a:spLocks noGrp="1"/>
          </p:cNvSpPr>
          <p:nvPr>
            <p:ph type="body" idx="1"/>
          </p:nvPr>
        </p:nvSpPr>
        <p:spPr/>
        <p:txBody>
          <a:bodyPr/>
          <a:lstStyle/>
          <a:p>
            <a:r>
              <a:rPr lang="en-US" sz="900" dirty="0"/>
              <a:t>This slide brings everything together. One of the biggest challenges with the new AI features is understanding where each piece fits. It’s not one tool — it’s a full stack. And the order matters, because each layer depends on the ones below it.</a:t>
            </a:r>
          </a:p>
          <a:p>
            <a:endParaRPr lang="en-US" sz="900" dirty="0"/>
          </a:p>
          <a:p>
            <a:r>
              <a:rPr lang="en-US" sz="900" dirty="0"/>
              <a:t>At the foundation, you have Power BI and Dataverse. That’s your governed data backbone. Without clean, consistent data, nothing else in this stack works well.</a:t>
            </a:r>
          </a:p>
          <a:p>
            <a:endParaRPr lang="en-US" sz="900" dirty="0"/>
          </a:p>
          <a:p>
            <a:r>
              <a:rPr lang="en-US" sz="900" dirty="0"/>
              <a:t>Above that is Power Query and Dataflows. This is where the data gets shaped, cleaned, and prepared. If you’ve ever spent hours fixing CSVs or cleaning exports, you already know why this layer is essential.</a:t>
            </a:r>
          </a:p>
          <a:p>
            <a:endParaRPr lang="en-US" sz="900" dirty="0"/>
          </a:p>
          <a:p>
            <a:r>
              <a:rPr lang="en-US" sz="900" dirty="0"/>
              <a:t>Then we get to Excel itself — Agent Mode, Copilot, and Python. This is where analysis happens. This is where you explore, model, visualize, and interact with the data. It’s the heart of the analyst workflow.</a:t>
            </a:r>
          </a:p>
          <a:p>
            <a:endParaRPr lang="en-US" sz="900" dirty="0"/>
          </a:p>
          <a:p>
            <a:r>
              <a:rPr lang="en-US" sz="900" dirty="0"/>
              <a:t>Next is Office Scripts and Power Automate. Once you know what you want done, this layer lets you automate it. It’s the glue between Excel and the rest of your systems.</a:t>
            </a:r>
          </a:p>
          <a:p>
            <a:endParaRPr lang="en-US" sz="900" dirty="0"/>
          </a:p>
          <a:p>
            <a:r>
              <a:rPr lang="en-US" sz="900" dirty="0"/>
              <a:t>At the top is Copilot Studio. This is where you customize, govern, and scale your AI. If you want an agent or copilot that truly understands your business, this is the layer that lets you build it.</a:t>
            </a:r>
          </a:p>
          <a:p>
            <a:endParaRPr lang="en-US" sz="900" dirty="0"/>
          </a:p>
          <a:p>
            <a:r>
              <a:rPr lang="en-US" sz="900" dirty="0"/>
              <a:t>So the big takeaway is: no single tool solves everything. When you put the layers together, that’s when you get the modern Excel experience — an ecosystem that can clean data, analyze it, automate it, and now even act on it.</a:t>
            </a:r>
          </a:p>
          <a:p>
            <a:endParaRPr lang="en-US" sz="900" dirty="0"/>
          </a:p>
        </p:txBody>
      </p:sp>
      <p:sp>
        <p:nvSpPr>
          <p:cNvPr id="4" name="Slide Number Placeholder 3">
            <a:extLst>
              <a:ext uri="{FF2B5EF4-FFF2-40B4-BE49-F238E27FC236}">
                <a16:creationId xmlns:a16="http://schemas.microsoft.com/office/drawing/2014/main" id="{AD1320A6-67F7-AA40-1113-E4509F24AEFD}"/>
              </a:ext>
            </a:extLst>
          </p:cNvPr>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6491708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r>
              <a:rPr lang="en-US" dirty="0"/>
              <a:t>“Earlier we said chatbots are </a:t>
            </a:r>
            <a:r>
              <a:rPr lang="en-US" i="1" dirty="0"/>
              <a:t>not</a:t>
            </a:r>
            <a:r>
              <a:rPr lang="en-US" dirty="0"/>
              <a:t> agents — and that’s absolutely true in the strict Microsoft definition.</a:t>
            </a:r>
            <a:br>
              <a:rPr lang="en-US" dirty="0"/>
            </a:br>
            <a:r>
              <a:rPr lang="en-US" dirty="0"/>
              <a:t>Chatbots respond.</a:t>
            </a:r>
            <a:br>
              <a:rPr lang="en-US" dirty="0"/>
            </a:br>
            <a:r>
              <a:rPr lang="en-US" dirty="0"/>
              <a:t>Agents </a:t>
            </a:r>
            <a:r>
              <a:rPr lang="en-US" i="1" dirty="0"/>
              <a:t>reason</a:t>
            </a:r>
            <a:r>
              <a:rPr lang="en-US" dirty="0"/>
              <a:t> and </a:t>
            </a:r>
            <a:r>
              <a:rPr lang="en-US" i="1" dirty="0"/>
              <a:t>act</a:t>
            </a:r>
            <a:r>
              <a:rPr lang="en-US" dirty="0"/>
              <a:t>.</a:t>
            </a:r>
          </a:p>
          <a:p>
            <a:r>
              <a:rPr lang="en-US" dirty="0"/>
              <a:t>So why are we building a chatbot here?</a:t>
            </a:r>
          </a:p>
          <a:p>
            <a:r>
              <a:rPr lang="en-US" dirty="0"/>
              <a:t>Because when you’re teaching people this stuff, you need a project they can actually finish.</a:t>
            </a:r>
            <a:br>
              <a:rPr lang="en-US" dirty="0"/>
            </a:br>
            <a:r>
              <a:rPr lang="en-US" dirty="0"/>
              <a:t>A fully agentic workflow takes hours and a ton of setup — environment variables, triggers, actions, tool calling, evaluation loops. It’s way too much for a short session like this.</a:t>
            </a:r>
          </a:p>
          <a:p>
            <a:r>
              <a:rPr lang="en-US" dirty="0"/>
              <a:t>But a Copilot Studio chatbot uses </a:t>
            </a:r>
            <a:r>
              <a:rPr lang="en-US" b="1" dirty="0"/>
              <a:t>all the same foundational pieces</a:t>
            </a:r>
            <a:r>
              <a:rPr lang="en-US" dirty="0"/>
              <a:t>:</a:t>
            </a:r>
          </a:p>
          <a:p>
            <a:r>
              <a:rPr lang="en-US" dirty="0"/>
              <a:t>intents</a:t>
            </a:r>
          </a:p>
          <a:p>
            <a:r>
              <a:rPr lang="en-US" dirty="0"/>
              <a:t>topics</a:t>
            </a:r>
          </a:p>
          <a:p>
            <a:r>
              <a:rPr lang="en-US" dirty="0"/>
              <a:t>orchestration</a:t>
            </a:r>
          </a:p>
          <a:p>
            <a:r>
              <a:rPr lang="en-US" dirty="0"/>
              <a:t>knowledge bases</a:t>
            </a:r>
          </a:p>
          <a:p>
            <a:r>
              <a:rPr lang="en-US" dirty="0"/>
              <a:t>grounding</a:t>
            </a:r>
          </a:p>
          <a:p>
            <a:r>
              <a:rPr lang="en-US" dirty="0"/>
              <a:t>troubleshooting AI responses</a:t>
            </a:r>
          </a:p>
          <a:p>
            <a:r>
              <a:rPr lang="en-US" dirty="0"/>
              <a:t>In other words, building a chatbot is the </a:t>
            </a:r>
            <a:r>
              <a:rPr lang="en-US" b="1" dirty="0"/>
              <a:t>on-ramp</a:t>
            </a:r>
            <a:r>
              <a:rPr lang="en-US" dirty="0"/>
              <a:t> to building real enterprise agents.</a:t>
            </a:r>
            <a:br>
              <a:rPr lang="en-US" dirty="0"/>
            </a:br>
            <a:r>
              <a:rPr lang="en-US" dirty="0"/>
              <a:t>This is exactly how Microsoft teaches the progression internally:</a:t>
            </a:r>
            <a:br>
              <a:rPr lang="en-US" dirty="0"/>
            </a:br>
            <a:r>
              <a:rPr lang="en-US" b="1" dirty="0"/>
              <a:t>Chatbot → Copilot → Agent → Automated agentic workflow.</a:t>
            </a:r>
            <a:endParaRPr lang="en-US" dirty="0"/>
          </a:p>
          <a:p>
            <a:r>
              <a:rPr lang="en-US" dirty="0"/>
              <a:t>So what we’re building today is not a full-blown agent — it’s a </a:t>
            </a:r>
            <a:r>
              <a:rPr lang="en-US" i="1" dirty="0"/>
              <a:t>teachable slice</a:t>
            </a:r>
            <a:r>
              <a:rPr lang="en-US" dirty="0"/>
              <a:t> of the agent stack that fits in the time we have and still gives you a meaningful, publishable artifact. After this, you’ll know how to plug in Excel knowledge, how to structure your copilots, and how to combine them with Agent Mode later.”</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12</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core idea behind an agentic workflow. Everything starts with a trigger. That could be a scheduled time, a user action, an event in another system, or even a message. Once the trigger fires, control passes to the AI </a:t>
            </a:r>
            <a:r>
              <a:rPr lang="en-US" dirty="0" err="1"/>
              <a:t>agent.The</a:t>
            </a:r>
            <a:r>
              <a:rPr lang="en-US" dirty="0"/>
              <a:t> agent’s job is to figure out the steps needed to reach the goal. And the important part is that the agent isn’t just following a script. It can draw on three things: the instructions you gave it, the memory it has access to, and the tools it’s allowed to use. Those might include connectors, APIs, retrieval sources, or actions in Power </a:t>
            </a:r>
            <a:r>
              <a:rPr lang="en-US" dirty="0" err="1"/>
              <a:t>Automate.From</a:t>
            </a:r>
            <a:r>
              <a:rPr lang="en-US" dirty="0"/>
              <a:t> there, the agent decides which actions to take and in what order. It keeps adjusting based on the context it sees, and it keeps working until it produces an output. That output might be a document, a dataset, a message, an update in a system, or something else </a:t>
            </a:r>
            <a:r>
              <a:rPr lang="en-US" dirty="0" err="1"/>
              <a:t>entirely.So</a:t>
            </a:r>
            <a:r>
              <a:rPr lang="en-US" dirty="0"/>
              <a:t> even though we’re building this in Copilot Studio, the workflow here is very agent-like. It’s not just a single prompt. It’s a goal-directed system that figures out the how on its own.</a:t>
            </a:r>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16</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9.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9.png"/><Relationship Id="rId7" Type="http://schemas.openxmlformats.org/officeDocument/2006/relationships/diagramColors" Target="../diagrams/colors2.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blog.tobiaszwingmann.com/p/integration-automation-ai-framework"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s://globalexcelsummit.com/product/becoming-a-citizen-developer-with-power-platfor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AI comes to Excel: Building your first Excel agent</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6530" y="7521455"/>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02896" y="3743408"/>
            <a:ext cx="3437261" cy="343726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954000" y="7292317"/>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8467-3264-164E-245A-CA973080BF7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3C3EA9-9B9C-11DC-B9AA-2A75B2C1D4E1}"/>
              </a:ext>
            </a:extLst>
          </p:cNvPr>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What Microsoft means by “agent”</a:t>
            </a:r>
          </a:p>
        </p:txBody>
      </p:sp>
      <p:sp>
        <p:nvSpPr>
          <p:cNvPr id="3" name="TextBox 2">
            <a:extLst>
              <a:ext uri="{FF2B5EF4-FFF2-40B4-BE49-F238E27FC236}">
                <a16:creationId xmlns:a16="http://schemas.microsoft.com/office/drawing/2014/main" id="{6B4AC10A-C819-B1A8-EDB5-937D9D353771}"/>
              </a:ext>
            </a:extLst>
          </p:cNvPr>
          <p:cNvSpPr txBox="1"/>
          <p:nvPr/>
        </p:nvSpPr>
        <p:spPr>
          <a:xfrm>
            <a:off x="520861" y="3191948"/>
            <a:ext cx="14393120" cy="461664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Agents interpret goals, break them into steps, and carry out tasks.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They go beyond simple Q&amp;A by running multi-step workflows.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They rely on memory, tools, and context to stay aligned with the user.</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They act autonomously but within defined rules and safeguards.</a:t>
            </a:r>
          </a:p>
        </p:txBody>
      </p:sp>
      <p:pic>
        <p:nvPicPr>
          <p:cNvPr id="15" name="Picture 14" descr="A close up of a sign&#10;&#10;Description automatically generated">
            <a:extLst>
              <a:ext uri="{FF2B5EF4-FFF2-40B4-BE49-F238E27FC236}">
                <a16:creationId xmlns:a16="http://schemas.microsoft.com/office/drawing/2014/main" id="{B63E6436-73B5-9AF2-AAA0-310632B9B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573408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349B-DB31-7CF0-253B-40E005108FA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656377-103E-7009-5B54-C4B68D82227D}"/>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3E7DFBDB-D475-7CC0-8525-A9747D8D084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5AF735-7C85-1BA0-0030-14B6DCFFCC84}"/>
              </a:ext>
            </a:extLst>
          </p:cNvPr>
          <p:cNvSpPr txBox="1"/>
          <p:nvPr/>
        </p:nvSpPr>
        <p:spPr>
          <a:xfrm>
            <a:off x="260431" y="329879"/>
            <a:ext cx="8906720" cy="61534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Researcher &amp; Analyst agents</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Researcher agent: framing questions and gathering context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Analyst agent: analyzing, visualizing, and executing with data</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Dataset: </a:t>
            </a:r>
            <a:r>
              <a:rPr lang="en-US" sz="3600" dirty="0">
                <a:solidFill>
                  <a:srgbClr val="C00000"/>
                </a:solidFill>
                <a:latin typeface="Consolas" panose="020B0609020204030204" pitchFamily="49" charset="0"/>
                <a:sym typeface="Consolas"/>
              </a:rPr>
              <a:t>analyst-researcher.xlsx</a:t>
            </a:r>
          </a:p>
        </p:txBody>
      </p:sp>
    </p:spTree>
    <p:extLst>
      <p:ext uri="{BB962C8B-B14F-4D97-AF65-F5344CB8AC3E}">
        <p14:creationId xmlns:p14="http://schemas.microsoft.com/office/powerpoint/2010/main" val="3292215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4">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100474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Workbook: </a:t>
            </a:r>
            <a:r>
              <a:rPr lang="en-US" sz="3600" dirty="0">
                <a:solidFill>
                  <a:srgbClr val="C00000"/>
                </a:solidFill>
                <a:latin typeface="Consolas" panose="020B0609020204030204" pitchFamily="49" charset="0"/>
                <a:sym typeface="Consolas"/>
              </a:rPr>
              <a:t>agent-mode.xlsx</a:t>
            </a:r>
          </a:p>
          <a:p>
            <a:pPr marL="142875">
              <a:lnSpc>
                <a:spcPct val="115000"/>
              </a:lnSpc>
              <a:spcBef>
                <a:spcPts val="1125"/>
              </a:spcBef>
              <a:buClr>
                <a:srgbClr val="C00000"/>
              </a:buClr>
              <a:buSzPts val="2100"/>
            </a:pPr>
            <a:endParaRPr lang="en-US" sz="3600" dirty="0">
              <a:solidFill>
                <a:srgbClr val="C00000"/>
              </a:solidFill>
              <a:latin typeface="Pragmatica" panose="020B0403040502020204"/>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FB617-C0E7-3228-013C-BAC06730C5D4}"/>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E21B4799-3E87-1700-15F4-3686FC94E3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1026" name="Picture 2">
            <a:extLst>
              <a:ext uri="{FF2B5EF4-FFF2-40B4-BE49-F238E27FC236}">
                <a16:creationId xmlns:a16="http://schemas.microsoft.com/office/drawing/2014/main" id="{9F1D89B2-86AC-689C-CB18-860F1A902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66700"/>
            <a:ext cx="9753600" cy="9753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4252A70-2368-1C9D-63DF-7611C458B4EF}"/>
              </a:ext>
            </a:extLst>
          </p:cNvPr>
          <p:cNvSpPr txBox="1"/>
          <p:nvPr/>
        </p:nvSpPr>
        <p:spPr>
          <a:xfrm>
            <a:off x="516282" y="8648700"/>
            <a:ext cx="2590800" cy="1200329"/>
          </a:xfrm>
          <a:prstGeom prst="rect">
            <a:avLst/>
          </a:prstGeom>
          <a:noFill/>
        </p:spPr>
        <p:txBody>
          <a:bodyPr wrap="square">
            <a:spAutoFit/>
          </a:bodyPr>
          <a:lstStyle/>
          <a:p>
            <a:r>
              <a:rPr lang="en-US" dirty="0"/>
              <a:t>https://stringfestanalytics.com/how-to-understand-the-modern-excel-ai-stack/</a:t>
            </a:r>
          </a:p>
        </p:txBody>
      </p:sp>
    </p:spTree>
    <p:extLst>
      <p:ext uri="{BB962C8B-B14F-4D97-AF65-F5344CB8AC3E}">
        <p14:creationId xmlns:p14="http://schemas.microsoft.com/office/powerpoint/2010/main" val="1116754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C2A64-DE04-BD92-31A8-820C77D9746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EC22D6C-55B5-9EBB-6AEF-6E4DABFE9B0F}"/>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5C23ED6-024D-6DB4-5772-2A38CA349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8038220C-8358-352B-9440-F8C04CC09758}"/>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B9C4B0BF-555F-0A08-E78F-4C9AB29B72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49955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151638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Copilot Studio  + Agent Flows</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150876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600164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Get in touch to plan your next moves</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Book your spot now: </a:t>
            </a:r>
            <a:r>
              <a:rPr lang="en-US" sz="48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https://globalexcelsummit.com/product/becoming-a-citizen-developer-with-power-platform</a:t>
            </a:r>
            <a:r>
              <a:rPr lang="en-US" sz="48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0FEE0-1585-1CA1-B126-07BE6F8A489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6881496-D23A-3D77-A320-5198134F7DF1}"/>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04A3749B-D6B8-CD96-C6ED-D83C8153B2F0}"/>
              </a:ext>
            </a:extLst>
          </p:cNvPr>
          <p:cNvSpPr>
            <a:spLocks noGrp="1"/>
          </p:cNvSpPr>
          <p:nvPr>
            <p:ph type="ctrTitle"/>
          </p:nvPr>
        </p:nvSpPr>
        <p:spPr>
          <a:xfrm>
            <a:off x="2286000" y="2598656"/>
            <a:ext cx="13716000" cy="3581400"/>
          </a:xfrm>
        </p:spPr>
        <p:txBody>
          <a:bodyPr>
            <a:normAutofit/>
          </a:bodyPr>
          <a:lstStyle/>
          <a:p>
            <a:r>
              <a:rPr lang="en-US" sz="9900" b="1" dirty="0">
                <a:solidFill>
                  <a:srgbClr val="241F62"/>
                </a:solidFill>
                <a:latin typeface="+mn-lt"/>
              </a:rPr>
              <a:t>THANK YOU</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3FD6AC7F-1054-5A62-472F-AB412916EB96}"/>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45B0E24A-7B4A-1422-EA99-6AEC7FAD05DA}"/>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88663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2712</TotalTime>
  <Words>3351</Words>
  <Application>Microsoft Office PowerPoint</Application>
  <PresentationFormat>Custom</PresentationFormat>
  <Paragraphs>181</Paragraphs>
  <Slides>18</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Aliens &amp; cows</vt:lpstr>
      <vt:lpstr>Consolas</vt:lpstr>
      <vt:lpstr>Normafixed Tryout</vt:lpstr>
      <vt:lpstr>Pragmatica</vt:lpstr>
      <vt:lpstr>Arial</vt:lpstr>
      <vt:lpstr>Calibri</vt:lpstr>
      <vt:lpstr>Office Theme</vt:lpstr>
      <vt:lpstr>AI comes to Excel: Building your first Excel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233</cp:revision>
  <dcterms:created xsi:type="dcterms:W3CDTF">2006-08-16T00:00:00Z</dcterms:created>
  <dcterms:modified xsi:type="dcterms:W3CDTF">2025-11-20T14:19:43Z</dcterms:modified>
  <dc:identifier>DADurESpNu8</dc:identifier>
</cp:coreProperties>
</file>